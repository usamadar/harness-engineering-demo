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243"/>
  </p:normalViewPr>
  <p:slideViewPr>
    <p:cSldViewPr snapToGrid="0" snapToObjects="1">
      <p:cViewPr varScale="1">
        <p:scale>
          <a:sx n="74" d="100"/>
          <a:sy n="74" d="100"/>
        </p:scale>
        <p:origin x="256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65222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Harness engineering is the work around the agent.</a:t>
            </a:r>
          </a:p>
          <a:p>
            <a:r>
              <a:rPr lang="en-US" dirty="0"/>
              <a:t>Open by separating the model from the system around it. The agent may write the code, but the harness gives it context, tools, checks, and boundaries.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harness gives an agent five kinds of traction.</a:t>
            </a:r>
          </a:p>
          <a:p>
            <a:r>
              <a:rPr lang="en-US" dirty="0"/>
              <a:t>Walk through the five layers: context, execution, feedback, governance, and memory. Emphasize that each layer reduces ambiguity for both humans and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prompt gets shorter as the harness gets stronger.</a:t>
            </a:r>
          </a:p>
          <a:p>
            <a:r>
              <a:rPr lang="en-US" dirty="0"/>
              <a:t>Say the goal clearly: durable instructions should move out of prompts and into the repo. The best demo prompt is simply `Complete tasks/01-add-sla-classification.md`.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demo repo keeps the app tiny and the harness visible.</a:t>
            </a:r>
          </a:p>
          <a:p>
            <a:r>
              <a:rPr lang="en-US" dirty="0"/>
              <a:t>Explain that the app is intentionally small: a ticket router. The repo is the teaching object because the harness is easy to inspect.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harness tells the agent what to read and where to change code.</a:t>
            </a:r>
          </a:p>
          <a:p>
            <a:r>
              <a:rPr lang="en-US" dirty="0"/>
              <a:t>Show how the task brief, `AGENTS.md`, architecture docs, router, and tests form a path. This narrows the search space before the agent edits.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quality gate makes standards executable.</a:t>
            </a:r>
          </a:p>
          <a:p>
            <a:r>
              <a:rPr lang="en-US" dirty="0"/>
              <a:t>Run `python3 scripts/check.py`. Point out the sequence: lint, harness doctor, docs checks, tests, and CLI smoke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Coding standards become rules, not wishes.</a:t>
            </a:r>
          </a:p>
          <a:p>
            <a:r>
              <a:rPr lang="en-US" dirty="0"/>
              <a:t>Use the CLI architecture rule as the concrete example. The standard says business rules belong in `TicketRouter`; the linter enforces that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live demo should need only one short task prompt.</a:t>
            </a:r>
          </a:p>
          <a:p>
            <a:r>
              <a:rPr lang="en-US" dirty="0"/>
              <a:t>Use this prompt: `Complete tasks/01-add-sla-classification.md`. After the agent finishes, show `git diff` and run `python3 scripts/check.py`.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Failure is a feature when the harness catches drift.</a:t>
            </a:r>
          </a:p>
          <a:p>
            <a:r>
              <a:rPr lang="en-US" dirty="0"/>
              <a:t>Optional live moment: move `docs/runbook.md` temporarily and run the quality gate. Restore it afterwards. The point is that drift becomes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harness in layers.</a:t>
            </a:r>
          </a:p>
          <a:p>
            <a:r>
              <a:rPr lang="en-US" dirty="0"/>
              <a:t>Give the team a practical path: first instructions and one command, then CI and runbooks, then architecture checks and recurring cleanup.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 prompt ritual. More engineering leverage.</a:t>
            </a:r>
          </a:p>
          <a:p>
            <a:r>
              <a:rPr lang="en-US" dirty="0"/>
              <a:t>Close with the operating principle: treat bad agent output as feedback about the harness. Improve the system, not just the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OPENING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Harness engineering is the system around the agent.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The agent writes code. The harness makes the work legible, testable, and steerable.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691640" y="2743200"/>
            <a:ext cx="1554480" cy="822960"/>
          </a:xfrm>
          <a:prstGeom prst="rect">
            <a:avLst/>
          </a:prstGeom>
          <a:solidFill>
            <a:srgbClr val="F3E2C8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37944" y="2871216"/>
            <a:ext cx="12618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Human intent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7639" y="2743200"/>
            <a:ext cx="1554480" cy="822960"/>
          </a:xfrm>
          <a:prstGeom prst="rect">
            <a:avLst/>
          </a:prstGeom>
          <a:solidFill>
            <a:srgbClr val="DDE8D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23944" y="2871216"/>
            <a:ext cx="12618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Repo harness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743200"/>
            <a:ext cx="1554480" cy="822960"/>
          </a:xfrm>
          <a:prstGeom prst="rect">
            <a:avLst/>
          </a:prstGeom>
          <a:solidFill>
            <a:srgbClr val="DCE9F7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9944" y="2871216"/>
            <a:ext cx="12618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Agent 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9640" y="2743200"/>
            <a:ext cx="155448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95944" y="2871216"/>
            <a:ext cx="12618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Fast feedback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46120" y="3154680"/>
            <a:ext cx="731519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532120" y="3154680"/>
            <a:ext cx="731520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818120" y="3154680"/>
            <a:ext cx="731520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326880" y="3566160"/>
            <a:ext cx="0" cy="77724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2468880" y="4343400"/>
            <a:ext cx="6858000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468880" y="3566160"/>
            <a:ext cx="0" cy="77724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94360" y="5074920"/>
            <a:ext cx="1828800" cy="71323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94360" y="5074920"/>
            <a:ext cx="45720" cy="713232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0664" y="5202936"/>
            <a:ext cx="160020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000" b="1">
                <a:solidFill>
                  <a:srgbClr val="18211F"/>
                </a:solidFill>
                <a:latin typeface="Aptos"/>
              </a:rPr>
              <a:t>Context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" y="5522976"/>
            <a:ext cx="160020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50" b="0">
                <a:solidFill>
                  <a:srgbClr val="52615C"/>
                </a:solidFill>
                <a:latin typeface="Aptos"/>
              </a:rPr>
              <a:t>repo carries intent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51760" y="5074920"/>
            <a:ext cx="1828800" cy="71323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651760" y="5074920"/>
            <a:ext cx="45720" cy="713232"/>
          </a:xfrm>
          <a:prstGeom prst="rect">
            <a:avLst/>
          </a:prstGeom>
          <a:solidFill>
            <a:srgbClr val="2B6CB0"/>
          </a:solidFill>
          <a:ln w="1016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798064" y="5202936"/>
            <a:ext cx="160020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000" b="1">
                <a:solidFill>
                  <a:srgbClr val="18211F"/>
                </a:solidFill>
                <a:latin typeface="Aptos"/>
              </a:rPr>
              <a:t>1 command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98064" y="5522976"/>
            <a:ext cx="160020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50" b="0">
                <a:solidFill>
                  <a:srgbClr val="52615C"/>
                </a:solidFill>
                <a:latin typeface="Aptos"/>
              </a:rPr>
              <a:t>local quality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09160" y="5074920"/>
            <a:ext cx="2148840" cy="71323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709160" y="5074920"/>
            <a:ext cx="45720" cy="713232"/>
          </a:xfrm>
          <a:prstGeom prst="rect">
            <a:avLst/>
          </a:prstGeom>
          <a:solidFill>
            <a:srgbClr val="C9792A"/>
          </a:solidFill>
          <a:ln w="10160">
            <a:solidFill>
              <a:srgbClr val="C9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55464" y="5202936"/>
            <a:ext cx="192024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000" b="1">
                <a:solidFill>
                  <a:srgbClr val="18211F"/>
                </a:solidFill>
                <a:latin typeface="Aptos"/>
              </a:rPr>
              <a:t>Short prompt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55464" y="5522976"/>
            <a:ext cx="19202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50" b="0">
                <a:solidFill>
                  <a:srgbClr val="52615C"/>
                </a:solidFill>
                <a:latin typeface="Aptos"/>
              </a:rPr>
              <a:t>because repo carries context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A harness gives an agent five kinds of traction.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Strong agent performance comes from the system around the model, not from prompts alone.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331720"/>
            <a:ext cx="9601200" cy="457200"/>
          </a:xfrm>
          <a:prstGeom prst="rect">
            <a:avLst/>
          </a:prstGeom>
          <a:solidFill>
            <a:srgbClr val="DDE8D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61872" y="2468879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1">
                <a:solidFill>
                  <a:srgbClr val="18211F"/>
                </a:solidFill>
                <a:latin typeface="Aptos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478024"/>
            <a:ext cx="7132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52615C"/>
                </a:solidFill>
                <a:latin typeface="Aptos"/>
              </a:rPr>
              <a:t>AGENTS.md, architecture, task briefs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2935224"/>
            <a:ext cx="96012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61872" y="3072384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1">
                <a:solidFill>
                  <a:srgbClr val="18211F"/>
                </a:solidFill>
                <a:latin typeface="Aptos"/>
              </a:rPr>
              <a:t>Execution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081528"/>
            <a:ext cx="7132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52615C"/>
                </a:solidFill>
                <a:latin typeface="Aptos"/>
              </a:rPr>
              <a:t>Makefile, local commands, no external services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3538728"/>
            <a:ext cx="9601200" cy="457200"/>
          </a:xfrm>
          <a:prstGeom prst="rect">
            <a:avLst/>
          </a:prstGeom>
          <a:solidFill>
            <a:srgbClr val="DCE9F7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61872" y="3675888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1">
                <a:solidFill>
                  <a:srgbClr val="18211F"/>
                </a:solidFill>
                <a:latin typeface="Aptos"/>
              </a:rPr>
              <a:t>Feedback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685032"/>
            <a:ext cx="7132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52615C"/>
                </a:solidFill>
                <a:latin typeface="Aptos"/>
              </a:rPr>
              <a:t>lint, tests, docs checks, smoke 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1560" y="4142231"/>
            <a:ext cx="9601200" cy="457200"/>
          </a:xfrm>
          <a:prstGeom prst="rect">
            <a:avLst/>
          </a:prstGeom>
          <a:solidFill>
            <a:srgbClr val="F3E2C8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61872" y="4279392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1">
                <a:solidFill>
                  <a:srgbClr val="18211F"/>
                </a:solidFill>
                <a:latin typeface="Aptos"/>
              </a:rPr>
              <a:t>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288536"/>
            <a:ext cx="7132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52615C"/>
                </a:solidFill>
                <a:latin typeface="Aptos"/>
              </a:rPr>
              <a:t>PR template, ADRs, architecture lint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4745736"/>
            <a:ext cx="9601200" cy="457200"/>
          </a:xfrm>
          <a:prstGeom prst="rect">
            <a:avLst/>
          </a:prstGeom>
          <a:solidFill>
            <a:srgbClr val="E8E1D3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61872" y="4882896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1">
                <a:solidFill>
                  <a:srgbClr val="18211F"/>
                </a:solidFill>
                <a:latin typeface="Aptos"/>
              </a:rPr>
              <a:t>Memory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4892040"/>
            <a:ext cx="7132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52615C"/>
                </a:solidFill>
                <a:latin typeface="Aptos"/>
              </a:rPr>
              <a:t>runbook, ADRs, prompt recipes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The prompt gets shorter as the harness gets stronger.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The operating goal is to move durable instructions into the repo, checks, and review flow.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14600"/>
            <a:ext cx="4023360" cy="548640"/>
          </a:xfrm>
          <a:prstGeom prst="rect">
            <a:avLst/>
          </a:prstGeom>
          <a:solidFill>
            <a:srgbClr val="F3E2C8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2104" y="2642616"/>
            <a:ext cx="373075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600" b="1">
                <a:solidFill>
                  <a:srgbClr val="18211F"/>
                </a:solidFill>
                <a:latin typeface="Aptos"/>
              </a:rPr>
              <a:t>Prompt-heavy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2514600"/>
            <a:ext cx="4023360" cy="548640"/>
          </a:xfrm>
          <a:prstGeom prst="rect">
            <a:avLst/>
          </a:prstGeom>
          <a:solidFill>
            <a:srgbClr val="DDE8D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61504" y="2642616"/>
            <a:ext cx="373075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600" b="1">
                <a:solidFill>
                  <a:srgbClr val="18211F"/>
                </a:solidFill>
                <a:latin typeface="Aptos"/>
              </a:rPr>
              <a:t>Harness-heavy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246120"/>
            <a:ext cx="4023360" cy="1508760"/>
          </a:xfrm>
          <a:prstGeom prst="rect">
            <a:avLst/>
          </a:prstGeom>
          <a:solidFill>
            <a:srgbClr val="18211F"/>
          </a:solidFill>
          <a:ln w="10160">
            <a:solidFill>
              <a:srgbClr val="1821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" y="3429000"/>
            <a:ext cx="3657600" cy="1051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F7F3EA"/>
                </a:solidFill>
                <a:latin typeface="Aptos Mono"/>
              </a:rPr>
              <a:t>Complete the task.
Read the architecture docs.
Keep rules out of the CLI.
Add tests.
Run the quality gate.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3246120"/>
            <a:ext cx="4023360" cy="1508760"/>
          </a:xfrm>
          <a:prstGeom prst="rect">
            <a:avLst/>
          </a:prstGeom>
          <a:solidFill>
            <a:srgbClr val="18211F"/>
          </a:solidFill>
          <a:ln w="10160">
            <a:solidFill>
              <a:srgbClr val="1821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79792" y="34290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F7F3EA"/>
                </a:solidFill>
                <a:latin typeface="Aptos Mono"/>
              </a:rPr>
              <a:t>Complete tasks/01-add-sla-classification.md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74920" y="4005072"/>
            <a:ext cx="1965960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977639" y="5166360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sz="1300" b="1">
                <a:solidFill>
                  <a:srgbClr val="163B34"/>
                </a:solidFill>
                <a:latin typeface="Aptos"/>
              </a:rPr>
              <a:t>Durable instructions move into files, scripts, and CI.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The demo repo keeps the app small and the harness visible.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The application is intentionally small. The repository environment is the teaching object.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359152"/>
            <a:ext cx="1645920" cy="71323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4360" y="2359152"/>
            <a:ext cx="45720" cy="713232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0664" y="2487168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000" b="1">
                <a:solidFill>
                  <a:srgbClr val="18211F"/>
                </a:solidFill>
                <a:latin typeface="Aptos"/>
              </a:rPr>
              <a:t>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2807208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50" b="0">
                <a:solidFill>
                  <a:srgbClr val="52615C"/>
                </a:solidFill>
                <a:latin typeface="Aptos"/>
              </a:rPr>
              <a:t>repo files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3160" y="2359152"/>
            <a:ext cx="1645920" cy="71323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423160" y="2359152"/>
            <a:ext cx="45720" cy="713232"/>
          </a:xfrm>
          <a:prstGeom prst="rect">
            <a:avLst/>
          </a:prstGeom>
          <a:solidFill>
            <a:srgbClr val="2B6CB0"/>
          </a:solidFill>
          <a:ln w="1016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69464" y="2487168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000" b="1">
                <a:solidFill>
                  <a:srgbClr val="18211F"/>
                </a:solidFill>
                <a:latin typeface="Aptos"/>
              </a:rPr>
              <a:t>1,160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9464" y="2807208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50" b="0">
                <a:solidFill>
                  <a:srgbClr val="52615C"/>
                </a:solidFill>
                <a:latin typeface="Aptos"/>
              </a:rPr>
              <a:t>lines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2359152"/>
            <a:ext cx="1645920" cy="71323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51960" y="2359152"/>
            <a:ext cx="45720" cy="713232"/>
          </a:xfrm>
          <a:prstGeom prst="rect">
            <a:avLst/>
          </a:prstGeom>
          <a:solidFill>
            <a:srgbClr val="C9792A"/>
          </a:solidFill>
          <a:ln w="10160">
            <a:solidFill>
              <a:srgbClr val="C9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98264" y="2487168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000" b="1">
                <a:solidFill>
                  <a:srgbClr val="18211F"/>
                </a:solidFill>
                <a:latin typeface="Aptos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98264" y="2807208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50" b="0">
                <a:solidFill>
                  <a:srgbClr val="52615C"/>
                </a:solidFill>
                <a:latin typeface="Aptos"/>
              </a:rPr>
              <a:t>tests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2359152"/>
            <a:ext cx="2011680" cy="713232"/>
          </a:xfrm>
          <a:prstGeom prst="rect">
            <a:avLst/>
          </a:prstGeom>
          <a:solidFill>
            <a:srgbClr val="F7F3EA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80760" y="2359152"/>
            <a:ext cx="45720" cy="713232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27064" y="2487168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000" b="1">
                <a:solidFill>
                  <a:srgbClr val="18211F"/>
                </a:solidFill>
                <a:latin typeface="Aptos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7064" y="2807208"/>
            <a:ext cx="178308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50" b="0">
                <a:solidFill>
                  <a:srgbClr val="52615C"/>
                </a:solidFill>
                <a:latin typeface="Aptos"/>
              </a:rPr>
              <a:t>runtime dependencies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7280" y="3703320"/>
            <a:ext cx="42062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243584" y="3831335"/>
            <a:ext cx="391363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AGENTS.md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43584" y="4114800"/>
            <a:ext cx="3913631" cy="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agent workflow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720" y="3703320"/>
            <a:ext cx="4206240" cy="411480"/>
          </a:xfrm>
          <a:prstGeom prst="rect">
            <a:avLst/>
          </a:prstGeom>
          <a:solidFill>
            <a:srgbClr val="DDE8D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07024" y="3831335"/>
            <a:ext cx="391363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docs/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7024" y="4114800"/>
            <a:ext cx="3913631" cy="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architecture, runbook, ADRs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7280" y="4233672"/>
            <a:ext cx="42062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43584" y="4361688"/>
            <a:ext cx="391363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scripts/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43584" y="4645152"/>
            <a:ext cx="3913631" cy="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check, lint, doctor, docs contract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60720" y="4233672"/>
            <a:ext cx="4206240" cy="411480"/>
          </a:xfrm>
          <a:prstGeom prst="rect">
            <a:avLst/>
          </a:prstGeom>
          <a:solidFill>
            <a:srgbClr val="DDE8D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07024" y="4361688"/>
            <a:ext cx="391363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tests/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07024" y="4645152"/>
            <a:ext cx="3913631" cy="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behavior and harness checks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97280" y="4764024"/>
            <a:ext cx="42062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243584" y="4892040"/>
            <a:ext cx="391363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tasks/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43584" y="5175504"/>
            <a:ext cx="3913631" cy="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agent-ready work briefs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60720" y="4764024"/>
            <a:ext cx="4206240" cy="411480"/>
          </a:xfrm>
          <a:prstGeom prst="rect">
            <a:avLst/>
          </a:prstGeom>
          <a:solidFill>
            <a:srgbClr val="DDE8D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907024" y="4892040"/>
            <a:ext cx="391363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.github/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07024" y="5175504"/>
            <a:ext cx="3913631" cy="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CI and collaboration templates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The harness tells the agent what to read and where to change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A task moves through repo-local context before it reaches implementation.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3246120"/>
            <a:ext cx="1874519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0664" y="3374136"/>
            <a:ext cx="158191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1">
                <a:solidFill>
                  <a:srgbClr val="18211F"/>
                </a:solidFill>
                <a:latin typeface="Aptos"/>
              </a:rPr>
              <a:t>Task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657600"/>
            <a:ext cx="1581911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tasks/01-sla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68879" y="3703320"/>
            <a:ext cx="347473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834640" y="3246120"/>
            <a:ext cx="1874519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80944" y="3374136"/>
            <a:ext cx="158191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1">
                <a:solidFill>
                  <a:srgbClr val="18211F"/>
                </a:solidFill>
                <a:latin typeface="Aptos"/>
              </a:rPr>
              <a:t>Repo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0944" y="3657600"/>
            <a:ext cx="1581911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AGENTS.md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09160" y="3703320"/>
            <a:ext cx="347472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074920" y="3246120"/>
            <a:ext cx="1874519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21224" y="3374136"/>
            <a:ext cx="158191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1">
                <a:solidFill>
                  <a:srgbClr val="18211F"/>
                </a:solidFill>
                <a:latin typeface="Aptos"/>
              </a:rPr>
              <a:t>System 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1224" y="3657600"/>
            <a:ext cx="1581911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docs/architecture.md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49440" y="3703320"/>
            <a:ext cx="347472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315200" y="3246120"/>
            <a:ext cx="1874519" cy="914400"/>
          </a:xfrm>
          <a:prstGeom prst="rect">
            <a:avLst/>
          </a:prstGeom>
          <a:solidFill>
            <a:srgbClr val="DCE9F7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61504" y="3374136"/>
            <a:ext cx="158191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1">
                <a:solidFill>
                  <a:srgbClr val="18211F"/>
                </a:solidFill>
                <a:latin typeface="Aptos"/>
              </a:rPr>
              <a:t>Change point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61504" y="3657600"/>
            <a:ext cx="1581911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router.py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89720" y="3703320"/>
            <a:ext cx="347472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9555480" y="3246120"/>
            <a:ext cx="1874519" cy="9144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01784" y="3374136"/>
            <a:ext cx="1581911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1">
                <a:solidFill>
                  <a:srgbClr val="18211F"/>
                </a:solidFill>
                <a:latin typeface="Aptos"/>
              </a:rPr>
              <a:t>Behavior 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1784" y="3657600"/>
            <a:ext cx="1581911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tests/test_router.py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48006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sz="1600" b="1">
                <a:solidFill>
                  <a:srgbClr val="163B34"/>
                </a:solidFill>
                <a:latin typeface="Aptos"/>
              </a:rPr>
              <a:t>The harness narrows the search space before the first edit.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The quality gate makes standards executable.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The agent gets one command that validates style, structure, behavior, and smoke-path execution.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06</a:t>
            </a:r>
          </a:p>
        </p:txBody>
      </p:sp>
      <p:sp>
        <p:nvSpPr>
          <p:cNvPr id="8" name="Oval 7"/>
          <p:cNvSpPr/>
          <p:nvPr/>
        </p:nvSpPr>
        <p:spPr>
          <a:xfrm>
            <a:off x="2697480" y="2542032"/>
            <a:ext cx="118872" cy="118872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2756916" y="2660904"/>
            <a:ext cx="0" cy="374904"/>
          </a:xfrm>
          <a:prstGeom prst="line">
            <a:avLst/>
          </a:prstGeom>
          <a:ln w="15240">
            <a:solidFill>
              <a:srgbClr val="D8D0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063240" y="2377440"/>
            <a:ext cx="46634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18688" y="2459736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18211F"/>
                </a:solidFill>
                <a:latin typeface="Aptos"/>
              </a:rPr>
              <a:t>Compile
syntax errors</a:t>
            </a:r>
          </a:p>
        </p:txBody>
      </p:sp>
      <p:sp>
        <p:nvSpPr>
          <p:cNvPr id="12" name="Oval 11"/>
          <p:cNvSpPr/>
          <p:nvPr/>
        </p:nvSpPr>
        <p:spPr>
          <a:xfrm>
            <a:off x="2697480" y="3054096"/>
            <a:ext cx="118872" cy="118872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2756916" y="3172968"/>
            <a:ext cx="0" cy="374904"/>
          </a:xfrm>
          <a:prstGeom prst="line">
            <a:avLst/>
          </a:prstGeom>
          <a:ln w="15240">
            <a:solidFill>
              <a:srgbClr val="D8D0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063240" y="2889504"/>
            <a:ext cx="4663440" cy="411480"/>
          </a:xfrm>
          <a:prstGeom prst="rect">
            <a:avLst/>
          </a:prstGeom>
          <a:solidFill>
            <a:srgbClr val="F3E2C8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18688" y="2971800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18211F"/>
                </a:solidFill>
                <a:latin typeface="Aptos"/>
              </a:rPr>
              <a:t>Lint
style + architecture</a:t>
            </a:r>
          </a:p>
        </p:txBody>
      </p:sp>
      <p:sp>
        <p:nvSpPr>
          <p:cNvPr id="16" name="Oval 15"/>
          <p:cNvSpPr/>
          <p:nvPr/>
        </p:nvSpPr>
        <p:spPr>
          <a:xfrm>
            <a:off x="2697480" y="3566160"/>
            <a:ext cx="118872" cy="118872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2756916" y="3685032"/>
            <a:ext cx="0" cy="374904"/>
          </a:xfrm>
          <a:prstGeom prst="line">
            <a:avLst/>
          </a:prstGeom>
          <a:ln w="15240">
            <a:solidFill>
              <a:srgbClr val="D8D0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063240" y="3401568"/>
            <a:ext cx="46634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18688" y="3483864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18211F"/>
                </a:solidFill>
                <a:latin typeface="Aptos"/>
              </a:rPr>
              <a:t>Doctor
harness files exist</a:t>
            </a:r>
          </a:p>
        </p:txBody>
      </p:sp>
      <p:sp>
        <p:nvSpPr>
          <p:cNvPr id="20" name="Oval 19"/>
          <p:cNvSpPr/>
          <p:nvPr/>
        </p:nvSpPr>
        <p:spPr>
          <a:xfrm>
            <a:off x="2697480" y="4078224"/>
            <a:ext cx="118872" cy="118872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>
            <a:off x="2756916" y="4197096"/>
            <a:ext cx="0" cy="374904"/>
          </a:xfrm>
          <a:prstGeom prst="line">
            <a:avLst/>
          </a:prstGeom>
          <a:ln w="15240">
            <a:solidFill>
              <a:srgbClr val="D8D0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063240" y="3913632"/>
            <a:ext cx="46634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18688" y="3995928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18211F"/>
                </a:solidFill>
                <a:latin typeface="Aptos"/>
              </a:rPr>
              <a:t>Docs
required sections</a:t>
            </a:r>
          </a:p>
        </p:txBody>
      </p:sp>
      <p:sp>
        <p:nvSpPr>
          <p:cNvPr id="24" name="Oval 23"/>
          <p:cNvSpPr/>
          <p:nvPr/>
        </p:nvSpPr>
        <p:spPr>
          <a:xfrm>
            <a:off x="2697480" y="4590288"/>
            <a:ext cx="118872" cy="118872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2756916" y="4709159"/>
            <a:ext cx="0" cy="374905"/>
          </a:xfrm>
          <a:prstGeom prst="line">
            <a:avLst/>
          </a:prstGeom>
          <a:ln w="15240">
            <a:solidFill>
              <a:srgbClr val="D8D0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063240" y="4425696"/>
            <a:ext cx="46634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18688" y="4507992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18211F"/>
                </a:solidFill>
                <a:latin typeface="Aptos"/>
              </a:rPr>
              <a:t>Tests
7 behavior checks</a:t>
            </a:r>
          </a:p>
        </p:txBody>
      </p:sp>
      <p:sp>
        <p:nvSpPr>
          <p:cNvPr id="28" name="Oval 27"/>
          <p:cNvSpPr/>
          <p:nvPr/>
        </p:nvSpPr>
        <p:spPr>
          <a:xfrm>
            <a:off x="2697480" y="5102352"/>
            <a:ext cx="118872" cy="118872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063240" y="4937760"/>
            <a:ext cx="46634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218688" y="5020056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18211F"/>
                </a:solidFill>
                <a:latin typeface="Aptos"/>
              </a:rPr>
              <a:t>Smoke
CLI path still 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60" y="3063240"/>
            <a:ext cx="3246120" cy="777240"/>
          </a:xfrm>
          <a:prstGeom prst="rect">
            <a:avLst/>
          </a:prstGeom>
          <a:solidFill>
            <a:srgbClr val="18211F"/>
          </a:solidFill>
          <a:ln w="10160">
            <a:solidFill>
              <a:srgbClr val="1821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21040" y="3310128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200" b="0">
                <a:solidFill>
                  <a:srgbClr val="F7F3EA"/>
                </a:solidFill>
                <a:latin typeface="Aptos Mono"/>
              </a:rPr>
              <a:t>python3 scripts/check.py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4251960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600" b="1">
                <a:solidFill>
                  <a:srgbClr val="163B34"/>
                </a:solidFill>
                <a:latin typeface="Aptos"/>
              </a:rPr>
              <a:t>One command makes the
contract non-negotiable.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STANDARDS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Coding standards become rules, not wishes.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Some rules are lintable, some are testable, and some need review templates or ADRs.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52615C"/>
                </a:solidFill>
                <a:latin typeface="Aptos"/>
              </a:rPr>
              <a:t>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331720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52615C"/>
                </a:solidFill>
                <a:latin typeface="Aptos"/>
              </a:rPr>
              <a:t>Enforced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331720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52615C"/>
                </a:solidFill>
                <a:latin typeface="Aptos"/>
              </a:rPr>
              <a:t>Why it matters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97480"/>
            <a:ext cx="96926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2825496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No business rules in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825496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2B6CB0"/>
                </a:solidFill>
                <a:latin typeface="Aptos"/>
              </a:rPr>
              <a:t>lint.py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825496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52615C"/>
                </a:solidFill>
                <a:latin typeface="Aptos"/>
              </a:rPr>
              <a:t>architecture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209544"/>
            <a:ext cx="9692640" cy="411480"/>
          </a:xfrm>
          <a:prstGeom prst="rect">
            <a:avLst/>
          </a:prstGeom>
          <a:solidFill>
            <a:srgbClr val="F1EBDD"/>
          </a:solidFill>
          <a:ln w="10160">
            <a:solidFill>
              <a:srgbClr val="F1E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337560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Docstrings on production functions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337560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2B6CB0"/>
                </a:solidFill>
                <a:latin typeface="Aptos"/>
              </a:rPr>
              <a:t>lint.py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337560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52615C"/>
                </a:solidFill>
                <a:latin typeface="Aptos"/>
              </a:rPr>
              <a:t>readability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721608"/>
            <a:ext cx="96926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3849624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Routing behavior is covered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849624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2B6CB0"/>
                </a:solidFill>
                <a:latin typeface="Aptos"/>
              </a:rPr>
              <a:t>test_router.py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3849624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52615C"/>
                </a:solidFill>
                <a:latin typeface="Aptos"/>
              </a:rPr>
              <a:t>behavior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233672"/>
            <a:ext cx="9692640" cy="411480"/>
          </a:xfrm>
          <a:prstGeom prst="rect">
            <a:avLst/>
          </a:prstGeom>
          <a:solidFill>
            <a:srgbClr val="F1EBDD"/>
          </a:solidFill>
          <a:ln w="10160">
            <a:solidFill>
              <a:srgbClr val="F1EB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4361688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Required harness files exist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4361688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2B6CB0"/>
                </a:solidFill>
                <a:latin typeface="Aptos"/>
              </a:rPr>
              <a:t>harness_doctor.py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4361688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52615C"/>
                </a:solidFill>
                <a:latin typeface="Aptos"/>
              </a:rPr>
              <a:t>context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4745736"/>
            <a:ext cx="9692640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873752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1">
                <a:solidFill>
                  <a:srgbClr val="18211F"/>
                </a:solidFill>
                <a:latin typeface="Aptos"/>
              </a:rPr>
              <a:t>Required docs sections remain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873752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2B6CB0"/>
                </a:solidFill>
                <a:latin typeface="Aptos"/>
              </a:rPr>
              <a:t>check_docs.py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873752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050" b="0">
                <a:solidFill>
                  <a:srgbClr val="52615C"/>
                </a:solidFill>
                <a:latin typeface="Aptos"/>
              </a:rPr>
              <a:t>memory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Use one short task prompt in the live demo.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Watch how the repo supplies the operating instructions.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4846320" cy="2651760"/>
          </a:xfrm>
          <a:prstGeom prst="rect">
            <a:avLst/>
          </a:prstGeom>
          <a:solidFill>
            <a:srgbClr val="18211F"/>
          </a:solidFill>
          <a:ln w="10160">
            <a:solidFill>
              <a:srgbClr val="1821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514600"/>
            <a:ext cx="4389120" cy="2011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F7F3EA"/>
                </a:solidFill>
                <a:latin typeface="Aptos Mono"/>
              </a:rPr>
              <a:t>cd ~/Code/harness-engineering-demo
python3 scripts/check.py
Complete tasks/01-add-sla-classification.md
git diff
python3 scripts/check.py</a:t>
            </a:r>
          </a:p>
        </p:txBody>
      </p:sp>
      <p:sp>
        <p:nvSpPr>
          <p:cNvPr id="10" name="Oval 9"/>
          <p:cNvSpPr/>
          <p:nvPr/>
        </p:nvSpPr>
        <p:spPr>
          <a:xfrm>
            <a:off x="6583680" y="2514600"/>
            <a:ext cx="365760" cy="365760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11696" y="2596896"/>
            <a:ext cx="109728" cy="12801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sz="1000" b="1">
                <a:solidFill>
                  <a:srgbClr val="F7F3EA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606040"/>
            <a:ext cx="347472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Baseline passes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0" y="3172968"/>
            <a:ext cx="365760" cy="365760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11696" y="3255263"/>
            <a:ext cx="109728" cy="12801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sz="1000" b="1">
                <a:solidFill>
                  <a:srgbClr val="F7F3EA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3264408"/>
            <a:ext cx="347472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Agent reads repo context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0" y="3831335"/>
            <a:ext cx="365760" cy="365760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11696" y="3913631"/>
            <a:ext cx="109728" cy="12801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sz="1000" b="1">
                <a:solidFill>
                  <a:srgbClr val="F7F3EA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3922775"/>
            <a:ext cx="347472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Agent changes router + tests</a:t>
            </a:r>
          </a:p>
        </p:txBody>
      </p:sp>
      <p:sp>
        <p:nvSpPr>
          <p:cNvPr id="19" name="Oval 18"/>
          <p:cNvSpPr/>
          <p:nvPr/>
        </p:nvSpPr>
        <p:spPr>
          <a:xfrm>
            <a:off x="6583680" y="4489704"/>
            <a:ext cx="365760" cy="365760"/>
          </a:xfrm>
          <a:prstGeom prst="ellipse">
            <a:avLst/>
          </a:prstGeom>
          <a:solidFill>
            <a:srgbClr val="163B34"/>
          </a:solidFill>
          <a:ln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11696" y="4572000"/>
            <a:ext cx="109728" cy="12801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sz="1000" b="1">
                <a:solidFill>
                  <a:srgbClr val="F7F3EA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4581144"/>
            <a:ext cx="347472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500" b="1">
                <a:solidFill>
                  <a:srgbClr val="18211F"/>
                </a:solidFill>
                <a:latin typeface="Aptos"/>
              </a:rPr>
              <a:t>Gate proves the change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A good harness catches drift early.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When context, docs, architecture, or behavior drift, the quality gate should fail locally.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2834640"/>
            <a:ext cx="2926080" cy="777240"/>
          </a:xfrm>
          <a:prstGeom prst="rect">
            <a:avLst/>
          </a:prstGeom>
          <a:solidFill>
            <a:srgbClr val="F3E2C8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06424" y="2962656"/>
            <a:ext cx="26334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1">
                <a:solidFill>
                  <a:srgbClr val="18211F"/>
                </a:solidFill>
                <a:latin typeface="Aptos"/>
              </a:rPr>
              <a:t>Move docs/runbook.md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23160" y="3611880"/>
            <a:ext cx="0" cy="548640"/>
          </a:xfrm>
          <a:prstGeom prst="line">
            <a:avLst/>
          </a:prstGeom>
          <a:ln w="15240">
            <a:solidFill>
              <a:srgbClr val="B24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960120" y="4160520"/>
            <a:ext cx="2926080" cy="777240"/>
          </a:xfrm>
          <a:prstGeom prst="rect">
            <a:avLst/>
          </a:prstGeom>
          <a:solidFill>
            <a:srgbClr val="F5D7D2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06424" y="4288536"/>
            <a:ext cx="26334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1">
                <a:solidFill>
                  <a:srgbClr val="18211F"/>
                </a:solidFill>
                <a:latin typeface="Aptos"/>
              </a:rPr>
              <a:t>Harness doctor fails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834640"/>
            <a:ext cx="2926080" cy="777240"/>
          </a:xfrm>
          <a:prstGeom prst="rect">
            <a:avLst/>
          </a:prstGeom>
          <a:solidFill>
            <a:srgbClr val="DCE9F7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18304" y="2962656"/>
            <a:ext cx="26334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1">
                <a:solidFill>
                  <a:srgbClr val="18211F"/>
                </a:solidFill>
                <a:latin typeface="Aptos"/>
              </a:rPr>
              <a:t>Put outage rule in cli.py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35040" y="3611880"/>
            <a:ext cx="0" cy="548640"/>
          </a:xfrm>
          <a:prstGeom prst="line">
            <a:avLst/>
          </a:prstGeom>
          <a:ln w="15240">
            <a:solidFill>
              <a:srgbClr val="B24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572000" y="4160520"/>
            <a:ext cx="2926080" cy="777240"/>
          </a:xfrm>
          <a:prstGeom prst="rect">
            <a:avLst/>
          </a:prstGeom>
          <a:solidFill>
            <a:srgbClr val="F5D7D2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18304" y="4288536"/>
            <a:ext cx="26334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1">
                <a:solidFill>
                  <a:srgbClr val="18211F"/>
                </a:solidFill>
                <a:latin typeface="Aptos"/>
              </a:rPr>
              <a:t>Architecture lint fails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80" y="2834640"/>
            <a:ext cx="2926080" cy="777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30184" y="2962656"/>
            <a:ext cx="26334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1">
                <a:solidFill>
                  <a:srgbClr val="18211F"/>
                </a:solidFill>
                <a:latin typeface="Aptos"/>
              </a:rPr>
              <a:t>Break expected queue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646920" y="3611880"/>
            <a:ext cx="0" cy="548640"/>
          </a:xfrm>
          <a:prstGeom prst="line">
            <a:avLst/>
          </a:prstGeom>
          <a:ln w="15240">
            <a:solidFill>
              <a:srgbClr val="B24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183880" y="4160520"/>
            <a:ext cx="2926080" cy="777240"/>
          </a:xfrm>
          <a:prstGeom prst="rect">
            <a:avLst/>
          </a:prstGeom>
          <a:solidFill>
            <a:srgbClr val="F5D7D2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30184" y="4288536"/>
            <a:ext cx="263347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1">
                <a:solidFill>
                  <a:srgbClr val="18211F"/>
                </a:solidFill>
                <a:latin typeface="Aptos"/>
              </a:rPr>
              <a:t>Unit test fails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53949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sz="1500" b="1">
                <a:solidFill>
                  <a:srgbClr val="163B34"/>
                </a:solidFill>
                <a:latin typeface="Aptos"/>
              </a:rPr>
              <a:t>Drift becomes a visible, local failure.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256032" cy="36576"/>
          </a:xfrm>
          <a:prstGeom prst="rect">
            <a:avLst/>
          </a:prstGeom>
          <a:solidFill>
            <a:srgbClr val="163B34"/>
          </a:solidFill>
          <a:ln w="10160">
            <a:solidFill>
              <a:srgbClr val="163B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3840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163B34"/>
                </a:solidFill>
                <a:latin typeface="Aptos"/>
              </a:rPr>
              <a:t>ADOPTION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850392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2800" b="1">
                <a:solidFill>
                  <a:srgbClr val="18211F"/>
                </a:solidFill>
                <a:latin typeface="Aptos Display"/>
              </a:rPr>
              <a:t>Build the harness in layers.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64208"/>
            <a:ext cx="6949440" cy="4114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300" b="0">
                <a:solidFill>
                  <a:srgbClr val="52615C"/>
                </a:solidFill>
                <a:latin typeface="Aptos"/>
              </a:rPr>
              <a:t>Start small: instructions and one check. Then add governance, memory, and richer feedback.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800" b="0">
                <a:solidFill>
                  <a:srgbClr val="52615C"/>
                </a:solidFill>
                <a:latin typeface="Aptos"/>
              </a:rPr>
              <a:t>Harness engineering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sz="800" b="0">
                <a:solidFill>
                  <a:srgbClr val="52615C"/>
                </a:solidFill>
                <a:latin typeface="Aptos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2880360"/>
            <a:ext cx="2560320" cy="530352"/>
          </a:xfrm>
          <a:prstGeom prst="rect">
            <a:avLst/>
          </a:prstGeom>
          <a:solidFill>
            <a:srgbClr val="DDE8D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9304" y="3008376"/>
            <a:ext cx="226771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600" b="1">
                <a:solidFill>
                  <a:srgbClr val="18211F"/>
                </a:solidFill>
                <a:latin typeface="Aptos"/>
              </a:rPr>
              <a:t>30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3749039"/>
            <a:ext cx="256032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9304" y="3877055"/>
            <a:ext cx="226771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89304" y="4160520"/>
            <a:ext cx="2267712" cy="8869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Write AGENTS.md
Add one quality gate
Make tasks explicit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03320" y="3145536"/>
            <a:ext cx="685800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389120" y="2880360"/>
            <a:ext cx="2560320" cy="530352"/>
          </a:xfrm>
          <a:prstGeom prst="rect">
            <a:avLst/>
          </a:prstGeom>
          <a:solidFill>
            <a:srgbClr val="DCE9F7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35424" y="3008376"/>
            <a:ext cx="226771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600" b="1">
                <a:solidFill>
                  <a:srgbClr val="18211F"/>
                </a:solidFill>
                <a:latin typeface="Aptos"/>
              </a:rPr>
              <a:t>60 days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3749039"/>
            <a:ext cx="256032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35424" y="3877055"/>
            <a:ext cx="226771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35424" y="4160520"/>
            <a:ext cx="2267712" cy="8869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Add linters + CI
Create runbooks
Start ADRs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49440" y="3145536"/>
            <a:ext cx="685800" cy="0"/>
          </a:xfrm>
          <a:prstGeom prst="line">
            <a:avLst/>
          </a:prstGeom>
          <a:ln w="15240">
            <a:solidFill>
              <a:srgbClr val="163B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635240" y="2880360"/>
            <a:ext cx="2560320" cy="530352"/>
          </a:xfrm>
          <a:prstGeom prst="rect">
            <a:avLst/>
          </a:prstGeom>
          <a:solidFill>
            <a:srgbClr val="F3E2C8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81544" y="3008376"/>
            <a:ext cx="226771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600" b="1">
                <a:solidFill>
                  <a:srgbClr val="18211F"/>
                </a:solidFill>
                <a:latin typeface="Aptos"/>
              </a:rPr>
              <a:t>90 days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35240" y="3749039"/>
            <a:ext cx="2560320" cy="1325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8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81544" y="3877055"/>
            <a:ext cx="2267712" cy="25603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81544" y="4160520"/>
            <a:ext cx="2267712" cy="8869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50" b="0">
                <a:solidFill>
                  <a:srgbClr val="52615C"/>
                </a:solidFill>
                <a:latin typeface="Aptos"/>
              </a:rPr>
              <a:t>Add architecture checks
Track recurring failures
Automate cleanup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3B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94360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>
                <a:solidFill>
                  <a:srgbClr val="DDE8DF"/>
                </a:solidFill>
                <a:latin typeface="Aptos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7680960" cy="114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3600" b="1">
                <a:solidFill>
                  <a:srgbClr val="F7F3EA"/>
                </a:solidFill>
                <a:latin typeface="Aptos Display"/>
              </a:rPr>
              <a:t>Less prompt ritual.
More reliable agent work.</a:t>
            </a:r>
          </a:p>
        </p:txBody>
      </p:sp>
      <p:sp>
        <p:nvSpPr>
          <p:cNvPr id="4" name="Oval 3"/>
          <p:cNvSpPr/>
          <p:nvPr/>
        </p:nvSpPr>
        <p:spPr>
          <a:xfrm>
            <a:off x="694944" y="3767328"/>
            <a:ext cx="73152" cy="73152"/>
          </a:xfrm>
          <a:prstGeom prst="ellipse">
            <a:avLst/>
          </a:prstGeom>
          <a:solidFill>
            <a:srgbClr val="C9792A"/>
          </a:solidFill>
          <a:ln>
            <a:solidFill>
              <a:srgbClr val="C9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370332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0">
                <a:solidFill>
                  <a:srgbClr val="F7F3EA"/>
                </a:solidFill>
                <a:latin typeface="Aptos"/>
              </a:rPr>
              <a:t>Put durable instructions in the repo.</a:t>
            </a:r>
          </a:p>
        </p:txBody>
      </p:sp>
      <p:sp>
        <p:nvSpPr>
          <p:cNvPr id="6" name="Oval 5"/>
          <p:cNvSpPr/>
          <p:nvPr/>
        </p:nvSpPr>
        <p:spPr>
          <a:xfrm>
            <a:off x="694944" y="4178808"/>
            <a:ext cx="73152" cy="73152"/>
          </a:xfrm>
          <a:prstGeom prst="ellipse">
            <a:avLst/>
          </a:prstGeom>
          <a:solidFill>
            <a:srgbClr val="C9792A"/>
          </a:solidFill>
          <a:ln>
            <a:solidFill>
              <a:srgbClr val="C9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411480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0">
                <a:solidFill>
                  <a:srgbClr val="F7F3EA"/>
                </a:solidFill>
                <a:latin typeface="Aptos"/>
              </a:rPr>
              <a:t>Make verification one command.</a:t>
            </a:r>
          </a:p>
        </p:txBody>
      </p:sp>
      <p:sp>
        <p:nvSpPr>
          <p:cNvPr id="8" name="Oval 7"/>
          <p:cNvSpPr/>
          <p:nvPr/>
        </p:nvSpPr>
        <p:spPr>
          <a:xfrm>
            <a:off x="694944" y="4590288"/>
            <a:ext cx="73152" cy="73152"/>
          </a:xfrm>
          <a:prstGeom prst="ellipse">
            <a:avLst/>
          </a:prstGeom>
          <a:solidFill>
            <a:srgbClr val="C9792A"/>
          </a:solidFill>
          <a:ln>
            <a:solidFill>
              <a:srgbClr val="C9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452628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0">
                <a:solidFill>
                  <a:srgbClr val="F7F3EA"/>
                </a:solidFill>
                <a:latin typeface="Aptos"/>
              </a:rPr>
              <a:t>Encode standards as checks.</a:t>
            </a:r>
          </a:p>
        </p:txBody>
      </p:sp>
      <p:sp>
        <p:nvSpPr>
          <p:cNvPr id="10" name="Oval 9"/>
          <p:cNvSpPr/>
          <p:nvPr/>
        </p:nvSpPr>
        <p:spPr>
          <a:xfrm>
            <a:off x="694944" y="5001768"/>
            <a:ext cx="73152" cy="73152"/>
          </a:xfrm>
          <a:prstGeom prst="ellipse">
            <a:avLst/>
          </a:prstGeom>
          <a:solidFill>
            <a:srgbClr val="C9792A"/>
          </a:solidFill>
          <a:ln>
            <a:solidFill>
              <a:srgbClr val="C97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4937760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400" b="0">
                <a:solidFill>
                  <a:srgbClr val="F7F3EA"/>
                </a:solidFill>
                <a:latin typeface="Aptos"/>
              </a:rPr>
              <a:t>Treat bad agent output as harness feedback.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035040"/>
            <a:ext cx="5943600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100" b="0">
                <a:solidFill>
                  <a:srgbClr val="CFE0D4"/>
                </a:solidFill>
                <a:latin typeface="Aptos"/>
              </a:rPr>
              <a:t>Harness engineering turns agent use into a team capability.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1219</Words>
  <Application>Microsoft Macintosh PowerPoint</Application>
  <PresentationFormat>Widescreen</PresentationFormat>
  <Paragraphs>183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Aptos Mono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Usama Dar</cp:lastModifiedBy>
  <cp:revision>2</cp:revision>
  <dcterms:created xsi:type="dcterms:W3CDTF">2013-01-27T09:14:16Z</dcterms:created>
  <dcterms:modified xsi:type="dcterms:W3CDTF">2026-05-14T15:57:19Z</dcterms:modified>
  <cp:category/>
</cp:coreProperties>
</file>