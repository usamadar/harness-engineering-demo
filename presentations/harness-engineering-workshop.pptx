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243"/>
  </p:normalViewPr>
  <p:slideViewPr>
    <p:cSldViewPr snapToGrid="0" snapToObjects="1">
      <p:cViewPr varScale="1">
        <p:scale>
          <a:sx n="74" d="100"/>
          <a:sy n="74" d="100"/>
        </p:scale>
        <p:origin x="25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8857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harness is the system that helps an agent do reliable work.</a:t>
            </a:r>
          </a:p>
          <a:p>
            <a:r>
              <a:rPr lang="en-US" dirty="0"/>
              <a:t>Start by defining the harness plainly. It is not a magic wrapper. It is the engineered environment around the agent.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harness turns intent into a safe work loop.</a:t>
            </a:r>
          </a:p>
          <a:p>
            <a:r>
              <a:rPr lang="en-US" dirty="0"/>
              <a:t>Walk learners through the loop. The agent is useful because it can act, but the harness makes action safe and inspectable.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Prompting alone makes every task depend on memory and discipline.</a:t>
            </a:r>
          </a:p>
          <a:p>
            <a:r>
              <a:rPr lang="en-US" dirty="0"/>
              <a:t>This is the key shift. We do not want every engineer to remember a long ritual prompt. We want the repo to carry the ritual.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harness has five layers that do different jobs.</a:t>
            </a:r>
          </a:p>
          <a:p>
            <a:r>
              <a:rPr lang="en-US" dirty="0"/>
              <a:t>Introduce the five-part model as a learner reference. Each layer has a role and examples. Emphasize that feedback is the signal loop, while governance is the rule system that decides what must block completion or merge.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tells the agent what matters.</a:t>
            </a:r>
          </a:p>
          <a:p>
            <a:r>
              <a:rPr lang="en-US" dirty="0"/>
              <a:t>Teach context in the same pattern as the other layer slides: define the concept, name the questions it answers, then point to the repo artifacts that provide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gives the agent a working environment.</a:t>
            </a:r>
          </a:p>
          <a:p>
            <a:r>
              <a:rPr lang="en-US" dirty="0"/>
              <a:t>Teach execution as the layer that makes work reproducible. The agent needs commands, setup assumptions, and repeatable entry points so it can verify changes locally.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tells the agent what broke.</a:t>
            </a:r>
          </a:p>
          <a:p>
            <a:r>
              <a:rPr lang="en-US" dirty="0"/>
              <a:t>Teach feedback as a chain of inspectable signals, not just one monolithic command. check.py remains the orchestrator, but the repo exposes separate scripts for syntax, lint and architecture, harness integrity, docs, unit tests, and smoke behavior.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turns standards into enforceable rules.</a:t>
            </a:r>
          </a:p>
          <a:p>
            <a:r>
              <a:rPr lang="en-US" dirty="0"/>
              <a:t>Teach governance in two steps. First explain the general concept: governance is the rule system for standards, ownership, and acceptance. Then show the concrete repo examples that enforce those rules.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keeps the team from reteaching the same lessons.</a:t>
            </a:r>
          </a:p>
          <a:p>
            <a:r>
              <a:rPr lang="en-US" dirty="0"/>
              <a:t>Teach memory as durable team knowledge. It is not just documentation; it is the layer that preserves decisions, procedures, accepted patterns, and reusable task shapes.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Overlap is intentional when each file has a different job.</a:t>
            </a:r>
          </a:p>
          <a:p>
            <a:r>
              <a:rPr lang="en-US" dirty="0"/>
              <a:t>Use this slide to answer the duplication question. Architecture describes the current system, ADRs explain why a decision was made, tasks define the next change, and runbooks explain how to operate or demo the repo.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repo is small so the harness is easy to inspect.</a:t>
            </a:r>
          </a:p>
          <a:p>
            <a:r>
              <a:rPr lang="en-US" dirty="0"/>
              <a:t>Make clear that the ticket router is not the main product. It is a small target for demonstrating the harness.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command can orchestrate many feedback signals.</a:t>
            </a:r>
          </a:p>
          <a:p>
            <a:r>
              <a:rPr lang="en-US" dirty="0"/>
              <a:t>Explain that check.py is not the whole feedback layer. It is an orchestrator over smaller checks, which makes the harness easier to teach, debug, and extend.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Coding standards belong in checks when they can be checked.</a:t>
            </a:r>
          </a:p>
          <a:p>
            <a:r>
              <a:rPr lang="en-US" dirty="0"/>
              <a:t>Use this slide to answer the common question: are standards enforced by linters or tests? The answer is both, depending on the standard.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prompt is short because the repo carries the instructions.</a:t>
            </a:r>
          </a:p>
          <a:p>
            <a:r>
              <a:rPr lang="en-US" dirty="0"/>
              <a:t>This slide is the run of show. Do not over-explain before running it; let the harness behavior be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minimum viable harness.</a:t>
            </a:r>
          </a:p>
          <a:p>
            <a:r>
              <a:rPr lang="en-US" dirty="0"/>
              <a:t>Give a practical adoption path. The goal is not perfection; it is compounding improvement.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engineering makes agent work teachable, repeatable, and reviewable.</a:t>
            </a:r>
          </a:p>
          <a:p>
            <a:r>
              <a:rPr lang="en-US" dirty="0"/>
              <a:t>Close with the operating principle. Bad output is not only a model problem; it is often a missing harness signal.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FOUNDATION</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A harness is the system that helps an agent do reliable work.</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Think beyond the prompt: the repo, tools, checks, docs, and review process all shape the agent's behavior.</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01</a:t>
            </a:r>
          </a:p>
        </p:txBody>
      </p:sp>
      <p:sp>
        <p:nvSpPr>
          <p:cNvPr id="8" name="TextBox 7"/>
          <p:cNvSpPr txBox="1"/>
          <p:nvPr/>
        </p:nvSpPr>
        <p:spPr>
          <a:xfrm>
            <a:off x="640080" y="2011680"/>
            <a:ext cx="10698480" cy="411480"/>
          </a:xfrm>
          <a:prstGeom prst="rect">
            <a:avLst/>
          </a:prstGeom>
          <a:noFill/>
        </p:spPr>
        <p:txBody>
          <a:bodyPr wrap="square" lIns="73152" rIns="73152">
            <a:noAutofit/>
          </a:bodyPr>
          <a:lstStyle/>
          <a:p>
            <a:r>
              <a:rPr sz="1800" b="1">
                <a:solidFill>
                  <a:srgbClr val="163B34"/>
                </a:solidFill>
                <a:latin typeface="Aptos"/>
              </a:rPr>
              <a:t>Harness = context + execution + feedback + governance + memory</a:t>
            </a:r>
          </a:p>
        </p:txBody>
      </p:sp>
      <p:sp>
        <p:nvSpPr>
          <p:cNvPr id="9" name="Rectangle 8"/>
          <p:cNvSpPr/>
          <p:nvPr/>
        </p:nvSpPr>
        <p:spPr>
          <a:xfrm>
            <a:off x="640080" y="2743200"/>
            <a:ext cx="1874519" cy="105156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1" y="2862072"/>
            <a:ext cx="1581911" cy="256032"/>
          </a:xfrm>
          <a:prstGeom prst="rect">
            <a:avLst/>
          </a:prstGeom>
          <a:noFill/>
        </p:spPr>
        <p:txBody>
          <a:bodyPr wrap="square" lIns="73152" rIns="73152">
            <a:noAutofit/>
          </a:bodyPr>
          <a:lstStyle/>
          <a:p>
            <a:r>
              <a:rPr sz="1300" b="1">
                <a:solidFill>
                  <a:srgbClr val="18211F"/>
                </a:solidFill>
                <a:latin typeface="Aptos"/>
              </a:rPr>
              <a:t>Context</a:t>
            </a:r>
          </a:p>
        </p:txBody>
      </p:sp>
      <p:sp>
        <p:nvSpPr>
          <p:cNvPr id="12" name="TextBox 11"/>
          <p:cNvSpPr txBox="1"/>
          <p:nvPr/>
        </p:nvSpPr>
        <p:spPr>
          <a:xfrm>
            <a:off x="804671" y="3182112"/>
            <a:ext cx="1581911" cy="548639"/>
          </a:xfrm>
          <a:prstGeom prst="rect">
            <a:avLst/>
          </a:prstGeom>
          <a:noFill/>
        </p:spPr>
        <p:txBody>
          <a:bodyPr wrap="square" lIns="73152" rIns="73152">
            <a:noAutofit/>
          </a:bodyPr>
          <a:lstStyle/>
          <a:p>
            <a:r>
              <a:rPr sz="1050" b="0">
                <a:solidFill>
                  <a:srgbClr val="52615C"/>
                </a:solidFill>
                <a:latin typeface="Aptos"/>
              </a:rPr>
              <a:t>What should I read?</a:t>
            </a:r>
          </a:p>
        </p:txBody>
      </p:sp>
      <p:sp>
        <p:nvSpPr>
          <p:cNvPr id="13" name="Rectangle 12"/>
          <p:cNvSpPr/>
          <p:nvPr/>
        </p:nvSpPr>
        <p:spPr>
          <a:xfrm>
            <a:off x="2880360" y="2743200"/>
            <a:ext cx="1874519" cy="10515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88036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44952" y="2862072"/>
            <a:ext cx="1581911" cy="256032"/>
          </a:xfrm>
          <a:prstGeom prst="rect">
            <a:avLst/>
          </a:prstGeom>
          <a:noFill/>
        </p:spPr>
        <p:txBody>
          <a:bodyPr wrap="square" lIns="73152" rIns="73152">
            <a:noAutofit/>
          </a:bodyPr>
          <a:lstStyle/>
          <a:p>
            <a:r>
              <a:rPr sz="1300" b="1">
                <a:solidFill>
                  <a:srgbClr val="18211F"/>
                </a:solidFill>
                <a:latin typeface="Aptos"/>
              </a:rPr>
              <a:t>Execution</a:t>
            </a:r>
          </a:p>
        </p:txBody>
      </p:sp>
      <p:sp>
        <p:nvSpPr>
          <p:cNvPr id="16" name="TextBox 15"/>
          <p:cNvSpPr txBox="1"/>
          <p:nvPr/>
        </p:nvSpPr>
        <p:spPr>
          <a:xfrm>
            <a:off x="3044952" y="3182112"/>
            <a:ext cx="1581911" cy="548639"/>
          </a:xfrm>
          <a:prstGeom prst="rect">
            <a:avLst/>
          </a:prstGeom>
          <a:noFill/>
        </p:spPr>
        <p:txBody>
          <a:bodyPr wrap="square" lIns="73152" rIns="73152">
            <a:noAutofit/>
          </a:bodyPr>
          <a:lstStyle/>
          <a:p>
            <a:r>
              <a:rPr sz="1050" b="0">
                <a:solidFill>
                  <a:srgbClr val="52615C"/>
                </a:solidFill>
                <a:latin typeface="Aptos"/>
              </a:rPr>
              <a:t>How do I run it?</a:t>
            </a:r>
          </a:p>
        </p:txBody>
      </p:sp>
      <p:sp>
        <p:nvSpPr>
          <p:cNvPr id="17" name="Rectangle 16"/>
          <p:cNvSpPr/>
          <p:nvPr/>
        </p:nvSpPr>
        <p:spPr>
          <a:xfrm>
            <a:off x="5120640" y="2743200"/>
            <a:ext cx="1874519" cy="105156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12064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85232" y="2862072"/>
            <a:ext cx="1581911" cy="256032"/>
          </a:xfrm>
          <a:prstGeom prst="rect">
            <a:avLst/>
          </a:prstGeom>
          <a:noFill/>
        </p:spPr>
        <p:txBody>
          <a:bodyPr wrap="square" lIns="73152" rIns="73152">
            <a:noAutofit/>
          </a:bodyPr>
          <a:lstStyle/>
          <a:p>
            <a:r>
              <a:rPr sz="1300" b="1">
                <a:solidFill>
                  <a:srgbClr val="18211F"/>
                </a:solidFill>
                <a:latin typeface="Aptos"/>
              </a:rPr>
              <a:t>Feedback</a:t>
            </a:r>
          </a:p>
        </p:txBody>
      </p:sp>
      <p:sp>
        <p:nvSpPr>
          <p:cNvPr id="20" name="TextBox 19"/>
          <p:cNvSpPr txBox="1"/>
          <p:nvPr/>
        </p:nvSpPr>
        <p:spPr>
          <a:xfrm>
            <a:off x="5285232" y="3182112"/>
            <a:ext cx="1581911" cy="548639"/>
          </a:xfrm>
          <a:prstGeom prst="rect">
            <a:avLst/>
          </a:prstGeom>
          <a:noFill/>
        </p:spPr>
        <p:txBody>
          <a:bodyPr wrap="square" lIns="73152" rIns="73152">
            <a:noAutofit/>
          </a:bodyPr>
          <a:lstStyle/>
          <a:p>
            <a:r>
              <a:rPr sz="1050" b="0">
                <a:solidFill>
                  <a:srgbClr val="52615C"/>
                </a:solidFill>
                <a:latin typeface="Aptos"/>
              </a:rPr>
              <a:t>What broke?</a:t>
            </a:r>
          </a:p>
        </p:txBody>
      </p:sp>
      <p:sp>
        <p:nvSpPr>
          <p:cNvPr id="21" name="Rectangle 20"/>
          <p:cNvSpPr/>
          <p:nvPr/>
        </p:nvSpPr>
        <p:spPr>
          <a:xfrm>
            <a:off x="7360920" y="2743200"/>
            <a:ext cx="1874519" cy="105156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36092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525512" y="2862072"/>
            <a:ext cx="1581911" cy="256032"/>
          </a:xfrm>
          <a:prstGeom prst="rect">
            <a:avLst/>
          </a:prstGeom>
          <a:noFill/>
        </p:spPr>
        <p:txBody>
          <a:bodyPr wrap="square" lIns="73152" rIns="73152">
            <a:noAutofit/>
          </a:bodyPr>
          <a:lstStyle/>
          <a:p>
            <a:r>
              <a:rPr sz="1300" b="1">
                <a:solidFill>
                  <a:srgbClr val="18211F"/>
                </a:solidFill>
                <a:latin typeface="Aptos"/>
              </a:rPr>
              <a:t>Governance</a:t>
            </a:r>
          </a:p>
        </p:txBody>
      </p:sp>
      <p:sp>
        <p:nvSpPr>
          <p:cNvPr id="24" name="TextBox 23"/>
          <p:cNvSpPr txBox="1"/>
          <p:nvPr/>
        </p:nvSpPr>
        <p:spPr>
          <a:xfrm>
            <a:off x="7525512" y="3182112"/>
            <a:ext cx="1581911" cy="548639"/>
          </a:xfrm>
          <a:prstGeom prst="rect">
            <a:avLst/>
          </a:prstGeom>
          <a:noFill/>
        </p:spPr>
        <p:txBody>
          <a:bodyPr wrap="square" lIns="73152" rIns="73152">
            <a:noAutofit/>
          </a:bodyPr>
          <a:lstStyle/>
          <a:p>
            <a:r>
              <a:rPr sz="1050" b="0">
                <a:solidFill>
                  <a:srgbClr val="52615C"/>
                </a:solidFill>
                <a:latin typeface="Aptos"/>
              </a:rPr>
              <a:t>What rules matter?</a:t>
            </a:r>
          </a:p>
        </p:txBody>
      </p:sp>
      <p:sp>
        <p:nvSpPr>
          <p:cNvPr id="25" name="Rectangle 24"/>
          <p:cNvSpPr/>
          <p:nvPr/>
        </p:nvSpPr>
        <p:spPr>
          <a:xfrm>
            <a:off x="9601200" y="2743200"/>
            <a:ext cx="1874519" cy="1051560"/>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601200" y="2743200"/>
            <a:ext cx="54864" cy="105156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65792" y="2862072"/>
            <a:ext cx="1581911" cy="256032"/>
          </a:xfrm>
          <a:prstGeom prst="rect">
            <a:avLst/>
          </a:prstGeom>
          <a:noFill/>
        </p:spPr>
        <p:txBody>
          <a:bodyPr wrap="square" lIns="73152" rIns="73152">
            <a:noAutofit/>
          </a:bodyPr>
          <a:lstStyle/>
          <a:p>
            <a:r>
              <a:rPr sz="1300" b="1">
                <a:solidFill>
                  <a:srgbClr val="18211F"/>
                </a:solidFill>
                <a:latin typeface="Aptos"/>
              </a:rPr>
              <a:t>Memory</a:t>
            </a:r>
          </a:p>
        </p:txBody>
      </p:sp>
      <p:sp>
        <p:nvSpPr>
          <p:cNvPr id="28" name="TextBox 27"/>
          <p:cNvSpPr txBox="1"/>
          <p:nvPr/>
        </p:nvSpPr>
        <p:spPr>
          <a:xfrm>
            <a:off x="9765792" y="3182112"/>
            <a:ext cx="1581911" cy="548639"/>
          </a:xfrm>
          <a:prstGeom prst="rect">
            <a:avLst/>
          </a:prstGeom>
          <a:noFill/>
        </p:spPr>
        <p:txBody>
          <a:bodyPr wrap="square" lIns="73152" rIns="73152">
            <a:noAutofit/>
          </a:bodyPr>
          <a:lstStyle/>
          <a:p>
            <a:r>
              <a:rPr sz="1050" b="0">
                <a:solidFill>
                  <a:srgbClr val="52615C"/>
                </a:solidFill>
                <a:latin typeface="Aptos"/>
              </a:rPr>
              <a:t>What should persist?</a:t>
            </a:r>
          </a:p>
        </p:txBody>
      </p:sp>
      <p:sp>
        <p:nvSpPr>
          <p:cNvPr id="29" name="TextBox 28"/>
          <p:cNvSpPr txBox="1"/>
          <p:nvPr/>
        </p:nvSpPr>
        <p:spPr>
          <a:xfrm>
            <a:off x="1005840" y="4709160"/>
            <a:ext cx="9692640" cy="594360"/>
          </a:xfrm>
          <a:prstGeom prst="rect">
            <a:avLst/>
          </a:prstGeom>
          <a:noFill/>
        </p:spPr>
        <p:txBody>
          <a:bodyPr wrap="square" lIns="73152" rIns="73152">
            <a:noAutofit/>
          </a:bodyPr>
          <a:lstStyle/>
          <a:p>
            <a:pPr algn="ctr"/>
            <a:r>
              <a:rPr sz="1700" b="1">
                <a:solidFill>
                  <a:srgbClr val="18211F"/>
                </a:solidFill>
                <a:latin typeface="Aptos"/>
              </a:rPr>
              <a:t>The agent is powerful because it can act. The harness is what makes that action inspectable and recoverable.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MENTAL MODEL</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harness turns intent into a safe work loop.</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agent should move through context, execution, feedback, and review before the work is considered done.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02</a:t>
            </a:r>
          </a:p>
        </p:txBody>
      </p:sp>
      <p:sp>
        <p:nvSpPr>
          <p:cNvPr id="8" name="Rectangle 7"/>
          <p:cNvSpPr/>
          <p:nvPr/>
        </p:nvSpPr>
        <p:spPr>
          <a:xfrm>
            <a:off x="731520" y="2743200"/>
            <a:ext cx="169164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315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862072"/>
            <a:ext cx="1399032" cy="256032"/>
          </a:xfrm>
          <a:prstGeom prst="rect">
            <a:avLst/>
          </a:prstGeom>
          <a:noFill/>
        </p:spPr>
        <p:txBody>
          <a:bodyPr wrap="square" lIns="73152" rIns="73152">
            <a:noAutofit/>
          </a:bodyPr>
          <a:lstStyle/>
          <a:p>
            <a:r>
              <a:rPr sz="1300" b="1">
                <a:solidFill>
                  <a:srgbClr val="18211F"/>
                </a:solidFill>
                <a:latin typeface="Aptos"/>
              </a:rPr>
              <a:t>Human intent</a:t>
            </a:r>
          </a:p>
        </p:txBody>
      </p:sp>
      <p:sp>
        <p:nvSpPr>
          <p:cNvPr id="11" name="TextBox 10"/>
          <p:cNvSpPr txBox="1"/>
          <p:nvPr/>
        </p:nvSpPr>
        <p:spPr>
          <a:xfrm>
            <a:off x="896112" y="3182112"/>
            <a:ext cx="1399032" cy="411479"/>
          </a:xfrm>
          <a:prstGeom prst="rect">
            <a:avLst/>
          </a:prstGeom>
          <a:noFill/>
        </p:spPr>
        <p:txBody>
          <a:bodyPr wrap="square" lIns="73152" rIns="73152">
            <a:noAutofit/>
          </a:bodyPr>
          <a:lstStyle/>
          <a:p>
            <a:r>
              <a:rPr sz="1050" b="0">
                <a:solidFill>
                  <a:srgbClr val="52615C"/>
                </a:solidFill>
                <a:latin typeface="Aptos"/>
              </a:rPr>
              <a:t>short task request</a:t>
            </a:r>
          </a:p>
        </p:txBody>
      </p:sp>
      <p:sp>
        <p:nvSpPr>
          <p:cNvPr id="12" name="Rectangle 11"/>
          <p:cNvSpPr/>
          <p:nvPr/>
        </p:nvSpPr>
        <p:spPr>
          <a:xfrm>
            <a:off x="2788920" y="2743200"/>
            <a:ext cx="1691640" cy="9144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889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53512" y="2862072"/>
            <a:ext cx="1399032" cy="256032"/>
          </a:xfrm>
          <a:prstGeom prst="rect">
            <a:avLst/>
          </a:prstGeom>
          <a:noFill/>
        </p:spPr>
        <p:txBody>
          <a:bodyPr wrap="square" lIns="73152" rIns="73152">
            <a:noAutofit/>
          </a:bodyPr>
          <a:lstStyle/>
          <a:p>
            <a:r>
              <a:rPr sz="1300" b="1">
                <a:solidFill>
                  <a:srgbClr val="18211F"/>
                </a:solidFill>
                <a:latin typeface="Aptos"/>
              </a:rPr>
              <a:t>Context</a:t>
            </a:r>
          </a:p>
        </p:txBody>
      </p:sp>
      <p:sp>
        <p:nvSpPr>
          <p:cNvPr id="15" name="TextBox 14"/>
          <p:cNvSpPr txBox="1"/>
          <p:nvPr/>
        </p:nvSpPr>
        <p:spPr>
          <a:xfrm>
            <a:off x="2953512" y="3182112"/>
            <a:ext cx="1399032" cy="411479"/>
          </a:xfrm>
          <a:prstGeom prst="rect">
            <a:avLst/>
          </a:prstGeom>
          <a:noFill/>
        </p:spPr>
        <p:txBody>
          <a:bodyPr wrap="square" lIns="73152" rIns="73152">
            <a:noAutofit/>
          </a:bodyPr>
          <a:lstStyle/>
          <a:p>
            <a:r>
              <a:rPr sz="1050" b="0">
                <a:solidFill>
                  <a:srgbClr val="52615C"/>
                </a:solidFill>
                <a:latin typeface="Aptos"/>
              </a:rPr>
              <a:t>repo instructions</a:t>
            </a:r>
          </a:p>
        </p:txBody>
      </p:sp>
      <p:sp>
        <p:nvSpPr>
          <p:cNvPr id="16" name="Rectangle 15"/>
          <p:cNvSpPr/>
          <p:nvPr/>
        </p:nvSpPr>
        <p:spPr>
          <a:xfrm>
            <a:off x="4846320" y="2743200"/>
            <a:ext cx="1691640" cy="9144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8463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10912" y="2862072"/>
            <a:ext cx="1399032" cy="256032"/>
          </a:xfrm>
          <a:prstGeom prst="rect">
            <a:avLst/>
          </a:prstGeom>
          <a:noFill/>
        </p:spPr>
        <p:txBody>
          <a:bodyPr wrap="square" lIns="73152" rIns="73152">
            <a:noAutofit/>
          </a:bodyPr>
          <a:lstStyle/>
          <a:p>
            <a:r>
              <a:rPr sz="1300" b="1">
                <a:solidFill>
                  <a:srgbClr val="18211F"/>
                </a:solidFill>
                <a:latin typeface="Aptos"/>
              </a:rPr>
              <a:t>Agent work</a:t>
            </a:r>
          </a:p>
        </p:txBody>
      </p:sp>
      <p:sp>
        <p:nvSpPr>
          <p:cNvPr id="19" name="TextBox 18"/>
          <p:cNvSpPr txBox="1"/>
          <p:nvPr/>
        </p:nvSpPr>
        <p:spPr>
          <a:xfrm>
            <a:off x="5010912" y="3182112"/>
            <a:ext cx="1399032" cy="411479"/>
          </a:xfrm>
          <a:prstGeom prst="rect">
            <a:avLst/>
          </a:prstGeom>
          <a:noFill/>
        </p:spPr>
        <p:txBody>
          <a:bodyPr wrap="square" lIns="73152" rIns="73152">
            <a:noAutofit/>
          </a:bodyPr>
          <a:lstStyle/>
          <a:p>
            <a:r>
              <a:rPr sz="1050" b="0">
                <a:solidFill>
                  <a:srgbClr val="52615C"/>
                </a:solidFill>
                <a:latin typeface="Aptos"/>
              </a:rPr>
              <a:t>edits files</a:t>
            </a:r>
          </a:p>
        </p:txBody>
      </p:sp>
      <p:sp>
        <p:nvSpPr>
          <p:cNvPr id="20" name="Rectangle 19"/>
          <p:cNvSpPr/>
          <p:nvPr/>
        </p:nvSpPr>
        <p:spPr>
          <a:xfrm>
            <a:off x="6903720" y="2743200"/>
            <a:ext cx="1691640" cy="91440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9037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68312" y="2862072"/>
            <a:ext cx="1399032" cy="256032"/>
          </a:xfrm>
          <a:prstGeom prst="rect">
            <a:avLst/>
          </a:prstGeom>
          <a:noFill/>
        </p:spPr>
        <p:txBody>
          <a:bodyPr wrap="square" lIns="73152" rIns="73152">
            <a:noAutofit/>
          </a:bodyPr>
          <a:lstStyle/>
          <a:p>
            <a:r>
              <a:rPr sz="1300" b="1">
                <a:solidFill>
                  <a:srgbClr val="18211F"/>
                </a:solidFill>
                <a:latin typeface="Aptos"/>
              </a:rPr>
              <a:t>Feedback</a:t>
            </a:r>
          </a:p>
        </p:txBody>
      </p:sp>
      <p:sp>
        <p:nvSpPr>
          <p:cNvPr id="23" name="TextBox 22"/>
          <p:cNvSpPr txBox="1"/>
          <p:nvPr/>
        </p:nvSpPr>
        <p:spPr>
          <a:xfrm>
            <a:off x="7068312" y="3182112"/>
            <a:ext cx="1399032" cy="411479"/>
          </a:xfrm>
          <a:prstGeom prst="rect">
            <a:avLst/>
          </a:prstGeom>
          <a:noFill/>
        </p:spPr>
        <p:txBody>
          <a:bodyPr wrap="square" lIns="73152" rIns="73152">
            <a:noAutofit/>
          </a:bodyPr>
          <a:lstStyle/>
          <a:p>
            <a:r>
              <a:rPr sz="1050" b="0">
                <a:solidFill>
                  <a:srgbClr val="52615C"/>
                </a:solidFill>
                <a:latin typeface="Aptos"/>
              </a:rPr>
              <a:t>checks fail/pass</a:t>
            </a:r>
          </a:p>
        </p:txBody>
      </p:sp>
      <p:sp>
        <p:nvSpPr>
          <p:cNvPr id="24" name="Rectangle 23"/>
          <p:cNvSpPr/>
          <p:nvPr/>
        </p:nvSpPr>
        <p:spPr>
          <a:xfrm>
            <a:off x="8961120" y="2743200"/>
            <a:ext cx="169164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961120" y="274320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25712" y="2862072"/>
            <a:ext cx="1399032" cy="256032"/>
          </a:xfrm>
          <a:prstGeom prst="rect">
            <a:avLst/>
          </a:prstGeom>
          <a:noFill/>
        </p:spPr>
        <p:txBody>
          <a:bodyPr wrap="square" lIns="73152" rIns="73152">
            <a:noAutofit/>
          </a:bodyPr>
          <a:lstStyle/>
          <a:p>
            <a:r>
              <a:rPr sz="1300" b="1">
                <a:solidFill>
                  <a:srgbClr val="18211F"/>
                </a:solidFill>
                <a:latin typeface="Aptos"/>
              </a:rPr>
              <a:t>Review</a:t>
            </a:r>
          </a:p>
        </p:txBody>
      </p:sp>
      <p:sp>
        <p:nvSpPr>
          <p:cNvPr id="27" name="TextBox 26"/>
          <p:cNvSpPr txBox="1"/>
          <p:nvPr/>
        </p:nvSpPr>
        <p:spPr>
          <a:xfrm>
            <a:off x="9125712" y="3182112"/>
            <a:ext cx="1399032" cy="411479"/>
          </a:xfrm>
          <a:prstGeom prst="rect">
            <a:avLst/>
          </a:prstGeom>
          <a:noFill/>
        </p:spPr>
        <p:txBody>
          <a:bodyPr wrap="square" lIns="73152" rIns="73152">
            <a:noAutofit/>
          </a:bodyPr>
          <a:lstStyle/>
          <a:p>
            <a:r>
              <a:rPr sz="1050" b="0">
                <a:solidFill>
                  <a:srgbClr val="52615C"/>
                </a:solidFill>
                <a:latin typeface="Aptos"/>
              </a:rPr>
              <a:t>human judgment</a:t>
            </a:r>
          </a:p>
        </p:txBody>
      </p:sp>
      <p:cxnSp>
        <p:nvCxnSpPr>
          <p:cNvPr id="28" name="Connector 27"/>
          <p:cNvCxnSpPr/>
          <p:nvPr/>
        </p:nvCxnSpPr>
        <p:spPr>
          <a:xfrm>
            <a:off x="24231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4805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5379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95360" y="3200400"/>
            <a:ext cx="347472"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80160" y="4434840"/>
            <a:ext cx="9326880" cy="502920"/>
          </a:xfrm>
          <a:prstGeom prst="rect">
            <a:avLst/>
          </a:prstGeom>
          <a:noFill/>
        </p:spPr>
        <p:txBody>
          <a:bodyPr wrap="square" lIns="73152" rIns="73152">
            <a:noAutofit/>
          </a:bodyPr>
          <a:lstStyle/>
          <a:p>
            <a:pPr algn="ctr"/>
            <a:r>
              <a:rPr sz="1600" b="1">
                <a:solidFill>
                  <a:srgbClr val="163B34"/>
                </a:solidFill>
                <a:latin typeface="Aptos"/>
              </a:rPr>
              <a:t>A good harness makes the loop fast enough that the agent can correct many mistakes before you review.</a:t>
            </a:r>
          </a:p>
        </p:txBody>
      </p:sp>
      <p:sp>
        <p:nvSpPr>
          <p:cNvPr id="33" name="Rectangle 32"/>
          <p:cNvSpPr/>
          <p:nvPr/>
        </p:nvSpPr>
        <p:spPr>
          <a:xfrm>
            <a:off x="1828800" y="5166360"/>
            <a:ext cx="8412480" cy="8229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1828800" y="5166360"/>
            <a:ext cx="54864" cy="82296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993392" y="5285232"/>
            <a:ext cx="8119871" cy="256032"/>
          </a:xfrm>
          <a:prstGeom prst="rect">
            <a:avLst/>
          </a:prstGeom>
          <a:noFill/>
        </p:spPr>
        <p:txBody>
          <a:bodyPr wrap="square" lIns="73152" rIns="73152">
            <a:noAutofit/>
          </a:bodyPr>
          <a:lstStyle/>
          <a:p>
            <a:r>
              <a:rPr sz="1300" b="1">
                <a:solidFill>
                  <a:srgbClr val="18211F"/>
                </a:solidFill>
                <a:latin typeface="Aptos"/>
              </a:rPr>
              <a:t>Done means evidence exists</a:t>
            </a:r>
          </a:p>
        </p:txBody>
      </p:sp>
      <p:sp>
        <p:nvSpPr>
          <p:cNvPr id="36" name="TextBox 35"/>
          <p:cNvSpPr txBox="1"/>
          <p:nvPr/>
        </p:nvSpPr>
        <p:spPr>
          <a:xfrm>
            <a:off x="1993392" y="5605272"/>
            <a:ext cx="8119871" cy="320040"/>
          </a:xfrm>
          <a:prstGeom prst="rect">
            <a:avLst/>
          </a:prstGeom>
          <a:noFill/>
        </p:spPr>
        <p:txBody>
          <a:bodyPr wrap="square" lIns="73152" rIns="73152">
            <a:noAutofit/>
          </a:bodyPr>
          <a:lstStyle/>
          <a:p>
            <a:r>
              <a:rPr sz="1050" b="0">
                <a:solidFill>
                  <a:srgbClr val="52615C"/>
                </a:solidFill>
                <a:latin typeface="Aptos"/>
              </a:rPr>
              <a:t>The output is not just code. It is code plus the checks, logs, diffs, and notes that prove the task was handled.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WHY IT MATTERS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Prompting alone makes every task depend on memory and discipline.</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A harness moves repeated instructions out of chat and into files, scripts, tests, and CI.</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03</a:t>
            </a:r>
          </a:p>
        </p:txBody>
      </p:sp>
      <p:sp>
        <p:nvSpPr>
          <p:cNvPr id="8" name="Rectangle 7"/>
          <p:cNvSpPr/>
          <p:nvPr/>
        </p:nvSpPr>
        <p:spPr>
          <a:xfrm>
            <a:off x="822960" y="2148840"/>
            <a:ext cx="4754880" cy="155448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2960" y="2148840"/>
            <a:ext cx="54864" cy="155448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267712"/>
            <a:ext cx="4462272" cy="256032"/>
          </a:xfrm>
          <a:prstGeom prst="rect">
            <a:avLst/>
          </a:prstGeom>
          <a:noFill/>
        </p:spPr>
        <p:txBody>
          <a:bodyPr wrap="square" lIns="73152" rIns="73152">
            <a:noAutofit/>
          </a:bodyPr>
          <a:lstStyle/>
          <a:p>
            <a:r>
              <a:rPr sz="1300" b="1">
                <a:solidFill>
                  <a:srgbClr val="18211F"/>
                </a:solidFill>
                <a:latin typeface="Aptos"/>
              </a:rPr>
              <a:t>Prompt-only work</a:t>
            </a:r>
          </a:p>
        </p:txBody>
      </p:sp>
      <p:sp>
        <p:nvSpPr>
          <p:cNvPr id="11" name="TextBox 10"/>
          <p:cNvSpPr txBox="1"/>
          <p:nvPr/>
        </p:nvSpPr>
        <p:spPr>
          <a:xfrm>
            <a:off x="987552" y="2587752"/>
            <a:ext cx="4462272" cy="1051560"/>
          </a:xfrm>
          <a:prstGeom prst="rect">
            <a:avLst/>
          </a:prstGeom>
          <a:noFill/>
        </p:spPr>
        <p:txBody>
          <a:bodyPr wrap="square" lIns="73152" rIns="73152">
            <a:noAutofit/>
          </a:bodyPr>
          <a:lstStyle/>
          <a:p>
            <a:r>
              <a:rPr sz="1050" b="0">
                <a:solidFill>
                  <a:srgbClr val="52615C"/>
                </a:solidFill>
                <a:latin typeface="Aptos"/>
              </a:rPr>
              <a:t>Every engineer must remember the same long instructions: read docs, follow architecture, add tests, run checks, explain risk.</a:t>
            </a:r>
          </a:p>
        </p:txBody>
      </p:sp>
      <p:sp>
        <p:nvSpPr>
          <p:cNvPr id="12" name="Rectangle 11"/>
          <p:cNvSpPr/>
          <p:nvPr/>
        </p:nvSpPr>
        <p:spPr>
          <a:xfrm>
            <a:off x="6400800" y="2148840"/>
            <a:ext cx="4754880" cy="155448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400800" y="2148840"/>
            <a:ext cx="54864" cy="155448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65392" y="2267712"/>
            <a:ext cx="4462272" cy="256032"/>
          </a:xfrm>
          <a:prstGeom prst="rect">
            <a:avLst/>
          </a:prstGeom>
          <a:noFill/>
        </p:spPr>
        <p:txBody>
          <a:bodyPr wrap="square" lIns="73152" rIns="73152">
            <a:noAutofit/>
          </a:bodyPr>
          <a:lstStyle/>
          <a:p>
            <a:r>
              <a:rPr sz="1300" b="1">
                <a:solidFill>
                  <a:srgbClr val="18211F"/>
                </a:solidFill>
                <a:latin typeface="Aptos"/>
              </a:rPr>
              <a:t>Harnessed work</a:t>
            </a:r>
          </a:p>
        </p:txBody>
      </p:sp>
      <p:sp>
        <p:nvSpPr>
          <p:cNvPr id="15" name="TextBox 14"/>
          <p:cNvSpPr txBox="1"/>
          <p:nvPr/>
        </p:nvSpPr>
        <p:spPr>
          <a:xfrm>
            <a:off x="6565392" y="2587752"/>
            <a:ext cx="4462272" cy="1051560"/>
          </a:xfrm>
          <a:prstGeom prst="rect">
            <a:avLst/>
          </a:prstGeom>
          <a:noFill/>
        </p:spPr>
        <p:txBody>
          <a:bodyPr wrap="square" lIns="73152" rIns="73152">
            <a:noAutofit/>
          </a:bodyPr>
          <a:lstStyle/>
          <a:p>
            <a:r>
              <a:rPr sz="1050" b="0">
                <a:solidFill>
                  <a:srgbClr val="52615C"/>
                </a:solidFill>
                <a:latin typeface="Aptos"/>
              </a:rPr>
              <a:t>The repo carries durable instructions. The agent gets a short task and discovers the workflow from files and commands.</a:t>
            </a:r>
          </a:p>
        </p:txBody>
      </p:sp>
      <p:sp>
        <p:nvSpPr>
          <p:cNvPr id="16" name="TextBox 15"/>
          <p:cNvSpPr txBox="1"/>
          <p:nvPr/>
        </p:nvSpPr>
        <p:spPr>
          <a:xfrm>
            <a:off x="1920240" y="4251960"/>
            <a:ext cx="8321040" cy="384048"/>
          </a:xfrm>
          <a:prstGeom prst="rect">
            <a:avLst/>
          </a:prstGeom>
          <a:noFill/>
        </p:spPr>
        <p:txBody>
          <a:bodyPr wrap="square" lIns="73152" rIns="73152">
            <a:noAutofit/>
          </a:bodyPr>
          <a:lstStyle/>
          <a:p>
            <a:pPr algn="ctr"/>
            <a:r>
              <a:rPr sz="2100" b="1">
                <a:solidFill>
                  <a:srgbClr val="163B34"/>
                </a:solidFill>
                <a:latin typeface="Aptos"/>
              </a:rPr>
              <a:t>Goal: shorter prompts, stronger repo contracts.</a:t>
            </a:r>
          </a:p>
        </p:txBody>
      </p:sp>
      <p:sp>
        <p:nvSpPr>
          <p:cNvPr id="17" name="Rectangle 16"/>
          <p:cNvSpPr/>
          <p:nvPr/>
        </p:nvSpPr>
        <p:spPr>
          <a:xfrm>
            <a:off x="1828800" y="4983480"/>
            <a:ext cx="8412480" cy="822960"/>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828800" y="4983480"/>
            <a:ext cx="54864" cy="82296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993392" y="5102352"/>
            <a:ext cx="8119871" cy="256032"/>
          </a:xfrm>
          <a:prstGeom prst="rect">
            <a:avLst/>
          </a:prstGeom>
          <a:noFill/>
        </p:spPr>
        <p:txBody>
          <a:bodyPr wrap="square" lIns="73152" rIns="73152">
            <a:noAutofit/>
          </a:bodyPr>
          <a:lstStyle/>
          <a:p>
            <a:r>
              <a:rPr sz="1300" b="1">
                <a:solidFill>
                  <a:srgbClr val="18211F"/>
                </a:solidFill>
                <a:latin typeface="Aptos"/>
              </a:rPr>
              <a:t>What moves out of chat?</a:t>
            </a:r>
          </a:p>
        </p:txBody>
      </p:sp>
      <p:sp>
        <p:nvSpPr>
          <p:cNvPr id="20" name="TextBox 19"/>
          <p:cNvSpPr txBox="1"/>
          <p:nvPr/>
        </p:nvSpPr>
        <p:spPr>
          <a:xfrm>
            <a:off x="1993392" y="5422392"/>
            <a:ext cx="8119871" cy="320040"/>
          </a:xfrm>
          <a:prstGeom prst="rect">
            <a:avLst/>
          </a:prstGeom>
          <a:noFill/>
        </p:spPr>
        <p:txBody>
          <a:bodyPr wrap="square" lIns="73152" rIns="73152">
            <a:noAutofit/>
          </a:bodyPr>
          <a:lstStyle/>
          <a:p>
            <a:r>
              <a:rPr sz="1050" b="0">
                <a:solidFill>
                  <a:srgbClr val="52615C"/>
                </a:solidFill>
                <a:latin typeface="Aptos"/>
              </a:rPr>
              <a:t>Coding standards, architecture boundaries, setup steps, task acceptance criteria, quality gates, and review expectations.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MAP</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A practical harness has five layers that do different jobs.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Use this map to separate guidance, runtime, signals, rules, and reusable knowledge.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04</a:t>
            </a:r>
          </a:p>
        </p:txBody>
      </p:sp>
      <p:sp>
        <p:nvSpPr>
          <p:cNvPr id="8" name="Rectangle 7"/>
          <p:cNvSpPr/>
          <p:nvPr/>
        </p:nvSpPr>
        <p:spPr>
          <a:xfrm>
            <a:off x="594360" y="1847088"/>
            <a:ext cx="11064240" cy="676656"/>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94360" y="184708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956816"/>
            <a:ext cx="1417320" cy="292608"/>
          </a:xfrm>
          <a:prstGeom prst="rect">
            <a:avLst/>
          </a:prstGeom>
          <a:noFill/>
        </p:spPr>
        <p:txBody>
          <a:bodyPr wrap="square" lIns="73152" rIns="73152">
            <a:noAutofit/>
          </a:bodyPr>
          <a:lstStyle/>
          <a:p>
            <a:r>
              <a:rPr sz="1320" b="1">
                <a:solidFill>
                  <a:srgbClr val="18211F"/>
                </a:solidFill>
                <a:latin typeface="Aptos"/>
              </a:rPr>
              <a:t>Context</a:t>
            </a:r>
          </a:p>
        </p:txBody>
      </p:sp>
      <p:sp>
        <p:nvSpPr>
          <p:cNvPr id="11" name="TextBox 10"/>
          <p:cNvSpPr txBox="1"/>
          <p:nvPr/>
        </p:nvSpPr>
        <p:spPr>
          <a:xfrm>
            <a:off x="2359152" y="1947672"/>
            <a:ext cx="3794760" cy="384048"/>
          </a:xfrm>
          <a:prstGeom prst="rect">
            <a:avLst/>
          </a:prstGeom>
          <a:noFill/>
        </p:spPr>
        <p:txBody>
          <a:bodyPr wrap="square" lIns="73152" rIns="73152">
            <a:noAutofit/>
          </a:bodyPr>
          <a:lstStyle/>
          <a:p>
            <a:r>
              <a:rPr sz="980" b="0">
                <a:solidFill>
                  <a:srgbClr val="18211F"/>
                </a:solidFill>
                <a:latin typeface="Aptos"/>
              </a:rPr>
              <a:t>The repo-local map: what to read, where behavior belongs, and what not to change.</a:t>
            </a:r>
          </a:p>
        </p:txBody>
      </p:sp>
      <p:sp>
        <p:nvSpPr>
          <p:cNvPr id="12" name="TextBox 11"/>
          <p:cNvSpPr txBox="1"/>
          <p:nvPr/>
        </p:nvSpPr>
        <p:spPr>
          <a:xfrm>
            <a:off x="6446520" y="1947672"/>
            <a:ext cx="4800600" cy="384048"/>
          </a:xfrm>
          <a:prstGeom prst="rect">
            <a:avLst/>
          </a:prstGeom>
          <a:noFill/>
        </p:spPr>
        <p:txBody>
          <a:bodyPr wrap="square" lIns="73152" rIns="73152">
            <a:noAutofit/>
          </a:bodyPr>
          <a:lstStyle/>
          <a:p>
            <a:r>
              <a:rPr sz="869" b="0">
                <a:solidFill>
                  <a:srgbClr val="52615C"/>
                </a:solidFill>
                <a:latin typeface="Aptos"/>
              </a:rPr>
              <a:t>Examples: AGENTS.md; architecture docs; task brief; acceptance criteria.</a:t>
            </a:r>
          </a:p>
        </p:txBody>
      </p:sp>
      <p:sp>
        <p:nvSpPr>
          <p:cNvPr id="13" name="Rectangle 12"/>
          <p:cNvSpPr/>
          <p:nvPr/>
        </p:nvSpPr>
        <p:spPr>
          <a:xfrm>
            <a:off x="594360" y="2670048"/>
            <a:ext cx="11064240" cy="67665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94360" y="267004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2779776"/>
            <a:ext cx="1417320" cy="292608"/>
          </a:xfrm>
          <a:prstGeom prst="rect">
            <a:avLst/>
          </a:prstGeom>
          <a:noFill/>
        </p:spPr>
        <p:txBody>
          <a:bodyPr wrap="square" lIns="73152" rIns="73152">
            <a:noAutofit/>
          </a:bodyPr>
          <a:lstStyle/>
          <a:p>
            <a:r>
              <a:rPr sz="1320" b="1">
                <a:solidFill>
                  <a:srgbClr val="18211F"/>
                </a:solidFill>
                <a:latin typeface="Aptos"/>
              </a:rPr>
              <a:t>Execution</a:t>
            </a:r>
          </a:p>
        </p:txBody>
      </p:sp>
      <p:sp>
        <p:nvSpPr>
          <p:cNvPr id="16" name="TextBox 15"/>
          <p:cNvSpPr txBox="1"/>
          <p:nvPr/>
        </p:nvSpPr>
        <p:spPr>
          <a:xfrm>
            <a:off x="2359152" y="2770632"/>
            <a:ext cx="3794760" cy="384048"/>
          </a:xfrm>
          <a:prstGeom prst="rect">
            <a:avLst/>
          </a:prstGeom>
          <a:noFill/>
        </p:spPr>
        <p:txBody>
          <a:bodyPr wrap="square" lIns="73152" rIns="73152">
            <a:noAutofit/>
          </a:bodyPr>
          <a:lstStyle/>
          <a:p>
            <a:r>
              <a:rPr sz="980" b="0">
                <a:solidFill>
                  <a:srgbClr val="18211F"/>
                </a:solidFill>
                <a:latin typeface="Aptos"/>
              </a:rPr>
              <a:t>The working environment: how the agent installs, runs, and repeats the task locally.</a:t>
            </a:r>
          </a:p>
        </p:txBody>
      </p:sp>
      <p:sp>
        <p:nvSpPr>
          <p:cNvPr id="17" name="TextBox 16"/>
          <p:cNvSpPr txBox="1"/>
          <p:nvPr/>
        </p:nvSpPr>
        <p:spPr>
          <a:xfrm>
            <a:off x="6446520" y="2770632"/>
            <a:ext cx="4800600" cy="384048"/>
          </a:xfrm>
          <a:prstGeom prst="rect">
            <a:avLst/>
          </a:prstGeom>
          <a:noFill/>
        </p:spPr>
        <p:txBody>
          <a:bodyPr wrap="square" lIns="73152" rIns="73152">
            <a:noAutofit/>
          </a:bodyPr>
          <a:lstStyle/>
          <a:p>
            <a:r>
              <a:rPr sz="869" b="0">
                <a:solidFill>
                  <a:srgbClr val="52615C"/>
                </a:solidFill>
                <a:latin typeface="Aptos"/>
              </a:rPr>
              <a:t>Examples: Makefile; scripts/check.py; demo command; env example; seed data.</a:t>
            </a:r>
          </a:p>
        </p:txBody>
      </p:sp>
      <p:sp>
        <p:nvSpPr>
          <p:cNvPr id="18" name="Rectangle 17"/>
          <p:cNvSpPr/>
          <p:nvPr/>
        </p:nvSpPr>
        <p:spPr>
          <a:xfrm>
            <a:off x="594360" y="3493008"/>
            <a:ext cx="11064240" cy="676656"/>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4360" y="3493008"/>
            <a:ext cx="64008" cy="676656"/>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4672" y="3602736"/>
            <a:ext cx="1417320" cy="292608"/>
          </a:xfrm>
          <a:prstGeom prst="rect">
            <a:avLst/>
          </a:prstGeom>
          <a:noFill/>
        </p:spPr>
        <p:txBody>
          <a:bodyPr wrap="square" lIns="73152" rIns="73152">
            <a:noAutofit/>
          </a:bodyPr>
          <a:lstStyle/>
          <a:p>
            <a:r>
              <a:rPr sz="1320" b="1">
                <a:solidFill>
                  <a:srgbClr val="18211F"/>
                </a:solidFill>
                <a:latin typeface="Aptos"/>
              </a:rPr>
              <a:t>Feedback</a:t>
            </a:r>
          </a:p>
        </p:txBody>
      </p:sp>
      <p:sp>
        <p:nvSpPr>
          <p:cNvPr id="21" name="TextBox 20"/>
          <p:cNvSpPr txBox="1"/>
          <p:nvPr/>
        </p:nvSpPr>
        <p:spPr>
          <a:xfrm>
            <a:off x="2359152" y="3593592"/>
            <a:ext cx="3794760" cy="384048"/>
          </a:xfrm>
          <a:prstGeom prst="rect">
            <a:avLst/>
          </a:prstGeom>
          <a:noFill/>
        </p:spPr>
        <p:txBody>
          <a:bodyPr wrap="square" lIns="73152" rIns="73152">
            <a:noAutofit/>
          </a:bodyPr>
          <a:lstStyle/>
          <a:p>
            <a:r>
              <a:rPr sz="980" b="0">
                <a:solidFill>
                  <a:srgbClr val="18211F"/>
                </a:solidFill>
                <a:latin typeface="Aptos"/>
              </a:rPr>
              <a:t>The signal loop: did this change break something?</a:t>
            </a:r>
          </a:p>
        </p:txBody>
      </p:sp>
      <p:sp>
        <p:nvSpPr>
          <p:cNvPr id="22" name="TextBox 21"/>
          <p:cNvSpPr txBox="1"/>
          <p:nvPr/>
        </p:nvSpPr>
        <p:spPr>
          <a:xfrm>
            <a:off x="6446520" y="3593592"/>
            <a:ext cx="4800600" cy="384048"/>
          </a:xfrm>
          <a:prstGeom prst="rect">
            <a:avLst/>
          </a:prstGeom>
          <a:noFill/>
        </p:spPr>
        <p:txBody>
          <a:bodyPr wrap="square" lIns="73152" rIns="73152">
            <a:noAutofit/>
          </a:bodyPr>
          <a:lstStyle/>
          <a:p>
            <a:r>
              <a:rPr sz="869" b="0">
                <a:solidFill>
                  <a:srgbClr val="52615C"/>
                </a:solidFill>
                <a:latin typeface="Aptos"/>
              </a:rPr>
              <a:t>Examples: tests fail; lint fails; smoke test fails; CLI output is wrong; docs contract check fails.</a:t>
            </a:r>
          </a:p>
        </p:txBody>
      </p:sp>
      <p:sp>
        <p:nvSpPr>
          <p:cNvPr id="23" name="Rectangle 22"/>
          <p:cNvSpPr/>
          <p:nvPr/>
        </p:nvSpPr>
        <p:spPr>
          <a:xfrm>
            <a:off x="594360" y="4315968"/>
            <a:ext cx="11064240" cy="676656"/>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94360" y="4315968"/>
            <a:ext cx="64008" cy="67665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04672" y="4425696"/>
            <a:ext cx="1417320" cy="292608"/>
          </a:xfrm>
          <a:prstGeom prst="rect">
            <a:avLst/>
          </a:prstGeom>
          <a:noFill/>
        </p:spPr>
        <p:txBody>
          <a:bodyPr wrap="square" lIns="73152" rIns="73152">
            <a:noAutofit/>
          </a:bodyPr>
          <a:lstStyle/>
          <a:p>
            <a:r>
              <a:rPr sz="1320" b="1">
                <a:solidFill>
                  <a:srgbClr val="18211F"/>
                </a:solidFill>
                <a:latin typeface="Aptos"/>
              </a:rPr>
              <a:t>Governance</a:t>
            </a:r>
          </a:p>
        </p:txBody>
      </p:sp>
      <p:sp>
        <p:nvSpPr>
          <p:cNvPr id="26" name="TextBox 25"/>
          <p:cNvSpPr txBox="1"/>
          <p:nvPr/>
        </p:nvSpPr>
        <p:spPr>
          <a:xfrm>
            <a:off x="2359152" y="4416552"/>
            <a:ext cx="3794760" cy="384048"/>
          </a:xfrm>
          <a:prstGeom prst="rect">
            <a:avLst/>
          </a:prstGeom>
          <a:noFill/>
        </p:spPr>
        <p:txBody>
          <a:bodyPr wrap="square" lIns="73152" rIns="73152">
            <a:noAutofit/>
          </a:bodyPr>
          <a:lstStyle/>
          <a:p>
            <a:r>
              <a:rPr sz="980" b="0">
                <a:solidFill>
                  <a:srgbClr val="18211F"/>
                </a:solidFill>
                <a:latin typeface="Aptos"/>
              </a:rPr>
              <a:t>The rule system: what standards are non-negotiable, and who or what enforces them?</a:t>
            </a:r>
          </a:p>
        </p:txBody>
      </p:sp>
      <p:sp>
        <p:nvSpPr>
          <p:cNvPr id="27" name="TextBox 26"/>
          <p:cNvSpPr txBox="1"/>
          <p:nvPr/>
        </p:nvSpPr>
        <p:spPr>
          <a:xfrm>
            <a:off x="6446520" y="4416552"/>
            <a:ext cx="4800600" cy="384048"/>
          </a:xfrm>
          <a:prstGeom prst="rect">
            <a:avLst/>
          </a:prstGeom>
          <a:noFill/>
        </p:spPr>
        <p:txBody>
          <a:bodyPr wrap="square" lIns="73152" rIns="73152">
            <a:noAutofit/>
          </a:bodyPr>
          <a:lstStyle/>
          <a:p>
            <a:r>
              <a:rPr sz="869" b="0">
                <a:solidFill>
                  <a:srgbClr val="52615C"/>
                </a:solidFill>
                <a:latin typeface="Aptos"/>
              </a:rPr>
              <a:t>Examples: CI requires scripts/check.py before merge; PR template requires evidence; branch protection blocks failed checks; ADRs define decisions future changes must respect.</a:t>
            </a:r>
          </a:p>
        </p:txBody>
      </p:sp>
      <p:sp>
        <p:nvSpPr>
          <p:cNvPr id="28" name="Rectangle 27"/>
          <p:cNvSpPr/>
          <p:nvPr/>
        </p:nvSpPr>
        <p:spPr>
          <a:xfrm>
            <a:off x="594360" y="5138928"/>
            <a:ext cx="11064240" cy="676656"/>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94360" y="5138928"/>
            <a:ext cx="64008" cy="67665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4672" y="5248656"/>
            <a:ext cx="1417320" cy="292608"/>
          </a:xfrm>
          <a:prstGeom prst="rect">
            <a:avLst/>
          </a:prstGeom>
          <a:noFill/>
        </p:spPr>
        <p:txBody>
          <a:bodyPr wrap="square" lIns="73152" rIns="73152">
            <a:noAutofit/>
          </a:bodyPr>
          <a:lstStyle/>
          <a:p>
            <a:r>
              <a:rPr sz="1320" b="1">
                <a:solidFill>
                  <a:srgbClr val="18211F"/>
                </a:solidFill>
                <a:latin typeface="Aptos"/>
              </a:rPr>
              <a:t>Memory</a:t>
            </a:r>
          </a:p>
        </p:txBody>
      </p:sp>
      <p:sp>
        <p:nvSpPr>
          <p:cNvPr id="31" name="TextBox 30"/>
          <p:cNvSpPr txBox="1"/>
          <p:nvPr/>
        </p:nvSpPr>
        <p:spPr>
          <a:xfrm>
            <a:off x="2359152" y="5239512"/>
            <a:ext cx="3794760" cy="384048"/>
          </a:xfrm>
          <a:prstGeom prst="rect">
            <a:avLst/>
          </a:prstGeom>
          <a:noFill/>
        </p:spPr>
        <p:txBody>
          <a:bodyPr wrap="square" lIns="73152" rIns="73152">
            <a:noAutofit/>
          </a:bodyPr>
          <a:lstStyle/>
          <a:p>
            <a:r>
              <a:rPr sz="980" b="0">
                <a:solidFill>
                  <a:srgbClr val="18211F"/>
                </a:solidFill>
                <a:latin typeface="Aptos"/>
              </a:rPr>
              <a:t>The reusable knowledge layer: what the team should not have to reteach next time.</a:t>
            </a:r>
          </a:p>
        </p:txBody>
      </p:sp>
      <p:sp>
        <p:nvSpPr>
          <p:cNvPr id="32" name="TextBox 31"/>
          <p:cNvSpPr txBox="1"/>
          <p:nvPr/>
        </p:nvSpPr>
        <p:spPr>
          <a:xfrm>
            <a:off x="6446520" y="5239512"/>
            <a:ext cx="4800600" cy="384048"/>
          </a:xfrm>
          <a:prstGeom prst="rect">
            <a:avLst/>
          </a:prstGeom>
          <a:noFill/>
        </p:spPr>
        <p:txBody>
          <a:bodyPr wrap="square" lIns="73152" rIns="73152">
            <a:noAutofit/>
          </a:bodyPr>
          <a:lstStyle/>
          <a:p>
            <a:r>
              <a:rPr sz="869" b="0">
                <a:solidFill>
                  <a:srgbClr val="52615C"/>
                </a:solidFill>
                <a:latin typeface="Aptos"/>
              </a:rPr>
              <a:t>Examples: runbooks; ADRs; accepted patterns; known failure notes; prompt recipes.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1</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Context tells the agent what matters.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Context is the repo-local map that reduces guessing before code changes begin.</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05</a:t>
            </a:r>
          </a:p>
        </p:txBody>
      </p:sp>
      <p:sp>
        <p:nvSpPr>
          <p:cNvPr id="8" name="Rectangle 7"/>
          <p:cNvSpPr/>
          <p:nvPr/>
        </p:nvSpPr>
        <p:spPr>
          <a:xfrm>
            <a:off x="685800" y="1920240"/>
            <a:ext cx="5074920" cy="1170432"/>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920240"/>
            <a:ext cx="54864" cy="117043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Context is durable guidance that lives near the code. It tells the agent what matters before the first edit, so the task does not depend on a long prompt.</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What should the agent read first? Where does behavior belong? What constraints should it respect? What does done mean for this task?</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730752"/>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AGENTS.md</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Defines the agent workflow: read the task, inspect docs, keep changes scoped, run the gate.</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 y="4169664"/>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docs/architecture.md</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Explains where responsibilities live, including why routing behavior belongs in router.py.</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 y="4608576"/>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tasks/*.md</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Gives the goal, context, acceptance criteria, and files to inspect for each exercise.</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47488"/>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README.md</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Orients humans and agents to the app, commands, and teaching purpose.</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486400"/>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docs/harness-map.md</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Explains how the harness pieces fit together across docs, scripts, tests, and CI.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2</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Execution gives the agent a working environment.</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Execution is the runnable path from task request to observable result.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06</a:t>
            </a:r>
          </a:p>
        </p:txBody>
      </p:sp>
      <p:sp>
        <p:nvSpPr>
          <p:cNvPr id="8" name="Rectangle 7"/>
          <p:cNvSpPr/>
          <p:nvPr/>
        </p:nvSpPr>
        <p:spPr>
          <a:xfrm>
            <a:off x="685800" y="1920240"/>
            <a:ext cx="5074920" cy="117043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Execution is the reproducible way to do the work. It gives the agent commands and a local environment instead of relying on a human to run things later.</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How do I run the app? How do I run the checks? What setup is assumed? Can I repeat the same command after every edit?</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730752"/>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Makefile</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Provides memorable entry points such as make check and make demo.</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 y="4169664"/>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scripts/check.py</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Orchestrates the smaller feedback scripts from one command.</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 y="4608576"/>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pyproject.toml</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Defines the package layout and Python path assumptions for the demo.</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47488"/>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harness_demo.cli</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Gives a runnable command-line path for smoke testing behavior.</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486400"/>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standard library</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Keeps execution simple by avoiding external services and runtime dependencies.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3</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Feedback tells the agent what broke.</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Feedback is clearer when each signal has its own small check.</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07</a:t>
            </a:r>
          </a:p>
        </p:txBody>
      </p:sp>
      <p:sp>
        <p:nvSpPr>
          <p:cNvPr id="8" name="Rectangle 7"/>
          <p:cNvSpPr/>
          <p:nvPr/>
        </p:nvSpPr>
        <p:spPr>
          <a:xfrm>
            <a:off x="685800" y="1920240"/>
            <a:ext cx="5074920" cy="117043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Feedback is the signal loop. It tells the agent whether the last change worked, failed, or drifted away from the repo contract.</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Did the code still compile? Did behavior change correctly? Did docs or architecture rules break? What should the agent fix next?</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730752"/>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check_syntax.py</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Catches broken Python before deeper checks run.</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 y="4169664"/>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scripts/lint.py</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Reports formatting, docstring, and architecture drift.</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 y="4608576"/>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harness_doctor.py</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Reports missing harness files or broken teaching structure.</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47488"/>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check_docs.py</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Reports missing required documentation sections.</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486400"/>
            <a:ext cx="54864" cy="34747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tests + smoke</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check_tests.py reports behavior; check_smoke.py verifies the CLI path.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4</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Governance turns standards into enforceable rules.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Governance defines the standards, ownership, acceptance rules, and required evidence.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08</a:t>
            </a:r>
          </a:p>
        </p:txBody>
      </p:sp>
      <p:sp>
        <p:nvSpPr>
          <p:cNvPr id="8" name="Rectangle 7"/>
          <p:cNvSpPr/>
          <p:nvPr/>
        </p:nvSpPr>
        <p:spPr>
          <a:xfrm>
            <a:off x="685800" y="1920240"/>
            <a:ext cx="5074920" cy="1170432"/>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920240"/>
            <a:ext cx="54864" cy="117043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Governance is the rule system around the work. It defines non-negotiable standards, ownership, acceptance rules, and required review evidence.</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When is a rule applied? Who or what enforces it? What evidence is required before a task, review, or merge can move forward?</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730752"/>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Issue template</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.github/ISSUE_TEMPLATE/agent-task.md - used when creating an agent task; asks for goal, context, acceptance criteria, and constraints.</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 y="4169664"/>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PR template</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.github/pull_request_template.md - used when opening a pull request; asks for check output, tests, architecture evidence, and ADR updates.</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 y="4608576"/>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GitHub workflow</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.github/workflows/quality.yml - used on PRs and pushes to main; runs python3 scripts/check.py as a CI gate.</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47488"/>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Architecture rule</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scripts/lint.py - used during local/CI checks; blocks business-rule terms from drifting into src/harness_demo/cli.py.</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486400"/>
            <a:ext cx="54864" cy="347472"/>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Decision rules</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docs/adr/ - used during design/review; records decisions future changes should respect.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LAYER 5</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Memory keeps the team from reteaching the same lessons.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Memory captures reusable knowledge so the next task starts smarter.</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09</a:t>
            </a:r>
          </a:p>
        </p:txBody>
      </p:sp>
      <p:sp>
        <p:nvSpPr>
          <p:cNvPr id="8" name="Rectangle 7"/>
          <p:cNvSpPr/>
          <p:nvPr/>
        </p:nvSpPr>
        <p:spPr>
          <a:xfrm>
            <a:off x="685800" y="1920240"/>
            <a:ext cx="5074920" cy="1170432"/>
          </a:xfrm>
          <a:prstGeom prst="rect">
            <a:avLst/>
          </a:prstGeom>
          <a:solidFill>
            <a:srgbClr val="E8E1D3"/>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920240"/>
            <a:ext cx="54864" cy="117043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2039112"/>
            <a:ext cx="4782312" cy="256032"/>
          </a:xfrm>
          <a:prstGeom prst="rect">
            <a:avLst/>
          </a:prstGeom>
          <a:noFill/>
        </p:spPr>
        <p:txBody>
          <a:bodyPr wrap="square" lIns="73152" rIns="73152">
            <a:noAutofit/>
          </a:bodyPr>
          <a:lstStyle/>
          <a:p>
            <a:r>
              <a:rPr sz="1300" b="1">
                <a:solidFill>
                  <a:srgbClr val="18211F"/>
                </a:solidFill>
                <a:latin typeface="Aptos"/>
              </a:rPr>
              <a:t>General concept</a:t>
            </a:r>
          </a:p>
        </p:txBody>
      </p:sp>
      <p:sp>
        <p:nvSpPr>
          <p:cNvPr id="11" name="TextBox 10"/>
          <p:cNvSpPr txBox="1"/>
          <p:nvPr/>
        </p:nvSpPr>
        <p:spPr>
          <a:xfrm>
            <a:off x="850392" y="2359152"/>
            <a:ext cx="4782312" cy="667512"/>
          </a:xfrm>
          <a:prstGeom prst="rect">
            <a:avLst/>
          </a:prstGeom>
          <a:noFill/>
        </p:spPr>
        <p:txBody>
          <a:bodyPr wrap="square" lIns="73152" rIns="73152">
            <a:noAutofit/>
          </a:bodyPr>
          <a:lstStyle/>
          <a:p>
            <a:r>
              <a:rPr sz="1050" b="0">
                <a:solidFill>
                  <a:srgbClr val="52615C"/>
                </a:solidFill>
                <a:latin typeface="Aptos"/>
              </a:rPr>
              <a:t>Memory is durable knowledge that survives one chat or one task. It lets the team reuse decisions, procedures, examples, and lessons learned.</a:t>
            </a:r>
          </a:p>
        </p:txBody>
      </p:sp>
      <p:sp>
        <p:nvSpPr>
          <p:cNvPr id="12" name="Rectangle 11"/>
          <p:cNvSpPr/>
          <p:nvPr/>
        </p:nvSpPr>
        <p:spPr>
          <a:xfrm>
            <a:off x="6172200" y="1920240"/>
            <a:ext cx="5074920" cy="117043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920240"/>
            <a:ext cx="54864" cy="117043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2039112"/>
            <a:ext cx="4782312" cy="256032"/>
          </a:xfrm>
          <a:prstGeom prst="rect">
            <a:avLst/>
          </a:prstGeom>
          <a:noFill/>
        </p:spPr>
        <p:txBody>
          <a:bodyPr wrap="square" lIns="73152" rIns="73152">
            <a:noAutofit/>
          </a:bodyPr>
          <a:lstStyle/>
          <a:p>
            <a:r>
              <a:rPr sz="1300" b="1">
                <a:solidFill>
                  <a:srgbClr val="18211F"/>
                </a:solidFill>
                <a:latin typeface="Aptos"/>
              </a:rPr>
              <a:t>What this layer answers</a:t>
            </a:r>
          </a:p>
        </p:txBody>
      </p:sp>
      <p:sp>
        <p:nvSpPr>
          <p:cNvPr id="15" name="TextBox 14"/>
          <p:cNvSpPr txBox="1"/>
          <p:nvPr/>
        </p:nvSpPr>
        <p:spPr>
          <a:xfrm>
            <a:off x="6336792" y="2359152"/>
            <a:ext cx="4782312" cy="667512"/>
          </a:xfrm>
          <a:prstGeom prst="rect">
            <a:avLst/>
          </a:prstGeom>
          <a:noFill/>
        </p:spPr>
        <p:txBody>
          <a:bodyPr wrap="square" lIns="73152" rIns="73152">
            <a:noAutofit/>
          </a:bodyPr>
          <a:lstStyle/>
          <a:p>
            <a:r>
              <a:rPr sz="1050" b="0">
                <a:solidFill>
                  <a:srgbClr val="52615C"/>
                </a:solidFill>
                <a:latin typeface="Aptos"/>
              </a:rPr>
              <a:t>What did we decide? What procedure should be repeated? What pattern is accepted? What should the next agent not have to rediscover?</a:t>
            </a:r>
          </a:p>
        </p:txBody>
      </p:sp>
      <p:sp>
        <p:nvSpPr>
          <p:cNvPr id="16" name="TextBox 15"/>
          <p:cNvSpPr txBox="1"/>
          <p:nvPr/>
        </p:nvSpPr>
        <p:spPr>
          <a:xfrm>
            <a:off x="731520" y="3419856"/>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730752"/>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730752"/>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813048"/>
            <a:ext cx="2148840" cy="164592"/>
          </a:xfrm>
          <a:prstGeom prst="rect">
            <a:avLst/>
          </a:prstGeom>
          <a:noFill/>
        </p:spPr>
        <p:txBody>
          <a:bodyPr wrap="square" lIns="73152" rIns="73152">
            <a:noAutofit/>
          </a:bodyPr>
          <a:lstStyle/>
          <a:p>
            <a:r>
              <a:rPr sz="960" b="1">
                <a:solidFill>
                  <a:srgbClr val="18211F"/>
                </a:solidFill>
                <a:latin typeface="Aptos"/>
              </a:rPr>
              <a:t>docs/adr/</a:t>
            </a:r>
          </a:p>
        </p:txBody>
      </p:sp>
      <p:sp>
        <p:nvSpPr>
          <p:cNvPr id="20" name="TextBox 19"/>
          <p:cNvSpPr txBox="1"/>
          <p:nvPr/>
        </p:nvSpPr>
        <p:spPr>
          <a:xfrm>
            <a:off x="3246120" y="3803904"/>
            <a:ext cx="7726679" cy="182880"/>
          </a:xfrm>
          <a:prstGeom prst="rect">
            <a:avLst/>
          </a:prstGeom>
          <a:noFill/>
        </p:spPr>
        <p:txBody>
          <a:bodyPr wrap="square" lIns="73152" rIns="73152">
            <a:noAutofit/>
          </a:bodyPr>
          <a:lstStyle/>
          <a:p>
            <a:r>
              <a:rPr sz="869" b="0">
                <a:solidFill>
                  <a:srgbClr val="52615C"/>
                </a:solidFill>
                <a:latin typeface="Aptos"/>
              </a:rPr>
              <a:t>Captures architectural decisions and the reasoning behind them.</a:t>
            </a:r>
          </a:p>
        </p:txBody>
      </p:sp>
      <p:sp>
        <p:nvSpPr>
          <p:cNvPr id="21" name="Rectangle 20"/>
          <p:cNvSpPr/>
          <p:nvPr/>
        </p:nvSpPr>
        <p:spPr>
          <a:xfrm>
            <a:off x="685800" y="4169664"/>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85800" y="4169664"/>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4251960"/>
            <a:ext cx="2148840" cy="164592"/>
          </a:xfrm>
          <a:prstGeom prst="rect">
            <a:avLst/>
          </a:prstGeom>
          <a:noFill/>
        </p:spPr>
        <p:txBody>
          <a:bodyPr wrap="square" lIns="73152" rIns="73152">
            <a:noAutofit/>
          </a:bodyPr>
          <a:lstStyle/>
          <a:p>
            <a:r>
              <a:rPr sz="960" b="1">
                <a:solidFill>
                  <a:srgbClr val="18211F"/>
                </a:solidFill>
                <a:latin typeface="Aptos"/>
              </a:rPr>
              <a:t>docs/runbook.md</a:t>
            </a:r>
          </a:p>
        </p:txBody>
      </p:sp>
      <p:sp>
        <p:nvSpPr>
          <p:cNvPr id="24" name="TextBox 23"/>
          <p:cNvSpPr txBox="1"/>
          <p:nvPr/>
        </p:nvSpPr>
        <p:spPr>
          <a:xfrm>
            <a:off x="3246120" y="4242816"/>
            <a:ext cx="7726679" cy="182880"/>
          </a:xfrm>
          <a:prstGeom prst="rect">
            <a:avLst/>
          </a:prstGeom>
          <a:noFill/>
        </p:spPr>
        <p:txBody>
          <a:bodyPr wrap="square" lIns="73152" rIns="73152">
            <a:noAutofit/>
          </a:bodyPr>
          <a:lstStyle/>
          <a:p>
            <a:r>
              <a:rPr sz="869" b="0">
                <a:solidFill>
                  <a:srgbClr val="52615C"/>
                </a:solidFill>
                <a:latin typeface="Aptos"/>
              </a:rPr>
              <a:t>Gives repeatable demo and recovery steps.</a:t>
            </a:r>
          </a:p>
        </p:txBody>
      </p:sp>
      <p:sp>
        <p:nvSpPr>
          <p:cNvPr id="25" name="Rectangle 24"/>
          <p:cNvSpPr/>
          <p:nvPr/>
        </p:nvSpPr>
        <p:spPr>
          <a:xfrm>
            <a:off x="685800" y="4608576"/>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85800" y="4608576"/>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4690872"/>
            <a:ext cx="2148840" cy="164592"/>
          </a:xfrm>
          <a:prstGeom prst="rect">
            <a:avLst/>
          </a:prstGeom>
          <a:noFill/>
        </p:spPr>
        <p:txBody>
          <a:bodyPr wrap="square" lIns="73152" rIns="73152">
            <a:noAutofit/>
          </a:bodyPr>
          <a:lstStyle/>
          <a:p>
            <a:r>
              <a:rPr sz="960" b="1">
                <a:solidFill>
                  <a:srgbClr val="18211F"/>
                </a:solidFill>
                <a:latin typeface="Aptos"/>
              </a:rPr>
              <a:t>prompt-recipes.md</a:t>
            </a:r>
          </a:p>
        </p:txBody>
      </p:sp>
      <p:sp>
        <p:nvSpPr>
          <p:cNvPr id="28" name="TextBox 27"/>
          <p:cNvSpPr txBox="1"/>
          <p:nvPr/>
        </p:nvSpPr>
        <p:spPr>
          <a:xfrm>
            <a:off x="3246120" y="4681728"/>
            <a:ext cx="7726679" cy="182880"/>
          </a:xfrm>
          <a:prstGeom prst="rect">
            <a:avLst/>
          </a:prstGeom>
          <a:noFill/>
        </p:spPr>
        <p:txBody>
          <a:bodyPr wrap="square" lIns="73152" rIns="73152">
            <a:noAutofit/>
          </a:bodyPr>
          <a:lstStyle/>
          <a:p>
            <a:r>
              <a:rPr sz="869" b="0">
                <a:solidFill>
                  <a:srgbClr val="52615C"/>
                </a:solidFill>
                <a:latin typeface="Aptos"/>
              </a:rPr>
              <a:t>Stores reusable task prompts and teaching prompts.</a:t>
            </a:r>
          </a:p>
        </p:txBody>
      </p:sp>
      <p:sp>
        <p:nvSpPr>
          <p:cNvPr id="29" name="Rectangle 28"/>
          <p:cNvSpPr/>
          <p:nvPr/>
        </p:nvSpPr>
        <p:spPr>
          <a:xfrm>
            <a:off x="685800" y="5047488"/>
            <a:ext cx="10835640" cy="34747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85800" y="5047488"/>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5129783"/>
            <a:ext cx="2148840" cy="164592"/>
          </a:xfrm>
          <a:prstGeom prst="rect">
            <a:avLst/>
          </a:prstGeom>
          <a:noFill/>
        </p:spPr>
        <p:txBody>
          <a:bodyPr wrap="square" lIns="73152" rIns="73152">
            <a:noAutofit/>
          </a:bodyPr>
          <a:lstStyle/>
          <a:p>
            <a:r>
              <a:rPr sz="960" b="1">
                <a:solidFill>
                  <a:srgbClr val="18211F"/>
                </a:solidFill>
                <a:latin typeface="Aptos"/>
              </a:rPr>
              <a:t>tasks/*.md</a:t>
            </a:r>
          </a:p>
        </p:txBody>
      </p:sp>
      <p:sp>
        <p:nvSpPr>
          <p:cNvPr id="32" name="TextBox 31"/>
          <p:cNvSpPr txBox="1"/>
          <p:nvPr/>
        </p:nvSpPr>
        <p:spPr>
          <a:xfrm>
            <a:off x="3246120" y="5120640"/>
            <a:ext cx="7726679" cy="182880"/>
          </a:xfrm>
          <a:prstGeom prst="rect">
            <a:avLst/>
          </a:prstGeom>
          <a:noFill/>
        </p:spPr>
        <p:txBody>
          <a:bodyPr wrap="square" lIns="73152" rIns="73152">
            <a:noAutofit/>
          </a:bodyPr>
          <a:lstStyle/>
          <a:p>
            <a:r>
              <a:rPr sz="869" b="0">
                <a:solidFill>
                  <a:srgbClr val="52615C"/>
                </a:solidFill>
                <a:latin typeface="Aptos"/>
              </a:rPr>
              <a:t>Preserves well-shaped agent work briefs as future examples.</a:t>
            </a:r>
          </a:p>
        </p:txBody>
      </p:sp>
      <p:sp>
        <p:nvSpPr>
          <p:cNvPr id="33" name="Rectangle 32"/>
          <p:cNvSpPr/>
          <p:nvPr/>
        </p:nvSpPr>
        <p:spPr>
          <a:xfrm>
            <a:off x="685800" y="5486400"/>
            <a:ext cx="10835640" cy="347472"/>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85800" y="5486400"/>
            <a:ext cx="54864" cy="347472"/>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8680" y="5568696"/>
            <a:ext cx="2148840" cy="164592"/>
          </a:xfrm>
          <a:prstGeom prst="rect">
            <a:avLst/>
          </a:prstGeom>
          <a:noFill/>
        </p:spPr>
        <p:txBody>
          <a:bodyPr wrap="square" lIns="73152" rIns="73152">
            <a:noAutofit/>
          </a:bodyPr>
          <a:lstStyle/>
          <a:p>
            <a:r>
              <a:rPr sz="960" b="1">
                <a:solidFill>
                  <a:srgbClr val="18211F"/>
                </a:solidFill>
                <a:latin typeface="Aptos"/>
              </a:rPr>
              <a:t>testing-strategy.md</a:t>
            </a:r>
          </a:p>
        </p:txBody>
      </p:sp>
      <p:sp>
        <p:nvSpPr>
          <p:cNvPr id="36" name="TextBox 35"/>
          <p:cNvSpPr txBox="1"/>
          <p:nvPr/>
        </p:nvSpPr>
        <p:spPr>
          <a:xfrm>
            <a:off x="3246120" y="5559552"/>
            <a:ext cx="7726679" cy="182880"/>
          </a:xfrm>
          <a:prstGeom prst="rect">
            <a:avLst/>
          </a:prstGeom>
          <a:noFill/>
        </p:spPr>
        <p:txBody>
          <a:bodyPr wrap="square" lIns="73152" rIns="73152">
            <a:noAutofit/>
          </a:bodyPr>
          <a:lstStyle/>
          <a:p>
            <a:r>
              <a:rPr sz="869" b="0">
                <a:solidFill>
                  <a:srgbClr val="52615C"/>
                </a:solidFill>
                <a:latin typeface="Aptos"/>
              </a:rPr>
              <a:t>Explains which checks exist and what each one is meant to prove.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DOC DESIGN</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Overlap is intentional when each file has a different job.</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same rule can appear in several places, but each document serves a different moment in the workflow.</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10</a:t>
            </a:r>
          </a:p>
        </p:txBody>
      </p:sp>
      <p:sp>
        <p:nvSpPr>
          <p:cNvPr id="8" name="Rectangle 7"/>
          <p:cNvSpPr/>
          <p:nvPr/>
        </p:nvSpPr>
        <p:spPr>
          <a:xfrm>
            <a:off x="685800" y="1874519"/>
            <a:ext cx="5074920" cy="1115568"/>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1874519"/>
            <a:ext cx="54864" cy="111556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0392" y="1993391"/>
            <a:ext cx="4782312" cy="256032"/>
          </a:xfrm>
          <a:prstGeom prst="rect">
            <a:avLst/>
          </a:prstGeom>
          <a:noFill/>
        </p:spPr>
        <p:txBody>
          <a:bodyPr wrap="square" lIns="73152" rIns="73152">
            <a:noAutofit/>
          </a:bodyPr>
          <a:lstStyle/>
          <a:p>
            <a:r>
              <a:rPr sz="1300" b="1">
                <a:solidFill>
                  <a:srgbClr val="18211F"/>
                </a:solidFill>
                <a:latin typeface="Aptos"/>
              </a:rPr>
              <a:t>The teaching answer</a:t>
            </a:r>
          </a:p>
        </p:txBody>
      </p:sp>
      <p:sp>
        <p:nvSpPr>
          <p:cNvPr id="11" name="TextBox 10"/>
          <p:cNvSpPr txBox="1"/>
          <p:nvPr/>
        </p:nvSpPr>
        <p:spPr>
          <a:xfrm>
            <a:off x="850392" y="2313432"/>
            <a:ext cx="4782312" cy="612647"/>
          </a:xfrm>
          <a:prstGeom prst="rect">
            <a:avLst/>
          </a:prstGeom>
          <a:noFill/>
        </p:spPr>
        <p:txBody>
          <a:bodyPr wrap="square" lIns="73152" rIns="73152">
            <a:noAutofit/>
          </a:bodyPr>
          <a:lstStyle/>
          <a:p>
            <a:r>
              <a:rPr sz="1050" b="0">
                <a:solidFill>
                  <a:srgbClr val="52615C"/>
                </a:solidFill>
                <a:latin typeface="Aptos"/>
              </a:rPr>
              <a:t>This is layered documentation, not copy-paste duplication. Important ideas repeat because agents and humans need them at different moments.</a:t>
            </a:r>
          </a:p>
        </p:txBody>
      </p:sp>
      <p:sp>
        <p:nvSpPr>
          <p:cNvPr id="12" name="Rectangle 11"/>
          <p:cNvSpPr/>
          <p:nvPr/>
        </p:nvSpPr>
        <p:spPr>
          <a:xfrm>
            <a:off x="6172200" y="1874519"/>
            <a:ext cx="5074920" cy="1115568"/>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72200" y="1874519"/>
            <a:ext cx="54864" cy="1115568"/>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36792" y="1993391"/>
            <a:ext cx="4782312" cy="256032"/>
          </a:xfrm>
          <a:prstGeom prst="rect">
            <a:avLst/>
          </a:prstGeom>
          <a:noFill/>
        </p:spPr>
        <p:txBody>
          <a:bodyPr wrap="square" lIns="73152" rIns="73152">
            <a:noAutofit/>
          </a:bodyPr>
          <a:lstStyle/>
          <a:p>
            <a:r>
              <a:rPr sz="1300" b="1">
                <a:solidFill>
                  <a:srgbClr val="18211F"/>
                </a:solidFill>
                <a:latin typeface="Aptos"/>
              </a:rPr>
              <a:t>How to spot bad duplication</a:t>
            </a:r>
          </a:p>
        </p:txBody>
      </p:sp>
      <p:sp>
        <p:nvSpPr>
          <p:cNvPr id="15" name="TextBox 14"/>
          <p:cNvSpPr txBox="1"/>
          <p:nvPr/>
        </p:nvSpPr>
        <p:spPr>
          <a:xfrm>
            <a:off x="6336792" y="2313432"/>
            <a:ext cx="4782312" cy="612647"/>
          </a:xfrm>
          <a:prstGeom prst="rect">
            <a:avLst/>
          </a:prstGeom>
          <a:noFill/>
        </p:spPr>
        <p:txBody>
          <a:bodyPr wrap="square" lIns="73152" rIns="73152">
            <a:noAutofit/>
          </a:bodyPr>
          <a:lstStyle/>
          <a:p>
            <a:r>
              <a:rPr sz="1050" b="0">
                <a:solidFill>
                  <a:srgbClr val="52615C"/>
                </a:solidFill>
                <a:latin typeface="Aptos"/>
              </a:rPr>
              <a:t>Bad duplication repeats the same detail with no new purpose. Good overlap repeats a rule while changing the job: orient, decide, operate, verify, or assign work.</a:t>
            </a:r>
          </a:p>
        </p:txBody>
      </p:sp>
      <p:sp>
        <p:nvSpPr>
          <p:cNvPr id="16" name="TextBox 15"/>
          <p:cNvSpPr txBox="1"/>
          <p:nvPr/>
        </p:nvSpPr>
        <p:spPr>
          <a:xfrm>
            <a:off x="731520" y="3310128"/>
            <a:ext cx="3017520" cy="228600"/>
          </a:xfrm>
          <a:prstGeom prst="rect">
            <a:avLst/>
          </a:prstGeom>
          <a:noFill/>
        </p:spPr>
        <p:txBody>
          <a:bodyPr wrap="square" lIns="73152" rIns="73152">
            <a:noAutofit/>
          </a:bodyPr>
          <a:lstStyle/>
          <a:p>
            <a:r>
              <a:rPr sz="1320" b="1">
                <a:solidFill>
                  <a:srgbClr val="163B34"/>
                </a:solidFill>
                <a:latin typeface="Aptos"/>
              </a:rPr>
              <a:t>Example in this repo</a:t>
            </a:r>
          </a:p>
        </p:txBody>
      </p:sp>
      <p:sp>
        <p:nvSpPr>
          <p:cNvPr id="17" name="Rectangle 16"/>
          <p:cNvSpPr/>
          <p:nvPr/>
        </p:nvSpPr>
        <p:spPr>
          <a:xfrm>
            <a:off x="685800" y="3611880"/>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 y="3611880"/>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680460"/>
            <a:ext cx="1874519" cy="146304"/>
          </a:xfrm>
          <a:prstGeom prst="rect">
            <a:avLst/>
          </a:prstGeom>
          <a:noFill/>
        </p:spPr>
        <p:txBody>
          <a:bodyPr wrap="square" lIns="73152" rIns="73152">
            <a:noAutofit/>
          </a:bodyPr>
          <a:lstStyle/>
          <a:p>
            <a:r>
              <a:rPr sz="860" b="1">
                <a:solidFill>
                  <a:srgbClr val="18211F"/>
                </a:solidFill>
                <a:latin typeface="Aptos"/>
              </a:rPr>
              <a:t>README.md</a:t>
            </a:r>
          </a:p>
        </p:txBody>
      </p:sp>
      <p:sp>
        <p:nvSpPr>
          <p:cNvPr id="20" name="TextBox 19"/>
          <p:cNvSpPr txBox="1"/>
          <p:nvPr/>
        </p:nvSpPr>
        <p:spPr>
          <a:xfrm>
            <a:off x="2971800" y="3680460"/>
            <a:ext cx="2057400" cy="146304"/>
          </a:xfrm>
          <a:prstGeom prst="rect">
            <a:avLst/>
          </a:prstGeom>
          <a:noFill/>
        </p:spPr>
        <p:txBody>
          <a:bodyPr wrap="square" lIns="73152" rIns="73152">
            <a:noAutofit/>
          </a:bodyPr>
          <a:lstStyle/>
          <a:p>
            <a:r>
              <a:rPr sz="860" b="1">
                <a:solidFill>
                  <a:srgbClr val="18211F"/>
                </a:solidFill>
                <a:latin typeface="Aptos"/>
              </a:rPr>
              <a:t>Front door</a:t>
            </a:r>
          </a:p>
        </p:txBody>
      </p:sp>
      <p:sp>
        <p:nvSpPr>
          <p:cNvPr id="21" name="TextBox 20"/>
          <p:cNvSpPr txBox="1"/>
          <p:nvPr/>
        </p:nvSpPr>
        <p:spPr>
          <a:xfrm>
            <a:off x="5303520" y="3675888"/>
            <a:ext cx="5486400" cy="164592"/>
          </a:xfrm>
          <a:prstGeom prst="rect">
            <a:avLst/>
          </a:prstGeom>
          <a:noFill/>
        </p:spPr>
        <p:txBody>
          <a:bodyPr wrap="square" lIns="73152" rIns="73152">
            <a:noAutofit/>
          </a:bodyPr>
          <a:lstStyle/>
          <a:p>
            <a:r>
              <a:rPr sz="780" b="0">
                <a:solidFill>
                  <a:srgbClr val="52615C"/>
                </a:solidFill>
                <a:latin typeface="Aptos"/>
              </a:rPr>
              <a:t>What this repo is, how to run it, and how to teach from it.</a:t>
            </a:r>
          </a:p>
        </p:txBody>
      </p:sp>
      <p:sp>
        <p:nvSpPr>
          <p:cNvPr id="22" name="Rectangle 21"/>
          <p:cNvSpPr/>
          <p:nvPr/>
        </p:nvSpPr>
        <p:spPr>
          <a:xfrm>
            <a:off x="685800" y="3995928"/>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85800" y="3995928"/>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4064508"/>
            <a:ext cx="1874519" cy="146304"/>
          </a:xfrm>
          <a:prstGeom prst="rect">
            <a:avLst/>
          </a:prstGeom>
          <a:noFill/>
        </p:spPr>
        <p:txBody>
          <a:bodyPr wrap="square" lIns="73152" rIns="73152">
            <a:noAutofit/>
          </a:bodyPr>
          <a:lstStyle/>
          <a:p>
            <a:r>
              <a:rPr sz="860" b="1">
                <a:solidFill>
                  <a:srgbClr val="18211F"/>
                </a:solidFill>
                <a:latin typeface="Aptos"/>
              </a:rPr>
              <a:t>AGENTS.md</a:t>
            </a:r>
          </a:p>
        </p:txBody>
      </p:sp>
      <p:sp>
        <p:nvSpPr>
          <p:cNvPr id="25" name="TextBox 24"/>
          <p:cNvSpPr txBox="1"/>
          <p:nvPr/>
        </p:nvSpPr>
        <p:spPr>
          <a:xfrm>
            <a:off x="2971800" y="4064508"/>
            <a:ext cx="2057400" cy="146304"/>
          </a:xfrm>
          <a:prstGeom prst="rect">
            <a:avLst/>
          </a:prstGeom>
          <a:noFill/>
        </p:spPr>
        <p:txBody>
          <a:bodyPr wrap="square" lIns="73152" rIns="73152">
            <a:noAutofit/>
          </a:bodyPr>
          <a:lstStyle/>
          <a:p>
            <a:r>
              <a:rPr sz="860" b="1">
                <a:solidFill>
                  <a:srgbClr val="18211F"/>
                </a:solidFill>
                <a:latin typeface="Aptos"/>
              </a:rPr>
              <a:t>Agent operating manual</a:t>
            </a:r>
          </a:p>
        </p:txBody>
      </p:sp>
      <p:sp>
        <p:nvSpPr>
          <p:cNvPr id="26" name="TextBox 25"/>
          <p:cNvSpPr txBox="1"/>
          <p:nvPr/>
        </p:nvSpPr>
        <p:spPr>
          <a:xfrm>
            <a:off x="5303520" y="4059936"/>
            <a:ext cx="5486400" cy="164592"/>
          </a:xfrm>
          <a:prstGeom prst="rect">
            <a:avLst/>
          </a:prstGeom>
          <a:noFill/>
        </p:spPr>
        <p:txBody>
          <a:bodyPr wrap="square" lIns="73152" rIns="73152">
            <a:noAutofit/>
          </a:bodyPr>
          <a:lstStyle/>
          <a:p>
            <a:r>
              <a:rPr sz="780" b="0">
                <a:solidFill>
                  <a:srgbClr val="52615C"/>
                </a:solidFill>
                <a:latin typeface="Aptos"/>
              </a:rPr>
              <a:t>What the agent must read, how it should work, and what it must run.</a:t>
            </a:r>
          </a:p>
        </p:txBody>
      </p:sp>
      <p:sp>
        <p:nvSpPr>
          <p:cNvPr id="27" name="Rectangle 26"/>
          <p:cNvSpPr/>
          <p:nvPr/>
        </p:nvSpPr>
        <p:spPr>
          <a:xfrm>
            <a:off x="685800" y="4379976"/>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85800" y="4379976"/>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4448556"/>
            <a:ext cx="1874519" cy="146304"/>
          </a:xfrm>
          <a:prstGeom prst="rect">
            <a:avLst/>
          </a:prstGeom>
          <a:noFill/>
        </p:spPr>
        <p:txBody>
          <a:bodyPr wrap="square" lIns="73152" rIns="73152">
            <a:noAutofit/>
          </a:bodyPr>
          <a:lstStyle/>
          <a:p>
            <a:r>
              <a:rPr sz="860" b="1">
                <a:solidFill>
                  <a:srgbClr val="18211F"/>
                </a:solidFill>
                <a:latin typeface="Aptos"/>
              </a:rPr>
              <a:t>architecture.md</a:t>
            </a:r>
          </a:p>
        </p:txBody>
      </p:sp>
      <p:sp>
        <p:nvSpPr>
          <p:cNvPr id="30" name="TextBox 29"/>
          <p:cNvSpPr txBox="1"/>
          <p:nvPr/>
        </p:nvSpPr>
        <p:spPr>
          <a:xfrm>
            <a:off x="2971800" y="4448556"/>
            <a:ext cx="2057400" cy="146304"/>
          </a:xfrm>
          <a:prstGeom prst="rect">
            <a:avLst/>
          </a:prstGeom>
          <a:noFill/>
        </p:spPr>
        <p:txBody>
          <a:bodyPr wrap="square" lIns="73152" rIns="73152">
            <a:noAutofit/>
          </a:bodyPr>
          <a:lstStyle/>
          <a:p>
            <a:r>
              <a:rPr sz="860" b="1">
                <a:solidFill>
                  <a:srgbClr val="18211F"/>
                </a:solidFill>
                <a:latin typeface="Aptos"/>
              </a:rPr>
              <a:t>Current system map</a:t>
            </a:r>
          </a:p>
        </p:txBody>
      </p:sp>
      <p:sp>
        <p:nvSpPr>
          <p:cNvPr id="31" name="TextBox 30"/>
          <p:cNvSpPr txBox="1"/>
          <p:nvPr/>
        </p:nvSpPr>
        <p:spPr>
          <a:xfrm>
            <a:off x="5303520" y="4443984"/>
            <a:ext cx="5486400" cy="164592"/>
          </a:xfrm>
          <a:prstGeom prst="rect">
            <a:avLst/>
          </a:prstGeom>
          <a:noFill/>
        </p:spPr>
        <p:txBody>
          <a:bodyPr wrap="square" lIns="73152" rIns="73152">
            <a:noAutofit/>
          </a:bodyPr>
          <a:lstStyle/>
          <a:p>
            <a:r>
              <a:rPr sz="780" b="0">
                <a:solidFill>
                  <a:srgbClr val="52615C"/>
                </a:solidFill>
                <a:latin typeface="Aptos"/>
              </a:rPr>
              <a:t>What the modules are, where behavior lives, and which rules exist now.</a:t>
            </a:r>
          </a:p>
        </p:txBody>
      </p:sp>
      <p:sp>
        <p:nvSpPr>
          <p:cNvPr id="32" name="Rectangle 31"/>
          <p:cNvSpPr/>
          <p:nvPr/>
        </p:nvSpPr>
        <p:spPr>
          <a:xfrm>
            <a:off x="685800" y="4764024"/>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85800" y="4764024"/>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4832604"/>
            <a:ext cx="1874519" cy="146304"/>
          </a:xfrm>
          <a:prstGeom prst="rect">
            <a:avLst/>
          </a:prstGeom>
          <a:noFill/>
        </p:spPr>
        <p:txBody>
          <a:bodyPr wrap="square" lIns="73152" rIns="73152">
            <a:noAutofit/>
          </a:bodyPr>
          <a:lstStyle/>
          <a:p>
            <a:r>
              <a:rPr sz="860" b="1">
                <a:solidFill>
                  <a:srgbClr val="18211F"/>
                </a:solidFill>
                <a:latin typeface="Aptos"/>
              </a:rPr>
              <a:t>docs/adr/</a:t>
            </a:r>
          </a:p>
        </p:txBody>
      </p:sp>
      <p:sp>
        <p:nvSpPr>
          <p:cNvPr id="35" name="TextBox 34"/>
          <p:cNvSpPr txBox="1"/>
          <p:nvPr/>
        </p:nvSpPr>
        <p:spPr>
          <a:xfrm>
            <a:off x="2971800" y="4832604"/>
            <a:ext cx="2057400" cy="146304"/>
          </a:xfrm>
          <a:prstGeom prst="rect">
            <a:avLst/>
          </a:prstGeom>
          <a:noFill/>
        </p:spPr>
        <p:txBody>
          <a:bodyPr wrap="square" lIns="73152" rIns="73152">
            <a:noAutofit/>
          </a:bodyPr>
          <a:lstStyle/>
          <a:p>
            <a:r>
              <a:rPr sz="860" b="1">
                <a:solidFill>
                  <a:srgbClr val="18211F"/>
                </a:solidFill>
                <a:latin typeface="Aptos"/>
              </a:rPr>
              <a:t>Decision record</a:t>
            </a:r>
          </a:p>
        </p:txBody>
      </p:sp>
      <p:sp>
        <p:nvSpPr>
          <p:cNvPr id="36" name="TextBox 35"/>
          <p:cNvSpPr txBox="1"/>
          <p:nvPr/>
        </p:nvSpPr>
        <p:spPr>
          <a:xfrm>
            <a:off x="5303520" y="4828032"/>
            <a:ext cx="5486400" cy="164592"/>
          </a:xfrm>
          <a:prstGeom prst="rect">
            <a:avLst/>
          </a:prstGeom>
          <a:noFill/>
        </p:spPr>
        <p:txBody>
          <a:bodyPr wrap="square" lIns="73152" rIns="73152">
            <a:noAutofit/>
          </a:bodyPr>
          <a:lstStyle/>
          <a:p>
            <a:r>
              <a:rPr sz="780" b="0">
                <a:solidFill>
                  <a:srgbClr val="52615C"/>
                </a:solidFill>
                <a:latin typeface="Aptos"/>
              </a:rPr>
              <a:t>Why a decision was made and what tradeoff the team accepted.</a:t>
            </a:r>
          </a:p>
        </p:txBody>
      </p:sp>
      <p:sp>
        <p:nvSpPr>
          <p:cNvPr id="37" name="Rectangle 36"/>
          <p:cNvSpPr/>
          <p:nvPr/>
        </p:nvSpPr>
        <p:spPr>
          <a:xfrm>
            <a:off x="685800" y="5148072"/>
            <a:ext cx="10835640" cy="310896"/>
          </a:xfrm>
          <a:prstGeom prst="rect">
            <a:avLst/>
          </a:prstGeom>
          <a:solidFill>
            <a:srgbClr val="F1EBDD"/>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85800" y="5148072"/>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68680" y="5216652"/>
            <a:ext cx="1874519" cy="146304"/>
          </a:xfrm>
          <a:prstGeom prst="rect">
            <a:avLst/>
          </a:prstGeom>
          <a:noFill/>
        </p:spPr>
        <p:txBody>
          <a:bodyPr wrap="square" lIns="73152" rIns="73152">
            <a:noAutofit/>
          </a:bodyPr>
          <a:lstStyle/>
          <a:p>
            <a:r>
              <a:rPr sz="860" b="1">
                <a:solidFill>
                  <a:srgbClr val="18211F"/>
                </a:solidFill>
                <a:latin typeface="Aptos"/>
              </a:rPr>
              <a:t>runbook.md</a:t>
            </a:r>
          </a:p>
        </p:txBody>
      </p:sp>
      <p:sp>
        <p:nvSpPr>
          <p:cNvPr id="40" name="TextBox 39"/>
          <p:cNvSpPr txBox="1"/>
          <p:nvPr/>
        </p:nvSpPr>
        <p:spPr>
          <a:xfrm>
            <a:off x="2971800" y="5216652"/>
            <a:ext cx="2057400" cy="146304"/>
          </a:xfrm>
          <a:prstGeom prst="rect">
            <a:avLst/>
          </a:prstGeom>
          <a:noFill/>
        </p:spPr>
        <p:txBody>
          <a:bodyPr wrap="square" lIns="73152" rIns="73152">
            <a:noAutofit/>
          </a:bodyPr>
          <a:lstStyle/>
          <a:p>
            <a:r>
              <a:rPr sz="860" b="1">
                <a:solidFill>
                  <a:srgbClr val="18211F"/>
                </a:solidFill>
                <a:latin typeface="Aptos"/>
              </a:rPr>
              <a:t>Operational procedure</a:t>
            </a:r>
          </a:p>
        </p:txBody>
      </p:sp>
      <p:sp>
        <p:nvSpPr>
          <p:cNvPr id="41" name="TextBox 40"/>
          <p:cNvSpPr txBox="1"/>
          <p:nvPr/>
        </p:nvSpPr>
        <p:spPr>
          <a:xfrm>
            <a:off x="5303520" y="5212080"/>
            <a:ext cx="5486400" cy="164592"/>
          </a:xfrm>
          <a:prstGeom prst="rect">
            <a:avLst/>
          </a:prstGeom>
          <a:noFill/>
        </p:spPr>
        <p:txBody>
          <a:bodyPr wrap="square" lIns="73152" rIns="73152">
            <a:noAutofit/>
          </a:bodyPr>
          <a:lstStyle/>
          <a:p>
            <a:r>
              <a:rPr sz="780" b="0">
                <a:solidFill>
                  <a:srgbClr val="52615C"/>
                </a:solidFill>
                <a:latin typeface="Aptos"/>
              </a:rPr>
              <a:t>Commands, expected output, common failures, and recovery steps.</a:t>
            </a:r>
          </a:p>
        </p:txBody>
      </p:sp>
      <p:sp>
        <p:nvSpPr>
          <p:cNvPr id="42" name="Rectangle 41"/>
          <p:cNvSpPr/>
          <p:nvPr/>
        </p:nvSpPr>
        <p:spPr>
          <a:xfrm>
            <a:off x="685800" y="5532120"/>
            <a:ext cx="10835640" cy="310896"/>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85800" y="5532120"/>
            <a:ext cx="54864" cy="310896"/>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5600700"/>
            <a:ext cx="1874519" cy="146304"/>
          </a:xfrm>
          <a:prstGeom prst="rect">
            <a:avLst/>
          </a:prstGeom>
          <a:noFill/>
        </p:spPr>
        <p:txBody>
          <a:bodyPr wrap="square" lIns="73152" rIns="73152">
            <a:noAutofit/>
          </a:bodyPr>
          <a:lstStyle/>
          <a:p>
            <a:r>
              <a:rPr sz="860" b="1">
                <a:solidFill>
                  <a:srgbClr val="18211F"/>
                </a:solidFill>
                <a:latin typeface="Aptos"/>
              </a:rPr>
              <a:t>tasks/*.md</a:t>
            </a:r>
          </a:p>
        </p:txBody>
      </p:sp>
      <p:sp>
        <p:nvSpPr>
          <p:cNvPr id="45" name="TextBox 44"/>
          <p:cNvSpPr txBox="1"/>
          <p:nvPr/>
        </p:nvSpPr>
        <p:spPr>
          <a:xfrm>
            <a:off x="2971800" y="5600700"/>
            <a:ext cx="2057400" cy="146304"/>
          </a:xfrm>
          <a:prstGeom prst="rect">
            <a:avLst/>
          </a:prstGeom>
          <a:noFill/>
        </p:spPr>
        <p:txBody>
          <a:bodyPr wrap="square" lIns="73152" rIns="73152">
            <a:noAutofit/>
          </a:bodyPr>
          <a:lstStyle/>
          <a:p>
            <a:r>
              <a:rPr sz="860" b="1">
                <a:solidFill>
                  <a:srgbClr val="18211F"/>
                </a:solidFill>
                <a:latin typeface="Aptos"/>
              </a:rPr>
              <a:t>Work brief</a:t>
            </a:r>
          </a:p>
        </p:txBody>
      </p:sp>
      <p:sp>
        <p:nvSpPr>
          <p:cNvPr id="46" name="TextBox 45"/>
          <p:cNvSpPr txBox="1"/>
          <p:nvPr/>
        </p:nvSpPr>
        <p:spPr>
          <a:xfrm>
            <a:off x="5303520" y="5596128"/>
            <a:ext cx="5486400" cy="164592"/>
          </a:xfrm>
          <a:prstGeom prst="rect">
            <a:avLst/>
          </a:prstGeom>
          <a:noFill/>
        </p:spPr>
        <p:txBody>
          <a:bodyPr wrap="square" lIns="73152" rIns="73152">
            <a:noAutofit/>
          </a:bodyPr>
          <a:lstStyle/>
          <a:p>
            <a:r>
              <a:rPr sz="780" b="0">
                <a:solidFill>
                  <a:srgbClr val="52615C"/>
                </a:solidFill>
                <a:latin typeface="Aptos"/>
              </a:rPr>
              <a:t>Goal, desired behavior, acceptance criteria, and task constraints.</a:t>
            </a:r>
          </a:p>
        </p:txBody>
      </p:sp>
      <p:sp>
        <p:nvSpPr>
          <p:cNvPr id="47" name="TextBox 46"/>
          <p:cNvSpPr txBox="1"/>
          <p:nvPr/>
        </p:nvSpPr>
        <p:spPr>
          <a:xfrm>
            <a:off x="914400" y="6053328"/>
            <a:ext cx="10332720" cy="237744"/>
          </a:xfrm>
          <a:prstGeom prst="rect">
            <a:avLst/>
          </a:prstGeom>
          <a:noFill/>
        </p:spPr>
        <p:txBody>
          <a:bodyPr wrap="square" lIns="73152" rIns="73152">
            <a:noAutofit/>
          </a:bodyPr>
          <a:lstStyle/>
          <a:p>
            <a:pPr algn="ctr"/>
            <a:r>
              <a:rPr sz="1120" b="1">
                <a:solidFill>
                  <a:srgbClr val="163B34"/>
                </a:solidFill>
                <a:latin typeface="Aptos"/>
              </a:rPr>
              <a:t>Example: architecture.md says business rules live in TicketRouter; ADR 0002 explains why that boundary exists.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DEMO REPO</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example repo is small so the harness is easy to inspect.</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The app routes support tickets. The teaching object is the repo environment around it.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11</a:t>
            </a:r>
          </a:p>
        </p:txBody>
      </p:sp>
      <p:sp>
        <p:nvSpPr>
          <p:cNvPr id="8" name="Rectangle 7"/>
          <p:cNvSpPr/>
          <p:nvPr/>
        </p:nvSpPr>
        <p:spPr>
          <a:xfrm>
            <a:off x="731520" y="2011680"/>
            <a:ext cx="3108960" cy="9144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31520" y="2011680"/>
            <a:ext cx="54864" cy="91440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30552"/>
            <a:ext cx="2816352" cy="256032"/>
          </a:xfrm>
          <a:prstGeom prst="rect">
            <a:avLst/>
          </a:prstGeom>
          <a:noFill/>
        </p:spPr>
        <p:txBody>
          <a:bodyPr wrap="square" lIns="73152" rIns="73152">
            <a:noAutofit/>
          </a:bodyPr>
          <a:lstStyle/>
          <a:p>
            <a:r>
              <a:rPr sz="1300" b="1">
                <a:solidFill>
                  <a:srgbClr val="18211F"/>
                </a:solidFill>
                <a:latin typeface="Aptos"/>
              </a:rPr>
              <a:t>App code</a:t>
            </a:r>
          </a:p>
        </p:txBody>
      </p:sp>
      <p:sp>
        <p:nvSpPr>
          <p:cNvPr id="11" name="TextBox 10"/>
          <p:cNvSpPr txBox="1"/>
          <p:nvPr/>
        </p:nvSpPr>
        <p:spPr>
          <a:xfrm>
            <a:off x="896112" y="2450592"/>
            <a:ext cx="2816352" cy="411479"/>
          </a:xfrm>
          <a:prstGeom prst="rect">
            <a:avLst/>
          </a:prstGeom>
          <a:noFill/>
        </p:spPr>
        <p:txBody>
          <a:bodyPr wrap="square" lIns="73152" rIns="73152">
            <a:noAutofit/>
          </a:bodyPr>
          <a:lstStyle/>
          <a:p>
            <a:r>
              <a:rPr sz="1050" b="0">
                <a:solidFill>
                  <a:srgbClr val="52615C"/>
                </a:solidFill>
                <a:latin typeface="Aptos"/>
              </a:rPr>
              <a:t>Tiny ticket router so learners can inspect the full system quickly.</a:t>
            </a:r>
          </a:p>
        </p:txBody>
      </p:sp>
      <p:sp>
        <p:nvSpPr>
          <p:cNvPr id="12" name="Rectangle 11"/>
          <p:cNvSpPr/>
          <p:nvPr/>
        </p:nvSpPr>
        <p:spPr>
          <a:xfrm>
            <a:off x="4160520" y="2011680"/>
            <a:ext cx="3291840" cy="9144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60520" y="2011680"/>
            <a:ext cx="54864" cy="9144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25112" y="2130552"/>
            <a:ext cx="2999232" cy="256032"/>
          </a:xfrm>
          <a:prstGeom prst="rect">
            <a:avLst/>
          </a:prstGeom>
          <a:noFill/>
        </p:spPr>
        <p:txBody>
          <a:bodyPr wrap="square" lIns="73152" rIns="73152">
            <a:noAutofit/>
          </a:bodyPr>
          <a:lstStyle/>
          <a:p>
            <a:r>
              <a:rPr sz="1300" b="1">
                <a:solidFill>
                  <a:srgbClr val="18211F"/>
                </a:solidFill>
                <a:latin typeface="Aptos"/>
              </a:rPr>
              <a:t>Harness files</a:t>
            </a:r>
          </a:p>
        </p:txBody>
      </p:sp>
      <p:sp>
        <p:nvSpPr>
          <p:cNvPr id="15" name="TextBox 14"/>
          <p:cNvSpPr txBox="1"/>
          <p:nvPr/>
        </p:nvSpPr>
        <p:spPr>
          <a:xfrm>
            <a:off x="4325112" y="2450592"/>
            <a:ext cx="2999232" cy="411479"/>
          </a:xfrm>
          <a:prstGeom prst="rect">
            <a:avLst/>
          </a:prstGeom>
          <a:noFill/>
        </p:spPr>
        <p:txBody>
          <a:bodyPr wrap="square" lIns="73152" rIns="73152">
            <a:noAutofit/>
          </a:bodyPr>
          <a:lstStyle/>
          <a:p>
            <a:r>
              <a:rPr sz="1050" b="0">
                <a:solidFill>
                  <a:srgbClr val="52615C"/>
                </a:solidFill>
                <a:latin typeface="Aptos"/>
              </a:rPr>
              <a:t>AGENTS.md, docs, tasks, scripts, tests, CI templates.</a:t>
            </a:r>
          </a:p>
        </p:txBody>
      </p:sp>
      <p:sp>
        <p:nvSpPr>
          <p:cNvPr id="16" name="Rectangle 15"/>
          <p:cNvSpPr/>
          <p:nvPr/>
        </p:nvSpPr>
        <p:spPr>
          <a:xfrm>
            <a:off x="7772400" y="2011680"/>
            <a:ext cx="3383280" cy="9144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772400" y="2011680"/>
            <a:ext cx="54864" cy="91440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936992" y="2130552"/>
            <a:ext cx="3090672" cy="256032"/>
          </a:xfrm>
          <a:prstGeom prst="rect">
            <a:avLst/>
          </a:prstGeom>
          <a:noFill/>
        </p:spPr>
        <p:txBody>
          <a:bodyPr wrap="square" lIns="73152" rIns="73152">
            <a:noAutofit/>
          </a:bodyPr>
          <a:lstStyle/>
          <a:p>
            <a:r>
              <a:rPr sz="1300" b="1">
                <a:solidFill>
                  <a:srgbClr val="18211F"/>
                </a:solidFill>
                <a:latin typeface="Aptos"/>
              </a:rPr>
              <a:t>Why this shape works</a:t>
            </a:r>
          </a:p>
        </p:txBody>
      </p:sp>
      <p:sp>
        <p:nvSpPr>
          <p:cNvPr id="19" name="TextBox 18"/>
          <p:cNvSpPr txBox="1"/>
          <p:nvPr/>
        </p:nvSpPr>
        <p:spPr>
          <a:xfrm>
            <a:off x="7936992" y="2450592"/>
            <a:ext cx="3090672" cy="411479"/>
          </a:xfrm>
          <a:prstGeom prst="rect">
            <a:avLst/>
          </a:prstGeom>
          <a:noFill/>
        </p:spPr>
        <p:txBody>
          <a:bodyPr wrap="square" lIns="73152" rIns="73152">
            <a:noAutofit/>
          </a:bodyPr>
          <a:lstStyle/>
          <a:p>
            <a:r>
              <a:rPr sz="1050" b="0">
                <a:solidFill>
                  <a:srgbClr val="52615C"/>
                </a:solidFill>
                <a:latin typeface="Aptos"/>
              </a:rPr>
              <a:t>The app is simple, but the harness demonstrates the real engineering practice.</a:t>
            </a:r>
          </a:p>
        </p:txBody>
      </p:sp>
      <p:sp>
        <p:nvSpPr>
          <p:cNvPr id="20" name="Rectangle 19"/>
          <p:cNvSpPr/>
          <p:nvPr/>
        </p:nvSpPr>
        <p:spPr>
          <a:xfrm>
            <a:off x="868680"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68680"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3271" y="3813048"/>
            <a:ext cx="1041501" cy="402336"/>
          </a:xfrm>
          <a:prstGeom prst="rect">
            <a:avLst/>
          </a:prstGeom>
          <a:noFill/>
        </p:spPr>
        <p:txBody>
          <a:bodyPr wrap="square" lIns="73152" rIns="73152">
            <a:noAutofit/>
          </a:bodyPr>
          <a:lstStyle/>
          <a:p>
            <a:r>
              <a:rPr sz="1050" b="1">
                <a:solidFill>
                  <a:srgbClr val="18211F"/>
                </a:solidFill>
                <a:latin typeface="Aptos"/>
              </a:rPr>
              <a:t>AGENTS.md</a:t>
            </a:r>
          </a:p>
        </p:txBody>
      </p:sp>
      <p:sp>
        <p:nvSpPr>
          <p:cNvPr id="23" name="TextBox 22"/>
          <p:cNvSpPr txBox="1"/>
          <p:nvPr/>
        </p:nvSpPr>
        <p:spPr>
          <a:xfrm>
            <a:off x="2202789" y="3813048"/>
            <a:ext cx="1582826" cy="402336"/>
          </a:xfrm>
          <a:prstGeom prst="rect">
            <a:avLst/>
          </a:prstGeom>
          <a:noFill/>
        </p:spPr>
        <p:txBody>
          <a:bodyPr wrap="square" lIns="73152" rIns="73152">
            <a:noAutofit/>
          </a:bodyPr>
          <a:lstStyle/>
          <a:p>
            <a:r>
              <a:rPr sz="950" b="0">
                <a:solidFill>
                  <a:srgbClr val="52615C"/>
                </a:solidFill>
                <a:latin typeface="Aptos"/>
              </a:rPr>
              <a:t>how the agent should work</a:t>
            </a:r>
          </a:p>
        </p:txBody>
      </p:sp>
      <p:sp>
        <p:nvSpPr>
          <p:cNvPr id="24" name="Rectangle 23"/>
          <p:cNvSpPr/>
          <p:nvPr/>
        </p:nvSpPr>
        <p:spPr>
          <a:xfrm>
            <a:off x="4572000"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0"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36592" y="3813048"/>
            <a:ext cx="1041501" cy="402336"/>
          </a:xfrm>
          <a:prstGeom prst="rect">
            <a:avLst/>
          </a:prstGeom>
          <a:noFill/>
        </p:spPr>
        <p:txBody>
          <a:bodyPr wrap="square" lIns="73152" rIns="73152">
            <a:noAutofit/>
          </a:bodyPr>
          <a:lstStyle/>
          <a:p>
            <a:r>
              <a:rPr sz="1050" b="1">
                <a:solidFill>
                  <a:srgbClr val="18211F"/>
                </a:solidFill>
                <a:latin typeface="Aptos"/>
              </a:rPr>
              <a:t>docs/architecture.md</a:t>
            </a:r>
          </a:p>
        </p:txBody>
      </p:sp>
      <p:sp>
        <p:nvSpPr>
          <p:cNvPr id="27" name="TextBox 26"/>
          <p:cNvSpPr txBox="1"/>
          <p:nvPr/>
        </p:nvSpPr>
        <p:spPr>
          <a:xfrm>
            <a:off x="5906109" y="3813048"/>
            <a:ext cx="1582826" cy="402336"/>
          </a:xfrm>
          <a:prstGeom prst="rect">
            <a:avLst/>
          </a:prstGeom>
          <a:noFill/>
        </p:spPr>
        <p:txBody>
          <a:bodyPr wrap="square" lIns="73152" rIns="73152">
            <a:noAutofit/>
          </a:bodyPr>
          <a:lstStyle/>
          <a:p>
            <a:r>
              <a:rPr sz="950" b="0">
                <a:solidFill>
                  <a:srgbClr val="52615C"/>
                </a:solidFill>
                <a:latin typeface="Aptos"/>
              </a:rPr>
              <a:t>where behavior belongs</a:t>
            </a:r>
          </a:p>
        </p:txBody>
      </p:sp>
      <p:sp>
        <p:nvSpPr>
          <p:cNvPr id="28" name="Rectangle 27"/>
          <p:cNvSpPr/>
          <p:nvPr/>
        </p:nvSpPr>
        <p:spPr>
          <a:xfrm>
            <a:off x="8275319" y="3703320"/>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275319" y="3703320"/>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39911" y="3813048"/>
            <a:ext cx="1041501" cy="402336"/>
          </a:xfrm>
          <a:prstGeom prst="rect">
            <a:avLst/>
          </a:prstGeom>
          <a:noFill/>
        </p:spPr>
        <p:txBody>
          <a:bodyPr wrap="square" lIns="73152" rIns="73152">
            <a:noAutofit/>
          </a:bodyPr>
          <a:lstStyle/>
          <a:p>
            <a:r>
              <a:rPr sz="1050" b="1">
                <a:solidFill>
                  <a:srgbClr val="18211F"/>
                </a:solidFill>
                <a:latin typeface="Aptos"/>
              </a:rPr>
              <a:t>tasks/01-add-sla...</a:t>
            </a:r>
          </a:p>
        </p:txBody>
      </p:sp>
      <p:sp>
        <p:nvSpPr>
          <p:cNvPr id="31" name="TextBox 30"/>
          <p:cNvSpPr txBox="1"/>
          <p:nvPr/>
        </p:nvSpPr>
        <p:spPr>
          <a:xfrm>
            <a:off x="9609429" y="3813048"/>
            <a:ext cx="1582826" cy="402336"/>
          </a:xfrm>
          <a:prstGeom prst="rect">
            <a:avLst/>
          </a:prstGeom>
          <a:noFill/>
        </p:spPr>
        <p:txBody>
          <a:bodyPr wrap="square" lIns="73152" rIns="73152">
            <a:noAutofit/>
          </a:bodyPr>
          <a:lstStyle/>
          <a:p>
            <a:r>
              <a:rPr sz="950" b="0">
                <a:solidFill>
                  <a:srgbClr val="52615C"/>
                </a:solidFill>
                <a:latin typeface="Aptos"/>
              </a:rPr>
              <a:t>the exercise</a:t>
            </a:r>
          </a:p>
        </p:txBody>
      </p:sp>
      <p:sp>
        <p:nvSpPr>
          <p:cNvPr id="32" name="Rectangle 31"/>
          <p:cNvSpPr/>
          <p:nvPr/>
        </p:nvSpPr>
        <p:spPr>
          <a:xfrm>
            <a:off x="868680"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868680"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33271" y="4562856"/>
            <a:ext cx="1041501" cy="402336"/>
          </a:xfrm>
          <a:prstGeom prst="rect">
            <a:avLst/>
          </a:prstGeom>
          <a:noFill/>
        </p:spPr>
        <p:txBody>
          <a:bodyPr wrap="square" lIns="73152" rIns="73152">
            <a:noAutofit/>
          </a:bodyPr>
          <a:lstStyle/>
          <a:p>
            <a:r>
              <a:rPr sz="1050" b="1">
                <a:solidFill>
                  <a:srgbClr val="18211F"/>
                </a:solidFill>
                <a:latin typeface="Aptos"/>
              </a:rPr>
              <a:t>scripts/check.py</a:t>
            </a:r>
          </a:p>
        </p:txBody>
      </p:sp>
      <p:sp>
        <p:nvSpPr>
          <p:cNvPr id="35" name="TextBox 34"/>
          <p:cNvSpPr txBox="1"/>
          <p:nvPr/>
        </p:nvSpPr>
        <p:spPr>
          <a:xfrm>
            <a:off x="2202789" y="4562856"/>
            <a:ext cx="1582826" cy="402336"/>
          </a:xfrm>
          <a:prstGeom prst="rect">
            <a:avLst/>
          </a:prstGeom>
          <a:noFill/>
        </p:spPr>
        <p:txBody>
          <a:bodyPr wrap="square" lIns="73152" rIns="73152">
            <a:noAutofit/>
          </a:bodyPr>
          <a:lstStyle/>
          <a:p>
            <a:r>
              <a:rPr sz="950" b="0">
                <a:solidFill>
                  <a:srgbClr val="52615C"/>
                </a:solidFill>
                <a:latin typeface="Aptos"/>
              </a:rPr>
              <a:t>orchestrates checks</a:t>
            </a:r>
          </a:p>
        </p:txBody>
      </p:sp>
      <p:sp>
        <p:nvSpPr>
          <p:cNvPr id="36" name="Rectangle 35"/>
          <p:cNvSpPr/>
          <p:nvPr/>
        </p:nvSpPr>
        <p:spPr>
          <a:xfrm>
            <a:off x="4572000"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572000"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736592" y="4562856"/>
            <a:ext cx="1041501" cy="402336"/>
          </a:xfrm>
          <a:prstGeom prst="rect">
            <a:avLst/>
          </a:prstGeom>
          <a:noFill/>
        </p:spPr>
        <p:txBody>
          <a:bodyPr wrap="square" lIns="73152" rIns="73152">
            <a:noAutofit/>
          </a:bodyPr>
          <a:lstStyle/>
          <a:p>
            <a:r>
              <a:rPr sz="1050" b="1">
                <a:solidFill>
                  <a:srgbClr val="18211F"/>
                </a:solidFill>
                <a:latin typeface="Aptos"/>
              </a:rPr>
              <a:t>scripts/lint.py</a:t>
            </a:r>
          </a:p>
        </p:txBody>
      </p:sp>
      <p:sp>
        <p:nvSpPr>
          <p:cNvPr id="39" name="TextBox 38"/>
          <p:cNvSpPr txBox="1"/>
          <p:nvPr/>
        </p:nvSpPr>
        <p:spPr>
          <a:xfrm>
            <a:off x="5906109" y="4562856"/>
            <a:ext cx="1582826" cy="402336"/>
          </a:xfrm>
          <a:prstGeom prst="rect">
            <a:avLst/>
          </a:prstGeom>
          <a:noFill/>
        </p:spPr>
        <p:txBody>
          <a:bodyPr wrap="square" lIns="73152" rIns="73152">
            <a:noAutofit/>
          </a:bodyPr>
          <a:lstStyle/>
          <a:p>
            <a:r>
              <a:rPr sz="950" b="0">
                <a:solidFill>
                  <a:srgbClr val="52615C"/>
                </a:solidFill>
                <a:latin typeface="Aptos"/>
              </a:rPr>
              <a:t>standards as code</a:t>
            </a:r>
          </a:p>
        </p:txBody>
      </p:sp>
      <p:sp>
        <p:nvSpPr>
          <p:cNvPr id="40" name="Rectangle 39"/>
          <p:cNvSpPr/>
          <p:nvPr/>
        </p:nvSpPr>
        <p:spPr>
          <a:xfrm>
            <a:off x="8275319" y="4453128"/>
            <a:ext cx="3063240" cy="56692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8275319" y="4453128"/>
            <a:ext cx="54864" cy="56692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439911" y="4562856"/>
            <a:ext cx="1041501" cy="402336"/>
          </a:xfrm>
          <a:prstGeom prst="rect">
            <a:avLst/>
          </a:prstGeom>
          <a:noFill/>
        </p:spPr>
        <p:txBody>
          <a:bodyPr wrap="square" lIns="73152" rIns="73152">
            <a:noAutofit/>
          </a:bodyPr>
          <a:lstStyle/>
          <a:p>
            <a:r>
              <a:rPr sz="1050" b="1">
                <a:solidFill>
                  <a:srgbClr val="18211F"/>
                </a:solidFill>
                <a:latin typeface="Aptos"/>
              </a:rPr>
              <a:t>tests/</a:t>
            </a:r>
          </a:p>
        </p:txBody>
      </p:sp>
      <p:sp>
        <p:nvSpPr>
          <p:cNvPr id="43" name="TextBox 42"/>
          <p:cNvSpPr txBox="1"/>
          <p:nvPr/>
        </p:nvSpPr>
        <p:spPr>
          <a:xfrm>
            <a:off x="9609429" y="4562856"/>
            <a:ext cx="1582826" cy="402336"/>
          </a:xfrm>
          <a:prstGeom prst="rect">
            <a:avLst/>
          </a:prstGeom>
          <a:noFill/>
        </p:spPr>
        <p:txBody>
          <a:bodyPr wrap="square" lIns="73152" rIns="73152">
            <a:noAutofit/>
          </a:bodyPr>
          <a:lstStyle/>
          <a:p>
            <a:r>
              <a:rPr sz="950" b="0">
                <a:solidFill>
                  <a:srgbClr val="52615C"/>
                </a:solidFill>
                <a:latin typeface="Aptos"/>
              </a:rPr>
              <a:t>behavior evidence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QUALITY GATE</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One command can orchestrate many feedback signals.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`python3 scripts/check.py` is the ergonomic entry point; the individual scripts make the feedback map visible.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12</a:t>
            </a:r>
          </a:p>
        </p:txBody>
      </p:sp>
      <p:sp>
        <p:nvSpPr>
          <p:cNvPr id="8" name="Rectangle 7"/>
          <p:cNvSpPr/>
          <p:nvPr/>
        </p:nvSpPr>
        <p:spPr>
          <a:xfrm>
            <a:off x="822960" y="1965960"/>
            <a:ext cx="3840480" cy="868680"/>
          </a:xfrm>
          <a:prstGeom prst="rect">
            <a:avLst/>
          </a:prstGeom>
          <a:solidFill>
            <a:srgbClr val="18211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2960" y="1965960"/>
            <a:ext cx="54864" cy="868680"/>
          </a:xfrm>
          <a:prstGeom prst="rect">
            <a:avLst/>
          </a:prstGeom>
          <a:solidFill>
            <a:srgbClr val="18211F"/>
          </a:solidFill>
          <a:ln w="10160">
            <a:solidFill>
              <a:srgbClr val="18211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084831"/>
            <a:ext cx="3547872" cy="256032"/>
          </a:xfrm>
          <a:prstGeom prst="rect">
            <a:avLst/>
          </a:prstGeom>
          <a:noFill/>
        </p:spPr>
        <p:txBody>
          <a:bodyPr wrap="square" lIns="73152" rIns="73152">
            <a:noAutofit/>
          </a:bodyPr>
          <a:lstStyle/>
          <a:p>
            <a:r>
              <a:rPr sz="1300" b="1">
                <a:solidFill>
                  <a:srgbClr val="F7F3EA"/>
                </a:solidFill>
                <a:latin typeface="Aptos"/>
              </a:rPr>
              <a:t>Quality gate orchestrator</a:t>
            </a:r>
          </a:p>
        </p:txBody>
      </p:sp>
      <p:sp>
        <p:nvSpPr>
          <p:cNvPr id="11" name="TextBox 10"/>
          <p:cNvSpPr txBox="1"/>
          <p:nvPr/>
        </p:nvSpPr>
        <p:spPr>
          <a:xfrm>
            <a:off x="987552" y="2404872"/>
            <a:ext cx="3547872" cy="365759"/>
          </a:xfrm>
          <a:prstGeom prst="rect">
            <a:avLst/>
          </a:prstGeom>
          <a:noFill/>
        </p:spPr>
        <p:txBody>
          <a:bodyPr wrap="square" lIns="73152" rIns="73152">
            <a:noAutofit/>
          </a:bodyPr>
          <a:lstStyle/>
          <a:p>
            <a:r>
              <a:rPr sz="1050" b="0">
                <a:solidFill>
                  <a:srgbClr val="DDE8DF"/>
                </a:solidFill>
                <a:latin typeface="Aptos"/>
              </a:rPr>
              <a:t>python3 scripts/check.py</a:t>
            </a:r>
          </a:p>
        </p:txBody>
      </p:sp>
      <p:sp>
        <p:nvSpPr>
          <p:cNvPr id="12" name="Rectangle 11"/>
          <p:cNvSpPr/>
          <p:nvPr/>
        </p:nvSpPr>
        <p:spPr>
          <a:xfrm>
            <a:off x="5074920" y="1810512"/>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74920" y="181051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239512" y="1920240"/>
            <a:ext cx="1325880" cy="228600"/>
          </a:xfrm>
          <a:prstGeom prst="rect">
            <a:avLst/>
          </a:prstGeom>
          <a:noFill/>
        </p:spPr>
        <p:txBody>
          <a:bodyPr wrap="square" lIns="73152" rIns="73152">
            <a:noAutofit/>
          </a:bodyPr>
          <a:lstStyle/>
          <a:p>
            <a:r>
              <a:rPr sz="1050" b="1">
                <a:solidFill>
                  <a:srgbClr val="18211F"/>
                </a:solidFill>
                <a:latin typeface="Aptos"/>
              </a:rPr>
              <a:t>Syntax</a:t>
            </a:r>
          </a:p>
        </p:txBody>
      </p:sp>
      <p:sp>
        <p:nvSpPr>
          <p:cNvPr id="15" name="TextBox 14"/>
          <p:cNvSpPr txBox="1"/>
          <p:nvPr/>
        </p:nvSpPr>
        <p:spPr>
          <a:xfrm>
            <a:off x="6693408" y="1920240"/>
            <a:ext cx="3584447" cy="228600"/>
          </a:xfrm>
          <a:prstGeom prst="rect">
            <a:avLst/>
          </a:prstGeom>
          <a:noFill/>
        </p:spPr>
        <p:txBody>
          <a:bodyPr wrap="square" lIns="73152" rIns="73152">
            <a:noAutofit/>
          </a:bodyPr>
          <a:lstStyle/>
          <a:p>
            <a:r>
              <a:rPr sz="950" b="0">
                <a:solidFill>
                  <a:srgbClr val="52615C"/>
                </a:solidFill>
                <a:latin typeface="Aptos"/>
              </a:rPr>
              <a:t>scripts/check_syntax.py</a:t>
            </a:r>
          </a:p>
        </p:txBody>
      </p:sp>
      <p:sp>
        <p:nvSpPr>
          <p:cNvPr id="16" name="Rectangle 15"/>
          <p:cNvSpPr/>
          <p:nvPr/>
        </p:nvSpPr>
        <p:spPr>
          <a:xfrm>
            <a:off x="5074920" y="231343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074920" y="231343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39512" y="2423160"/>
            <a:ext cx="1325880" cy="228600"/>
          </a:xfrm>
          <a:prstGeom prst="rect">
            <a:avLst/>
          </a:prstGeom>
          <a:noFill/>
        </p:spPr>
        <p:txBody>
          <a:bodyPr wrap="square" lIns="73152" rIns="73152">
            <a:noAutofit/>
          </a:bodyPr>
          <a:lstStyle/>
          <a:p>
            <a:r>
              <a:rPr sz="1050" b="1">
                <a:solidFill>
                  <a:srgbClr val="18211F"/>
                </a:solidFill>
                <a:latin typeface="Aptos"/>
              </a:rPr>
              <a:t>Lint + architecture</a:t>
            </a:r>
          </a:p>
        </p:txBody>
      </p:sp>
      <p:sp>
        <p:nvSpPr>
          <p:cNvPr id="19" name="TextBox 18"/>
          <p:cNvSpPr txBox="1"/>
          <p:nvPr/>
        </p:nvSpPr>
        <p:spPr>
          <a:xfrm>
            <a:off x="6693408" y="2423160"/>
            <a:ext cx="3584447" cy="228600"/>
          </a:xfrm>
          <a:prstGeom prst="rect">
            <a:avLst/>
          </a:prstGeom>
          <a:noFill/>
        </p:spPr>
        <p:txBody>
          <a:bodyPr wrap="square" lIns="73152" rIns="73152">
            <a:noAutofit/>
          </a:bodyPr>
          <a:lstStyle/>
          <a:p>
            <a:r>
              <a:rPr sz="950" b="0">
                <a:solidFill>
                  <a:srgbClr val="52615C"/>
                </a:solidFill>
                <a:latin typeface="Aptos"/>
              </a:rPr>
              <a:t>scripts/lint.py</a:t>
            </a:r>
          </a:p>
        </p:txBody>
      </p:sp>
      <p:sp>
        <p:nvSpPr>
          <p:cNvPr id="20" name="Rectangle 19"/>
          <p:cNvSpPr/>
          <p:nvPr/>
        </p:nvSpPr>
        <p:spPr>
          <a:xfrm>
            <a:off x="5074920" y="2816352"/>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74920" y="281635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39512" y="2926080"/>
            <a:ext cx="1325880" cy="228600"/>
          </a:xfrm>
          <a:prstGeom prst="rect">
            <a:avLst/>
          </a:prstGeom>
          <a:noFill/>
        </p:spPr>
        <p:txBody>
          <a:bodyPr wrap="square" lIns="73152" rIns="73152">
            <a:noAutofit/>
          </a:bodyPr>
          <a:lstStyle/>
          <a:p>
            <a:r>
              <a:rPr sz="1050" b="1">
                <a:solidFill>
                  <a:srgbClr val="18211F"/>
                </a:solidFill>
                <a:latin typeface="Aptos"/>
              </a:rPr>
              <a:t>Harness doctor</a:t>
            </a:r>
          </a:p>
        </p:txBody>
      </p:sp>
      <p:sp>
        <p:nvSpPr>
          <p:cNvPr id="23" name="TextBox 22"/>
          <p:cNvSpPr txBox="1"/>
          <p:nvPr/>
        </p:nvSpPr>
        <p:spPr>
          <a:xfrm>
            <a:off x="6693408" y="2926080"/>
            <a:ext cx="3584447" cy="228600"/>
          </a:xfrm>
          <a:prstGeom prst="rect">
            <a:avLst/>
          </a:prstGeom>
          <a:noFill/>
        </p:spPr>
        <p:txBody>
          <a:bodyPr wrap="square" lIns="73152" rIns="73152">
            <a:noAutofit/>
          </a:bodyPr>
          <a:lstStyle/>
          <a:p>
            <a:r>
              <a:rPr sz="950" b="0">
                <a:solidFill>
                  <a:srgbClr val="52615C"/>
                </a:solidFill>
                <a:latin typeface="Aptos"/>
              </a:rPr>
              <a:t>scripts/harness_doctor.py</a:t>
            </a:r>
          </a:p>
        </p:txBody>
      </p:sp>
      <p:sp>
        <p:nvSpPr>
          <p:cNvPr id="24" name="Rectangle 23"/>
          <p:cNvSpPr/>
          <p:nvPr/>
        </p:nvSpPr>
        <p:spPr>
          <a:xfrm>
            <a:off x="5074920" y="331927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5074920" y="331927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239512" y="3429000"/>
            <a:ext cx="1325880" cy="228600"/>
          </a:xfrm>
          <a:prstGeom prst="rect">
            <a:avLst/>
          </a:prstGeom>
          <a:noFill/>
        </p:spPr>
        <p:txBody>
          <a:bodyPr wrap="square" lIns="73152" rIns="73152">
            <a:noAutofit/>
          </a:bodyPr>
          <a:lstStyle/>
          <a:p>
            <a:r>
              <a:rPr sz="1050" b="1">
                <a:solidFill>
                  <a:srgbClr val="18211F"/>
                </a:solidFill>
                <a:latin typeface="Aptos"/>
              </a:rPr>
              <a:t>Docs contract</a:t>
            </a:r>
          </a:p>
        </p:txBody>
      </p:sp>
      <p:sp>
        <p:nvSpPr>
          <p:cNvPr id="27" name="TextBox 26"/>
          <p:cNvSpPr txBox="1"/>
          <p:nvPr/>
        </p:nvSpPr>
        <p:spPr>
          <a:xfrm>
            <a:off x="6693408" y="3429000"/>
            <a:ext cx="3584447" cy="228600"/>
          </a:xfrm>
          <a:prstGeom prst="rect">
            <a:avLst/>
          </a:prstGeom>
          <a:noFill/>
        </p:spPr>
        <p:txBody>
          <a:bodyPr wrap="square" lIns="73152" rIns="73152">
            <a:noAutofit/>
          </a:bodyPr>
          <a:lstStyle/>
          <a:p>
            <a:r>
              <a:rPr sz="950" b="0">
                <a:solidFill>
                  <a:srgbClr val="52615C"/>
                </a:solidFill>
                <a:latin typeface="Aptos"/>
              </a:rPr>
              <a:t>scripts/check_docs.py</a:t>
            </a:r>
          </a:p>
        </p:txBody>
      </p:sp>
      <p:sp>
        <p:nvSpPr>
          <p:cNvPr id="28" name="Rectangle 27"/>
          <p:cNvSpPr/>
          <p:nvPr/>
        </p:nvSpPr>
        <p:spPr>
          <a:xfrm>
            <a:off x="5074920" y="3822191"/>
            <a:ext cx="5349240" cy="393192"/>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074920" y="3822191"/>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239512" y="3931920"/>
            <a:ext cx="1325880" cy="228600"/>
          </a:xfrm>
          <a:prstGeom prst="rect">
            <a:avLst/>
          </a:prstGeom>
          <a:noFill/>
        </p:spPr>
        <p:txBody>
          <a:bodyPr wrap="square" lIns="73152" rIns="73152">
            <a:noAutofit/>
          </a:bodyPr>
          <a:lstStyle/>
          <a:p>
            <a:r>
              <a:rPr sz="1050" b="1">
                <a:solidFill>
                  <a:srgbClr val="18211F"/>
                </a:solidFill>
                <a:latin typeface="Aptos"/>
              </a:rPr>
              <a:t>Unit behavior</a:t>
            </a:r>
          </a:p>
        </p:txBody>
      </p:sp>
      <p:sp>
        <p:nvSpPr>
          <p:cNvPr id="31" name="TextBox 30"/>
          <p:cNvSpPr txBox="1"/>
          <p:nvPr/>
        </p:nvSpPr>
        <p:spPr>
          <a:xfrm>
            <a:off x="6693408" y="3931920"/>
            <a:ext cx="3584447" cy="228600"/>
          </a:xfrm>
          <a:prstGeom prst="rect">
            <a:avLst/>
          </a:prstGeom>
          <a:noFill/>
        </p:spPr>
        <p:txBody>
          <a:bodyPr wrap="square" lIns="73152" rIns="73152">
            <a:noAutofit/>
          </a:bodyPr>
          <a:lstStyle/>
          <a:p>
            <a:r>
              <a:rPr sz="950" b="0">
                <a:solidFill>
                  <a:srgbClr val="52615C"/>
                </a:solidFill>
                <a:latin typeface="Aptos"/>
              </a:rPr>
              <a:t>scripts/check_tests.py</a:t>
            </a:r>
          </a:p>
        </p:txBody>
      </p:sp>
      <p:sp>
        <p:nvSpPr>
          <p:cNvPr id="32" name="Rectangle 31"/>
          <p:cNvSpPr/>
          <p:nvPr/>
        </p:nvSpPr>
        <p:spPr>
          <a:xfrm>
            <a:off x="5074920" y="4325112"/>
            <a:ext cx="5349240" cy="393192"/>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074920" y="4325112"/>
            <a:ext cx="54864" cy="393192"/>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239512" y="4434840"/>
            <a:ext cx="1325880" cy="228600"/>
          </a:xfrm>
          <a:prstGeom prst="rect">
            <a:avLst/>
          </a:prstGeom>
          <a:noFill/>
        </p:spPr>
        <p:txBody>
          <a:bodyPr wrap="square" lIns="73152" rIns="73152">
            <a:noAutofit/>
          </a:bodyPr>
          <a:lstStyle/>
          <a:p>
            <a:r>
              <a:rPr sz="1050" b="1">
                <a:solidFill>
                  <a:srgbClr val="18211F"/>
                </a:solidFill>
                <a:latin typeface="Aptos"/>
              </a:rPr>
              <a:t>CLI smoke</a:t>
            </a:r>
          </a:p>
        </p:txBody>
      </p:sp>
      <p:sp>
        <p:nvSpPr>
          <p:cNvPr id="35" name="TextBox 34"/>
          <p:cNvSpPr txBox="1"/>
          <p:nvPr/>
        </p:nvSpPr>
        <p:spPr>
          <a:xfrm>
            <a:off x="6693408" y="4434840"/>
            <a:ext cx="3584447" cy="228600"/>
          </a:xfrm>
          <a:prstGeom prst="rect">
            <a:avLst/>
          </a:prstGeom>
          <a:noFill/>
        </p:spPr>
        <p:txBody>
          <a:bodyPr wrap="square" lIns="73152" rIns="73152">
            <a:noAutofit/>
          </a:bodyPr>
          <a:lstStyle/>
          <a:p>
            <a:r>
              <a:rPr sz="950" b="0">
                <a:solidFill>
                  <a:srgbClr val="52615C"/>
                </a:solidFill>
                <a:latin typeface="Aptos"/>
              </a:rPr>
              <a:t>scripts/check_smoke.py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STANDARDS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Coding standards belong in checks when they can be checked.</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Use linters for structure, tests for behavior, docs for intent, and CI to make the result non-optional.</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13</a:t>
            </a:r>
          </a:p>
        </p:txBody>
      </p:sp>
      <p:sp>
        <p:nvSpPr>
          <p:cNvPr id="8" name="Rectangle 7"/>
          <p:cNvSpPr/>
          <p:nvPr/>
        </p:nvSpPr>
        <p:spPr>
          <a:xfrm>
            <a:off x="914400" y="2103120"/>
            <a:ext cx="2971800" cy="1874519"/>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14400" y="2103120"/>
            <a:ext cx="54864" cy="1874519"/>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78992" y="2221991"/>
            <a:ext cx="2679192" cy="256032"/>
          </a:xfrm>
          <a:prstGeom prst="rect">
            <a:avLst/>
          </a:prstGeom>
          <a:noFill/>
        </p:spPr>
        <p:txBody>
          <a:bodyPr wrap="square" lIns="73152" rIns="73152">
            <a:noAutofit/>
          </a:bodyPr>
          <a:lstStyle/>
          <a:p>
            <a:r>
              <a:rPr sz="1300" b="1">
                <a:solidFill>
                  <a:srgbClr val="18211F"/>
                </a:solidFill>
                <a:latin typeface="Aptos"/>
              </a:rPr>
              <a:t>Lintable</a:t>
            </a:r>
          </a:p>
        </p:txBody>
      </p:sp>
      <p:sp>
        <p:nvSpPr>
          <p:cNvPr id="11" name="TextBox 10"/>
          <p:cNvSpPr txBox="1"/>
          <p:nvPr/>
        </p:nvSpPr>
        <p:spPr>
          <a:xfrm>
            <a:off x="1078992" y="2542032"/>
            <a:ext cx="2679192" cy="1371599"/>
          </a:xfrm>
          <a:prstGeom prst="rect">
            <a:avLst/>
          </a:prstGeom>
          <a:noFill/>
        </p:spPr>
        <p:txBody>
          <a:bodyPr wrap="square" lIns="73152" rIns="73152">
            <a:noAutofit/>
          </a:bodyPr>
          <a:lstStyle/>
          <a:p>
            <a:r>
              <a:rPr sz="1050" b="0">
                <a:solidFill>
                  <a:srgbClr val="52615C"/>
                </a:solidFill>
                <a:latin typeface="Aptos"/>
              </a:rPr>
              <a:t>No tabs
Line length
Docstrings
No business terms in CLI</a:t>
            </a:r>
          </a:p>
        </p:txBody>
      </p:sp>
      <p:sp>
        <p:nvSpPr>
          <p:cNvPr id="12" name="Rectangle 11"/>
          <p:cNvSpPr/>
          <p:nvPr/>
        </p:nvSpPr>
        <p:spPr>
          <a:xfrm>
            <a:off x="4572000" y="2103120"/>
            <a:ext cx="2971800" cy="1874519"/>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0" y="2103120"/>
            <a:ext cx="54864" cy="1874519"/>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36592" y="2221991"/>
            <a:ext cx="2679192" cy="256032"/>
          </a:xfrm>
          <a:prstGeom prst="rect">
            <a:avLst/>
          </a:prstGeom>
          <a:noFill/>
        </p:spPr>
        <p:txBody>
          <a:bodyPr wrap="square" lIns="73152" rIns="73152">
            <a:noAutofit/>
          </a:bodyPr>
          <a:lstStyle/>
          <a:p>
            <a:r>
              <a:rPr sz="1300" b="1">
                <a:solidFill>
                  <a:srgbClr val="18211F"/>
                </a:solidFill>
                <a:latin typeface="Aptos"/>
              </a:rPr>
              <a:t>Testable</a:t>
            </a:r>
          </a:p>
        </p:txBody>
      </p:sp>
      <p:sp>
        <p:nvSpPr>
          <p:cNvPr id="15" name="TextBox 14"/>
          <p:cNvSpPr txBox="1"/>
          <p:nvPr/>
        </p:nvSpPr>
        <p:spPr>
          <a:xfrm>
            <a:off x="4736592" y="2542032"/>
            <a:ext cx="2679192" cy="1371599"/>
          </a:xfrm>
          <a:prstGeom prst="rect">
            <a:avLst/>
          </a:prstGeom>
          <a:noFill/>
        </p:spPr>
        <p:txBody>
          <a:bodyPr wrap="square" lIns="73152" rIns="73152">
            <a:noAutofit/>
          </a:bodyPr>
          <a:lstStyle/>
          <a:p>
            <a:r>
              <a:rPr sz="1050" b="0">
                <a:solidFill>
                  <a:srgbClr val="52615C"/>
                </a:solidFill>
                <a:latin typeface="Aptos"/>
              </a:rPr>
              <a:t>Routing output
Error handling
CLI behavior
Regression cases</a:t>
            </a:r>
          </a:p>
        </p:txBody>
      </p:sp>
      <p:sp>
        <p:nvSpPr>
          <p:cNvPr id="16" name="Rectangle 15"/>
          <p:cNvSpPr/>
          <p:nvPr/>
        </p:nvSpPr>
        <p:spPr>
          <a:xfrm>
            <a:off x="8229600" y="2103120"/>
            <a:ext cx="2971800" cy="1874519"/>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229600" y="2103120"/>
            <a:ext cx="54864" cy="1874519"/>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94192" y="2221991"/>
            <a:ext cx="2679192" cy="256032"/>
          </a:xfrm>
          <a:prstGeom prst="rect">
            <a:avLst/>
          </a:prstGeom>
          <a:noFill/>
        </p:spPr>
        <p:txBody>
          <a:bodyPr wrap="square" lIns="73152" rIns="73152">
            <a:noAutofit/>
          </a:bodyPr>
          <a:lstStyle/>
          <a:p>
            <a:r>
              <a:rPr sz="1300" b="1">
                <a:solidFill>
                  <a:srgbClr val="18211F"/>
                </a:solidFill>
                <a:latin typeface="Aptos"/>
              </a:rPr>
              <a:t>Reviewable</a:t>
            </a:r>
          </a:p>
        </p:txBody>
      </p:sp>
      <p:sp>
        <p:nvSpPr>
          <p:cNvPr id="19" name="TextBox 18"/>
          <p:cNvSpPr txBox="1"/>
          <p:nvPr/>
        </p:nvSpPr>
        <p:spPr>
          <a:xfrm>
            <a:off x="8394192" y="2542032"/>
            <a:ext cx="2679192" cy="1371599"/>
          </a:xfrm>
          <a:prstGeom prst="rect">
            <a:avLst/>
          </a:prstGeom>
          <a:noFill/>
        </p:spPr>
        <p:txBody>
          <a:bodyPr wrap="square" lIns="73152" rIns="73152">
            <a:noAutofit/>
          </a:bodyPr>
          <a:lstStyle/>
          <a:p>
            <a:r>
              <a:rPr sz="1050" b="0">
                <a:solidFill>
                  <a:srgbClr val="52615C"/>
                </a:solidFill>
                <a:latin typeface="Aptos"/>
              </a:rPr>
              <a:t>Tradeoffs
Scope
Architecture intent
Residual risk</a:t>
            </a:r>
          </a:p>
        </p:txBody>
      </p:sp>
      <p:sp>
        <p:nvSpPr>
          <p:cNvPr id="20" name="TextBox 19"/>
          <p:cNvSpPr txBox="1"/>
          <p:nvPr/>
        </p:nvSpPr>
        <p:spPr>
          <a:xfrm>
            <a:off x="2011680" y="4892040"/>
            <a:ext cx="8138160" cy="320040"/>
          </a:xfrm>
          <a:prstGeom prst="rect">
            <a:avLst/>
          </a:prstGeom>
          <a:noFill/>
        </p:spPr>
        <p:txBody>
          <a:bodyPr wrap="square" lIns="73152" rIns="73152">
            <a:noAutofit/>
          </a:bodyPr>
          <a:lstStyle/>
          <a:p>
            <a:pPr algn="ctr"/>
            <a:r>
              <a:rPr sz="1700" b="1">
                <a:solidFill>
                  <a:srgbClr val="163B34"/>
                </a:solidFill>
                <a:latin typeface="Aptos"/>
              </a:rPr>
              <a:t>Use the cheapest reliable enforcement for each standard.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LIVE DEMO</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The demo prompt is short because the repo carries the instructions.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Ask for the task, then inspect the files changed and the quality gate output.</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14</a:t>
            </a:r>
          </a:p>
        </p:txBody>
      </p:sp>
      <p:sp>
        <p:nvSpPr>
          <p:cNvPr id="8" name="Rectangle 7"/>
          <p:cNvSpPr/>
          <p:nvPr/>
        </p:nvSpPr>
        <p:spPr>
          <a:xfrm>
            <a:off x="822960" y="2011680"/>
            <a:ext cx="4572000" cy="685800"/>
          </a:xfrm>
          <a:prstGeom prst="rect">
            <a:avLst/>
          </a:prstGeom>
          <a:solidFill>
            <a:srgbClr val="18211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2960" y="2011680"/>
            <a:ext cx="54864" cy="685800"/>
          </a:xfrm>
          <a:prstGeom prst="rect">
            <a:avLst/>
          </a:prstGeom>
          <a:solidFill>
            <a:srgbClr val="18211F"/>
          </a:solidFill>
          <a:ln w="10160">
            <a:solidFill>
              <a:srgbClr val="18211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130552"/>
            <a:ext cx="4279392" cy="256032"/>
          </a:xfrm>
          <a:prstGeom prst="rect">
            <a:avLst/>
          </a:prstGeom>
          <a:noFill/>
        </p:spPr>
        <p:txBody>
          <a:bodyPr wrap="square" lIns="73152" rIns="73152">
            <a:noAutofit/>
          </a:bodyPr>
          <a:lstStyle/>
          <a:p>
            <a:r>
              <a:rPr sz="1300" b="1">
                <a:solidFill>
                  <a:srgbClr val="F7F3EA"/>
                </a:solidFill>
                <a:latin typeface="Aptos"/>
              </a:rPr>
              <a:t>Prompt</a:t>
            </a:r>
          </a:p>
        </p:txBody>
      </p:sp>
      <p:sp>
        <p:nvSpPr>
          <p:cNvPr id="11" name="TextBox 10"/>
          <p:cNvSpPr txBox="1"/>
          <p:nvPr/>
        </p:nvSpPr>
        <p:spPr>
          <a:xfrm>
            <a:off x="987552" y="2450592"/>
            <a:ext cx="4279392" cy="182879"/>
          </a:xfrm>
          <a:prstGeom prst="rect">
            <a:avLst/>
          </a:prstGeom>
          <a:noFill/>
        </p:spPr>
        <p:txBody>
          <a:bodyPr wrap="square" lIns="73152" rIns="73152">
            <a:noAutofit/>
          </a:bodyPr>
          <a:lstStyle/>
          <a:p>
            <a:r>
              <a:rPr sz="1050" b="0">
                <a:solidFill>
                  <a:srgbClr val="DDE8DF"/>
                </a:solidFill>
                <a:latin typeface="Aptos"/>
              </a:rPr>
              <a:t>Complete tasks/01-add-sla-classification.md</a:t>
            </a:r>
          </a:p>
        </p:txBody>
      </p:sp>
      <p:sp>
        <p:nvSpPr>
          <p:cNvPr id="12" name="Rectangle 11"/>
          <p:cNvSpPr/>
          <p:nvPr/>
        </p:nvSpPr>
        <p:spPr>
          <a:xfrm>
            <a:off x="960120" y="2971800"/>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2971800"/>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24712" y="3081528"/>
            <a:ext cx="1325880" cy="219456"/>
          </a:xfrm>
          <a:prstGeom prst="rect">
            <a:avLst/>
          </a:prstGeom>
          <a:noFill/>
        </p:spPr>
        <p:txBody>
          <a:bodyPr wrap="square" lIns="73152" rIns="73152">
            <a:noAutofit/>
          </a:bodyPr>
          <a:lstStyle/>
          <a:p>
            <a:r>
              <a:rPr sz="1050" b="1">
                <a:solidFill>
                  <a:srgbClr val="18211F"/>
                </a:solidFill>
                <a:latin typeface="Aptos"/>
              </a:rPr>
              <a:t>1</a:t>
            </a:r>
          </a:p>
        </p:txBody>
      </p:sp>
      <p:sp>
        <p:nvSpPr>
          <p:cNvPr id="15" name="TextBox 14"/>
          <p:cNvSpPr txBox="1"/>
          <p:nvPr/>
        </p:nvSpPr>
        <p:spPr>
          <a:xfrm>
            <a:off x="2578608" y="3081528"/>
            <a:ext cx="2441447" cy="219456"/>
          </a:xfrm>
          <a:prstGeom prst="rect">
            <a:avLst/>
          </a:prstGeom>
          <a:noFill/>
        </p:spPr>
        <p:txBody>
          <a:bodyPr wrap="square" lIns="73152" rIns="73152">
            <a:noAutofit/>
          </a:bodyPr>
          <a:lstStyle/>
          <a:p>
            <a:r>
              <a:rPr sz="950" b="0">
                <a:solidFill>
                  <a:srgbClr val="52615C"/>
                </a:solidFill>
                <a:latin typeface="Aptos"/>
              </a:rPr>
              <a:t>Run baseline gate</a:t>
            </a:r>
          </a:p>
        </p:txBody>
      </p:sp>
      <p:sp>
        <p:nvSpPr>
          <p:cNvPr id="16" name="Rectangle 15"/>
          <p:cNvSpPr/>
          <p:nvPr/>
        </p:nvSpPr>
        <p:spPr>
          <a:xfrm>
            <a:off x="960120" y="3465576"/>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3465576"/>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24712" y="3575304"/>
            <a:ext cx="1325880" cy="219456"/>
          </a:xfrm>
          <a:prstGeom prst="rect">
            <a:avLst/>
          </a:prstGeom>
          <a:noFill/>
        </p:spPr>
        <p:txBody>
          <a:bodyPr wrap="square" lIns="73152" rIns="73152">
            <a:noAutofit/>
          </a:bodyPr>
          <a:lstStyle/>
          <a:p>
            <a:r>
              <a:rPr sz="1050" b="1">
                <a:solidFill>
                  <a:srgbClr val="18211F"/>
                </a:solidFill>
                <a:latin typeface="Aptos"/>
              </a:rPr>
              <a:t>2</a:t>
            </a:r>
          </a:p>
        </p:txBody>
      </p:sp>
      <p:sp>
        <p:nvSpPr>
          <p:cNvPr id="19" name="TextBox 18"/>
          <p:cNvSpPr txBox="1"/>
          <p:nvPr/>
        </p:nvSpPr>
        <p:spPr>
          <a:xfrm>
            <a:off x="2578608" y="3575304"/>
            <a:ext cx="2441447" cy="219456"/>
          </a:xfrm>
          <a:prstGeom prst="rect">
            <a:avLst/>
          </a:prstGeom>
          <a:noFill/>
        </p:spPr>
        <p:txBody>
          <a:bodyPr wrap="square" lIns="73152" rIns="73152">
            <a:noAutofit/>
          </a:bodyPr>
          <a:lstStyle/>
          <a:p>
            <a:r>
              <a:rPr sz="950" b="0">
                <a:solidFill>
                  <a:srgbClr val="52615C"/>
                </a:solidFill>
                <a:latin typeface="Aptos"/>
              </a:rPr>
              <a:t>Ask the short task prompt</a:t>
            </a:r>
          </a:p>
        </p:txBody>
      </p:sp>
      <p:sp>
        <p:nvSpPr>
          <p:cNvPr id="20" name="Rectangle 19"/>
          <p:cNvSpPr/>
          <p:nvPr/>
        </p:nvSpPr>
        <p:spPr>
          <a:xfrm>
            <a:off x="960120" y="3959352"/>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 y="3959352"/>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24712" y="4069080"/>
            <a:ext cx="1325880" cy="219456"/>
          </a:xfrm>
          <a:prstGeom prst="rect">
            <a:avLst/>
          </a:prstGeom>
          <a:noFill/>
        </p:spPr>
        <p:txBody>
          <a:bodyPr wrap="square" lIns="73152" rIns="73152">
            <a:noAutofit/>
          </a:bodyPr>
          <a:lstStyle/>
          <a:p>
            <a:r>
              <a:rPr sz="1050" b="1">
                <a:solidFill>
                  <a:srgbClr val="18211F"/>
                </a:solidFill>
                <a:latin typeface="Aptos"/>
              </a:rPr>
              <a:t>3</a:t>
            </a:r>
          </a:p>
        </p:txBody>
      </p:sp>
      <p:sp>
        <p:nvSpPr>
          <p:cNvPr id="23" name="TextBox 22"/>
          <p:cNvSpPr txBox="1"/>
          <p:nvPr/>
        </p:nvSpPr>
        <p:spPr>
          <a:xfrm>
            <a:off x="2578608" y="4069080"/>
            <a:ext cx="2441447" cy="219456"/>
          </a:xfrm>
          <a:prstGeom prst="rect">
            <a:avLst/>
          </a:prstGeom>
          <a:noFill/>
        </p:spPr>
        <p:txBody>
          <a:bodyPr wrap="square" lIns="73152" rIns="73152">
            <a:noAutofit/>
          </a:bodyPr>
          <a:lstStyle/>
          <a:p>
            <a:r>
              <a:rPr sz="950" b="0">
                <a:solidFill>
                  <a:srgbClr val="52615C"/>
                </a:solidFill>
                <a:latin typeface="Aptos"/>
              </a:rPr>
              <a:t>Inspect changed files</a:t>
            </a:r>
          </a:p>
        </p:txBody>
      </p:sp>
      <p:sp>
        <p:nvSpPr>
          <p:cNvPr id="24" name="Rectangle 23"/>
          <p:cNvSpPr/>
          <p:nvPr/>
        </p:nvSpPr>
        <p:spPr>
          <a:xfrm>
            <a:off x="960120" y="4453128"/>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60120" y="4453128"/>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24712" y="4562856"/>
            <a:ext cx="1325880" cy="219456"/>
          </a:xfrm>
          <a:prstGeom prst="rect">
            <a:avLst/>
          </a:prstGeom>
          <a:noFill/>
        </p:spPr>
        <p:txBody>
          <a:bodyPr wrap="square" lIns="73152" rIns="73152">
            <a:noAutofit/>
          </a:bodyPr>
          <a:lstStyle/>
          <a:p>
            <a:r>
              <a:rPr sz="1050" b="1">
                <a:solidFill>
                  <a:srgbClr val="18211F"/>
                </a:solidFill>
                <a:latin typeface="Aptos"/>
              </a:rPr>
              <a:t>4</a:t>
            </a:r>
          </a:p>
        </p:txBody>
      </p:sp>
      <p:sp>
        <p:nvSpPr>
          <p:cNvPr id="27" name="TextBox 26"/>
          <p:cNvSpPr txBox="1"/>
          <p:nvPr/>
        </p:nvSpPr>
        <p:spPr>
          <a:xfrm>
            <a:off x="2578608" y="4562856"/>
            <a:ext cx="2441447" cy="219456"/>
          </a:xfrm>
          <a:prstGeom prst="rect">
            <a:avLst/>
          </a:prstGeom>
          <a:noFill/>
        </p:spPr>
        <p:txBody>
          <a:bodyPr wrap="square" lIns="73152" rIns="73152">
            <a:noAutofit/>
          </a:bodyPr>
          <a:lstStyle/>
          <a:p>
            <a:r>
              <a:rPr sz="950" b="0">
                <a:solidFill>
                  <a:srgbClr val="52615C"/>
                </a:solidFill>
                <a:latin typeface="Aptos"/>
              </a:rPr>
              <a:t>Run the gate again</a:t>
            </a:r>
          </a:p>
        </p:txBody>
      </p:sp>
      <p:sp>
        <p:nvSpPr>
          <p:cNvPr id="28" name="Rectangle 27"/>
          <p:cNvSpPr/>
          <p:nvPr/>
        </p:nvSpPr>
        <p:spPr>
          <a:xfrm>
            <a:off x="960120" y="4946904"/>
            <a:ext cx="4206240" cy="384048"/>
          </a:xfrm>
          <a:prstGeom prst="rect">
            <a:avLst/>
          </a:prstGeom>
          <a:solidFill>
            <a:srgbClr val="FFFFF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60120" y="4946904"/>
            <a:ext cx="54864" cy="3840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24712" y="5056632"/>
            <a:ext cx="1325880" cy="219456"/>
          </a:xfrm>
          <a:prstGeom prst="rect">
            <a:avLst/>
          </a:prstGeom>
          <a:noFill/>
        </p:spPr>
        <p:txBody>
          <a:bodyPr wrap="square" lIns="73152" rIns="73152">
            <a:noAutofit/>
          </a:bodyPr>
          <a:lstStyle/>
          <a:p>
            <a:r>
              <a:rPr sz="1050" b="1">
                <a:solidFill>
                  <a:srgbClr val="18211F"/>
                </a:solidFill>
                <a:latin typeface="Aptos"/>
              </a:rPr>
              <a:t>5</a:t>
            </a:r>
          </a:p>
        </p:txBody>
      </p:sp>
      <p:sp>
        <p:nvSpPr>
          <p:cNvPr id="31" name="TextBox 30"/>
          <p:cNvSpPr txBox="1"/>
          <p:nvPr/>
        </p:nvSpPr>
        <p:spPr>
          <a:xfrm>
            <a:off x="2578608" y="5056632"/>
            <a:ext cx="2441447" cy="219456"/>
          </a:xfrm>
          <a:prstGeom prst="rect">
            <a:avLst/>
          </a:prstGeom>
          <a:noFill/>
        </p:spPr>
        <p:txBody>
          <a:bodyPr wrap="square" lIns="73152" rIns="73152">
            <a:noAutofit/>
          </a:bodyPr>
          <a:lstStyle/>
          <a:p>
            <a:r>
              <a:rPr sz="950" b="0">
                <a:solidFill>
                  <a:srgbClr val="52615C"/>
                </a:solidFill>
                <a:latin typeface="Aptos"/>
              </a:rPr>
              <a:t>Discuss what the harness provided</a:t>
            </a:r>
          </a:p>
        </p:txBody>
      </p:sp>
      <p:sp>
        <p:nvSpPr>
          <p:cNvPr id="32" name="Rectangle 31"/>
          <p:cNvSpPr/>
          <p:nvPr/>
        </p:nvSpPr>
        <p:spPr>
          <a:xfrm>
            <a:off x="5943600" y="2194560"/>
            <a:ext cx="4846320" cy="210312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943600" y="2194560"/>
            <a:ext cx="54864" cy="210312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08192" y="2313432"/>
            <a:ext cx="4553712" cy="256032"/>
          </a:xfrm>
          <a:prstGeom prst="rect">
            <a:avLst/>
          </a:prstGeom>
          <a:noFill/>
        </p:spPr>
        <p:txBody>
          <a:bodyPr wrap="square" lIns="73152" rIns="73152">
            <a:noAutofit/>
          </a:bodyPr>
          <a:lstStyle/>
          <a:p>
            <a:r>
              <a:rPr sz="1300" b="1">
                <a:solidFill>
                  <a:srgbClr val="18211F"/>
                </a:solidFill>
                <a:latin typeface="Aptos"/>
              </a:rPr>
              <a:t>What learners should notice</a:t>
            </a:r>
          </a:p>
        </p:txBody>
      </p:sp>
      <p:sp>
        <p:nvSpPr>
          <p:cNvPr id="35" name="TextBox 34"/>
          <p:cNvSpPr txBox="1"/>
          <p:nvPr/>
        </p:nvSpPr>
        <p:spPr>
          <a:xfrm>
            <a:off x="6108192" y="2633472"/>
            <a:ext cx="4553712" cy="1600199"/>
          </a:xfrm>
          <a:prstGeom prst="rect">
            <a:avLst/>
          </a:prstGeom>
          <a:noFill/>
        </p:spPr>
        <p:txBody>
          <a:bodyPr wrap="square" lIns="73152" rIns="73152">
            <a:noAutofit/>
          </a:bodyPr>
          <a:lstStyle/>
          <a:p>
            <a:r>
              <a:rPr sz="1050" b="0">
                <a:solidFill>
                  <a:srgbClr val="52615C"/>
                </a:solidFill>
                <a:latin typeface="Aptos"/>
              </a:rPr>
              <a:t>The task file provides acceptance criteria. AGENTS.md provides workflow. Architecture docs point to router.py. Tests and scripts prove the result.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3EA"/>
        </a:solidFill>
        <a:effectLst/>
      </p:bgPr>
    </p:bg>
    <p:spTree>
      <p:nvGrpSpPr>
        <p:cNvPr id="1" name=""/>
        <p:cNvGrpSpPr/>
        <p:nvPr/>
      </p:nvGrpSpPr>
      <p:grpSpPr>
        <a:xfrm>
          <a:off x="0" y="0"/>
          <a:ext cx="0" cy="0"/>
          <a:chOff x="0" y="0"/>
          <a:chExt cx="0" cy="0"/>
        </a:xfrm>
      </p:grpSpPr>
      <p:sp>
        <p:nvSpPr>
          <p:cNvPr id="2" name="Rectangle 1"/>
          <p:cNvSpPr/>
          <p:nvPr/>
        </p:nvSpPr>
        <p:spPr>
          <a:xfrm>
            <a:off x="411480" y="320040"/>
            <a:ext cx="292608" cy="41148"/>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246888"/>
            <a:ext cx="2011680" cy="256032"/>
          </a:xfrm>
          <a:prstGeom prst="rect">
            <a:avLst/>
          </a:prstGeom>
          <a:noFill/>
        </p:spPr>
        <p:txBody>
          <a:bodyPr wrap="square" lIns="73152" rIns="73152">
            <a:noAutofit/>
          </a:bodyPr>
          <a:lstStyle/>
          <a:p>
            <a:r>
              <a:rPr sz="900" b="1">
                <a:solidFill>
                  <a:srgbClr val="163B34"/>
                </a:solidFill>
                <a:latin typeface="Aptos"/>
              </a:rPr>
              <a:t>BUILD YOURS</a:t>
            </a:r>
          </a:p>
        </p:txBody>
      </p:sp>
      <p:sp>
        <p:nvSpPr>
          <p:cNvPr id="4" name="TextBox 3"/>
          <p:cNvSpPr txBox="1"/>
          <p:nvPr/>
        </p:nvSpPr>
        <p:spPr>
          <a:xfrm>
            <a:off x="411480" y="658368"/>
            <a:ext cx="8778240" cy="713232"/>
          </a:xfrm>
          <a:prstGeom prst="rect">
            <a:avLst/>
          </a:prstGeom>
          <a:noFill/>
        </p:spPr>
        <p:txBody>
          <a:bodyPr wrap="square" lIns="73152" rIns="73152">
            <a:noAutofit/>
          </a:bodyPr>
          <a:lstStyle/>
          <a:p>
            <a:r>
              <a:rPr sz="2400" b="1">
                <a:solidFill>
                  <a:srgbClr val="18211F"/>
                </a:solidFill>
                <a:latin typeface="Aptos Display"/>
              </a:rPr>
              <a:t>Start with a minimum viable harness.</a:t>
            </a:r>
          </a:p>
        </p:txBody>
      </p:sp>
      <p:sp>
        <p:nvSpPr>
          <p:cNvPr id="5" name="TextBox 4"/>
          <p:cNvSpPr txBox="1"/>
          <p:nvPr/>
        </p:nvSpPr>
        <p:spPr>
          <a:xfrm>
            <a:off x="429768" y="1353312"/>
            <a:ext cx="8046720" cy="384048"/>
          </a:xfrm>
          <a:prstGeom prst="rect">
            <a:avLst/>
          </a:prstGeom>
          <a:noFill/>
        </p:spPr>
        <p:txBody>
          <a:bodyPr wrap="square" lIns="73152" rIns="73152">
            <a:noAutofit/>
          </a:bodyPr>
          <a:lstStyle/>
          <a:p>
            <a:r>
              <a:rPr sz="1220" b="0">
                <a:solidFill>
                  <a:srgbClr val="52615C"/>
                </a:solidFill>
                <a:latin typeface="Aptos"/>
              </a:rPr>
              <a:t>You do not need a platform team to begin. Start with one repo, one task, and one quality gate.</a:t>
            </a:r>
          </a:p>
        </p:txBody>
      </p:sp>
      <p:sp>
        <p:nvSpPr>
          <p:cNvPr id="6" name="TextBox 5"/>
          <p:cNvSpPr txBox="1"/>
          <p:nvPr/>
        </p:nvSpPr>
        <p:spPr>
          <a:xfrm>
            <a:off x="411480" y="6547104"/>
            <a:ext cx="3657600" cy="182880"/>
          </a:xfrm>
          <a:prstGeom prst="rect">
            <a:avLst/>
          </a:prstGeom>
          <a:noFill/>
        </p:spPr>
        <p:txBody>
          <a:bodyPr wrap="square" lIns="73152" rIns="73152">
            <a:noAutofit/>
          </a:bodyPr>
          <a:lstStyle/>
          <a:p>
            <a:r>
              <a:rPr sz="750" b="0">
                <a:solidFill>
                  <a:srgbClr val="52615C"/>
                </a:solidFill>
                <a:latin typeface="Aptos"/>
              </a:rPr>
              <a:t>Harness engineering workshop</a:t>
            </a:r>
          </a:p>
        </p:txBody>
      </p:sp>
      <p:sp>
        <p:nvSpPr>
          <p:cNvPr id="7" name="TextBox 6"/>
          <p:cNvSpPr txBox="1"/>
          <p:nvPr/>
        </p:nvSpPr>
        <p:spPr>
          <a:xfrm>
            <a:off x="11292840" y="6528816"/>
            <a:ext cx="411480" cy="182880"/>
          </a:xfrm>
          <a:prstGeom prst="rect">
            <a:avLst/>
          </a:prstGeom>
          <a:noFill/>
        </p:spPr>
        <p:txBody>
          <a:bodyPr wrap="square" lIns="73152" rIns="73152">
            <a:noAutofit/>
          </a:bodyPr>
          <a:lstStyle/>
          <a:p>
            <a:pPr algn="r"/>
            <a:r>
              <a:rPr sz="750" b="0">
                <a:solidFill>
                  <a:srgbClr val="52615C"/>
                </a:solidFill>
                <a:latin typeface="Aptos"/>
              </a:rPr>
              <a:t>16</a:t>
            </a:r>
          </a:p>
        </p:txBody>
      </p:sp>
      <p:sp>
        <p:nvSpPr>
          <p:cNvPr id="8" name="Rectangle 7"/>
          <p:cNvSpPr/>
          <p:nvPr/>
        </p:nvSpPr>
        <p:spPr>
          <a:xfrm>
            <a:off x="1005840" y="2148840"/>
            <a:ext cx="2971800" cy="1600200"/>
          </a:xfrm>
          <a:prstGeom prst="rect">
            <a:avLst/>
          </a:prstGeom>
          <a:solidFill>
            <a:srgbClr val="DDE8DF"/>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05840" y="2148840"/>
            <a:ext cx="54864" cy="1600200"/>
          </a:xfrm>
          <a:prstGeom prst="rect">
            <a:avLst/>
          </a:prstGeom>
          <a:solidFill>
            <a:srgbClr val="163B34"/>
          </a:solidFill>
          <a:ln w="10160">
            <a:solidFill>
              <a:srgbClr val="163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70432" y="2267712"/>
            <a:ext cx="2679192" cy="256032"/>
          </a:xfrm>
          <a:prstGeom prst="rect">
            <a:avLst/>
          </a:prstGeom>
          <a:noFill/>
        </p:spPr>
        <p:txBody>
          <a:bodyPr wrap="square" lIns="73152" rIns="73152">
            <a:noAutofit/>
          </a:bodyPr>
          <a:lstStyle/>
          <a:p>
            <a:r>
              <a:rPr sz="1300" b="1">
                <a:solidFill>
                  <a:srgbClr val="18211F"/>
                </a:solidFill>
                <a:latin typeface="Aptos"/>
              </a:rPr>
              <a:t>Start</a:t>
            </a:r>
          </a:p>
        </p:txBody>
      </p:sp>
      <p:sp>
        <p:nvSpPr>
          <p:cNvPr id="11" name="TextBox 10"/>
          <p:cNvSpPr txBox="1"/>
          <p:nvPr/>
        </p:nvSpPr>
        <p:spPr>
          <a:xfrm>
            <a:off x="1170432" y="2587752"/>
            <a:ext cx="2679192" cy="1097280"/>
          </a:xfrm>
          <a:prstGeom prst="rect">
            <a:avLst/>
          </a:prstGeom>
          <a:noFill/>
        </p:spPr>
        <p:txBody>
          <a:bodyPr wrap="square" lIns="73152" rIns="73152">
            <a:noAutofit/>
          </a:bodyPr>
          <a:lstStyle/>
          <a:p>
            <a:r>
              <a:rPr sz="1050" b="0">
                <a:solidFill>
                  <a:srgbClr val="52615C"/>
                </a:solidFill>
                <a:latin typeface="Aptos"/>
              </a:rPr>
              <a:t>AGENTS.md
One quality gate
One task brief</a:t>
            </a:r>
          </a:p>
        </p:txBody>
      </p:sp>
      <p:cxnSp>
        <p:nvCxnSpPr>
          <p:cNvPr id="12" name="Connector 11"/>
          <p:cNvCxnSpPr/>
          <p:nvPr/>
        </p:nvCxnSpPr>
        <p:spPr>
          <a:xfrm>
            <a:off x="3977639" y="2953512"/>
            <a:ext cx="594361"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617720" y="2148840"/>
            <a:ext cx="2971800" cy="1600200"/>
          </a:xfrm>
          <a:prstGeom prst="rect">
            <a:avLst/>
          </a:prstGeom>
          <a:solidFill>
            <a:srgbClr val="DCE9F7"/>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617720" y="2148840"/>
            <a:ext cx="54864" cy="1600200"/>
          </a:xfrm>
          <a:prstGeom prst="rect">
            <a:avLst/>
          </a:prstGeom>
          <a:solidFill>
            <a:srgbClr val="2B6CB0"/>
          </a:solidFill>
          <a:ln w="10160">
            <a:solidFill>
              <a:srgbClr val="2B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82312" y="2267712"/>
            <a:ext cx="2679192" cy="256032"/>
          </a:xfrm>
          <a:prstGeom prst="rect">
            <a:avLst/>
          </a:prstGeom>
          <a:noFill/>
        </p:spPr>
        <p:txBody>
          <a:bodyPr wrap="square" lIns="73152" rIns="73152">
            <a:noAutofit/>
          </a:bodyPr>
          <a:lstStyle/>
          <a:p>
            <a:r>
              <a:rPr sz="1300" b="1">
                <a:solidFill>
                  <a:srgbClr val="18211F"/>
                </a:solidFill>
                <a:latin typeface="Aptos"/>
              </a:rPr>
              <a:t>Strengthen</a:t>
            </a:r>
          </a:p>
        </p:txBody>
      </p:sp>
      <p:sp>
        <p:nvSpPr>
          <p:cNvPr id="16" name="TextBox 15"/>
          <p:cNvSpPr txBox="1"/>
          <p:nvPr/>
        </p:nvSpPr>
        <p:spPr>
          <a:xfrm>
            <a:off x="4782312" y="2587752"/>
            <a:ext cx="2679192" cy="1097280"/>
          </a:xfrm>
          <a:prstGeom prst="rect">
            <a:avLst/>
          </a:prstGeom>
          <a:noFill/>
        </p:spPr>
        <p:txBody>
          <a:bodyPr wrap="square" lIns="73152" rIns="73152">
            <a:noAutofit/>
          </a:bodyPr>
          <a:lstStyle/>
          <a:p>
            <a:r>
              <a:rPr sz="1050" b="0">
                <a:solidFill>
                  <a:srgbClr val="52615C"/>
                </a:solidFill>
                <a:latin typeface="Aptos"/>
              </a:rPr>
              <a:t>Lint + tests
CI required check
Runbook</a:t>
            </a:r>
          </a:p>
        </p:txBody>
      </p:sp>
      <p:cxnSp>
        <p:nvCxnSpPr>
          <p:cNvPr id="17" name="Connector 16"/>
          <p:cNvCxnSpPr/>
          <p:nvPr/>
        </p:nvCxnSpPr>
        <p:spPr>
          <a:xfrm>
            <a:off x="7589520" y="2953512"/>
            <a:ext cx="594359" cy="0"/>
          </a:xfrm>
          <a:prstGeom prst="line">
            <a:avLst/>
          </a:prstGeom>
          <a:ln w="15240">
            <a:solidFill>
              <a:srgbClr val="163B34"/>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8229600" y="2148840"/>
            <a:ext cx="2971800" cy="1600200"/>
          </a:xfrm>
          <a:prstGeom prst="rect">
            <a:avLst/>
          </a:prstGeom>
          <a:solidFill>
            <a:srgbClr val="F3E2C8"/>
          </a:solidFill>
          <a:ln w="10160">
            <a:solidFill>
              <a:srgbClr val="D8D0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0" y="2148840"/>
            <a:ext cx="54864" cy="1600200"/>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94192" y="2267712"/>
            <a:ext cx="2679192" cy="256032"/>
          </a:xfrm>
          <a:prstGeom prst="rect">
            <a:avLst/>
          </a:prstGeom>
          <a:noFill/>
        </p:spPr>
        <p:txBody>
          <a:bodyPr wrap="square" lIns="73152" rIns="73152">
            <a:noAutofit/>
          </a:bodyPr>
          <a:lstStyle/>
          <a:p>
            <a:r>
              <a:rPr sz="1300" b="1">
                <a:solidFill>
                  <a:srgbClr val="18211F"/>
                </a:solidFill>
                <a:latin typeface="Aptos"/>
              </a:rPr>
              <a:t>Compound</a:t>
            </a:r>
          </a:p>
        </p:txBody>
      </p:sp>
      <p:sp>
        <p:nvSpPr>
          <p:cNvPr id="21" name="TextBox 20"/>
          <p:cNvSpPr txBox="1"/>
          <p:nvPr/>
        </p:nvSpPr>
        <p:spPr>
          <a:xfrm>
            <a:off x="8394192" y="2587752"/>
            <a:ext cx="2679192" cy="1097280"/>
          </a:xfrm>
          <a:prstGeom prst="rect">
            <a:avLst/>
          </a:prstGeom>
          <a:noFill/>
        </p:spPr>
        <p:txBody>
          <a:bodyPr wrap="square" lIns="73152" rIns="73152">
            <a:noAutofit/>
          </a:bodyPr>
          <a:lstStyle/>
          <a:p>
            <a:r>
              <a:rPr sz="1050" b="0">
                <a:solidFill>
                  <a:srgbClr val="52615C"/>
                </a:solidFill>
                <a:latin typeface="Aptos"/>
              </a:rPr>
              <a:t>ADRs
Architecture checks
Recurring cleanup</a:t>
            </a:r>
          </a:p>
        </p:txBody>
      </p:sp>
      <p:sp>
        <p:nvSpPr>
          <p:cNvPr id="22" name="TextBox 21"/>
          <p:cNvSpPr txBox="1"/>
          <p:nvPr/>
        </p:nvSpPr>
        <p:spPr>
          <a:xfrm>
            <a:off x="1554480" y="4892040"/>
            <a:ext cx="8961120" cy="365760"/>
          </a:xfrm>
          <a:prstGeom prst="rect">
            <a:avLst/>
          </a:prstGeom>
          <a:noFill/>
        </p:spPr>
        <p:txBody>
          <a:bodyPr wrap="square" lIns="73152" rIns="73152">
            <a:noAutofit/>
          </a:bodyPr>
          <a:lstStyle/>
          <a:p>
            <a:pPr algn="ctr"/>
            <a:r>
              <a:rPr sz="1700" b="1">
                <a:solidFill>
                  <a:srgbClr val="163B34"/>
                </a:solidFill>
                <a:latin typeface="Aptos"/>
              </a:rPr>
              <a:t>Start with one repo. Make the next agent run easier than the last 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63B34"/>
        </a:solidFill>
        <a:effectLst/>
      </p:bgPr>
    </p:bg>
    <p:spTree>
      <p:nvGrpSpPr>
        <p:cNvPr id="1" name=""/>
        <p:cNvGrpSpPr/>
        <p:nvPr/>
      </p:nvGrpSpPr>
      <p:grpSpPr>
        <a:xfrm>
          <a:off x="0" y="0"/>
          <a:ext cx="0" cy="0"/>
          <a:chOff x="0" y="0"/>
          <a:chExt cx="0" cy="0"/>
        </a:xfrm>
      </p:grpSpPr>
      <p:sp>
        <p:nvSpPr>
          <p:cNvPr id="2" name="TextBox 1"/>
          <p:cNvSpPr txBox="1"/>
          <p:nvPr/>
        </p:nvSpPr>
        <p:spPr>
          <a:xfrm>
            <a:off x="685800" y="566928"/>
            <a:ext cx="1828800" cy="228600"/>
          </a:xfrm>
          <a:prstGeom prst="rect">
            <a:avLst/>
          </a:prstGeom>
          <a:noFill/>
        </p:spPr>
        <p:txBody>
          <a:bodyPr wrap="square" lIns="73152" rIns="73152">
            <a:noAutofit/>
          </a:bodyPr>
          <a:lstStyle/>
          <a:p>
            <a:r>
              <a:rPr sz="900" b="1">
                <a:solidFill>
                  <a:srgbClr val="DDE8DF"/>
                </a:solidFill>
                <a:latin typeface="Aptos"/>
              </a:rPr>
              <a:t>TAKEAWAY</a:t>
            </a:r>
          </a:p>
        </p:txBody>
      </p:sp>
      <p:sp>
        <p:nvSpPr>
          <p:cNvPr id="3" name="TextBox 2"/>
          <p:cNvSpPr txBox="1"/>
          <p:nvPr/>
        </p:nvSpPr>
        <p:spPr>
          <a:xfrm>
            <a:off x="685800" y="1325880"/>
            <a:ext cx="9875520" cy="1188720"/>
          </a:xfrm>
          <a:prstGeom prst="rect">
            <a:avLst/>
          </a:prstGeom>
          <a:noFill/>
        </p:spPr>
        <p:txBody>
          <a:bodyPr wrap="square" lIns="73152" rIns="73152">
            <a:noAutofit/>
          </a:bodyPr>
          <a:lstStyle/>
          <a:p>
            <a:r>
              <a:rPr sz="3100" b="1">
                <a:solidFill>
                  <a:srgbClr val="F7F3EA"/>
                </a:solidFill>
                <a:latin typeface="Aptos Display"/>
              </a:rPr>
              <a:t>Harness engineering makes agent work
teachable, repeatable, and reviewable.</a:t>
            </a:r>
          </a:p>
        </p:txBody>
      </p:sp>
      <p:sp>
        <p:nvSpPr>
          <p:cNvPr id="4" name="Rectangle 3"/>
          <p:cNvSpPr/>
          <p:nvPr/>
        </p:nvSpPr>
        <p:spPr>
          <a:xfrm>
            <a:off x="777240" y="3337560"/>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3246120"/>
            <a:ext cx="6949440" cy="256032"/>
          </a:xfrm>
          <a:prstGeom prst="rect">
            <a:avLst/>
          </a:prstGeom>
          <a:noFill/>
        </p:spPr>
        <p:txBody>
          <a:bodyPr wrap="square" lIns="73152" rIns="73152">
            <a:noAutofit/>
          </a:bodyPr>
          <a:lstStyle/>
          <a:p>
            <a:r>
              <a:rPr sz="1400" b="0">
                <a:solidFill>
                  <a:srgbClr val="F7F3EA"/>
                </a:solidFill>
                <a:latin typeface="Aptos"/>
              </a:rPr>
              <a:t>Put durable instructions in the repo.</a:t>
            </a:r>
          </a:p>
        </p:txBody>
      </p:sp>
      <p:sp>
        <p:nvSpPr>
          <p:cNvPr id="6" name="Rectangle 5"/>
          <p:cNvSpPr/>
          <p:nvPr/>
        </p:nvSpPr>
        <p:spPr>
          <a:xfrm>
            <a:off x="777240" y="3776472"/>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3685031"/>
            <a:ext cx="6949440" cy="256032"/>
          </a:xfrm>
          <a:prstGeom prst="rect">
            <a:avLst/>
          </a:prstGeom>
          <a:noFill/>
        </p:spPr>
        <p:txBody>
          <a:bodyPr wrap="square" lIns="73152" rIns="73152">
            <a:noAutofit/>
          </a:bodyPr>
          <a:lstStyle/>
          <a:p>
            <a:r>
              <a:rPr sz="1400" b="0">
                <a:solidFill>
                  <a:srgbClr val="F7F3EA"/>
                </a:solidFill>
                <a:latin typeface="Aptos"/>
              </a:rPr>
              <a:t>Make verification one command.</a:t>
            </a:r>
          </a:p>
        </p:txBody>
      </p:sp>
      <p:sp>
        <p:nvSpPr>
          <p:cNvPr id="8" name="Rectangle 7"/>
          <p:cNvSpPr/>
          <p:nvPr/>
        </p:nvSpPr>
        <p:spPr>
          <a:xfrm>
            <a:off x="777240" y="4215383"/>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4123944"/>
            <a:ext cx="6949440" cy="256032"/>
          </a:xfrm>
          <a:prstGeom prst="rect">
            <a:avLst/>
          </a:prstGeom>
          <a:noFill/>
        </p:spPr>
        <p:txBody>
          <a:bodyPr wrap="square" lIns="73152" rIns="73152">
            <a:noAutofit/>
          </a:bodyPr>
          <a:lstStyle/>
          <a:p>
            <a:r>
              <a:rPr sz="1400" b="0">
                <a:solidFill>
                  <a:srgbClr val="F7F3EA"/>
                </a:solidFill>
                <a:latin typeface="Aptos"/>
              </a:rPr>
              <a:t>Encode standards as checks.</a:t>
            </a:r>
          </a:p>
        </p:txBody>
      </p:sp>
      <p:sp>
        <p:nvSpPr>
          <p:cNvPr id="10" name="Rectangle 9"/>
          <p:cNvSpPr/>
          <p:nvPr/>
        </p:nvSpPr>
        <p:spPr>
          <a:xfrm>
            <a:off x="777240" y="4654296"/>
            <a:ext cx="82296" cy="82296"/>
          </a:xfrm>
          <a:prstGeom prst="rect">
            <a:avLst/>
          </a:prstGeom>
          <a:solidFill>
            <a:srgbClr val="C9792A"/>
          </a:solidFill>
          <a:ln w="10160">
            <a:solidFill>
              <a:srgbClr val="C97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4562856"/>
            <a:ext cx="6949440" cy="256032"/>
          </a:xfrm>
          <a:prstGeom prst="rect">
            <a:avLst/>
          </a:prstGeom>
          <a:noFill/>
        </p:spPr>
        <p:txBody>
          <a:bodyPr wrap="square" lIns="73152" rIns="73152">
            <a:noAutofit/>
          </a:bodyPr>
          <a:lstStyle/>
          <a:p>
            <a:r>
              <a:rPr sz="1400" b="0">
                <a:solidFill>
                  <a:srgbClr val="F7F3EA"/>
                </a:solidFill>
                <a:latin typeface="Aptos"/>
              </a:rPr>
              <a:t>Treat bad agent output as harness feedback.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2854</Words>
  <Application>Microsoft Macintosh PowerPoint</Application>
  <PresentationFormat>Widescreen</PresentationFormat>
  <Paragraphs>319</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Usama Dar</cp:lastModifiedBy>
  <cp:revision>2</cp:revision>
  <dcterms:created xsi:type="dcterms:W3CDTF">2013-01-27T09:14:16Z</dcterms:created>
  <dcterms:modified xsi:type="dcterms:W3CDTF">2026-05-14T17:55:16Z</dcterms:modified>
  <cp:category/>
</cp:coreProperties>
</file>