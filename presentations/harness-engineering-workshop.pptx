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90855a411c2448f" /><Relationship Type="http://schemas.openxmlformats.org/officeDocument/2006/relationships/extended-properties" Target="/docProps/app.xml" Id="Rf163f887a6394e54" /><Relationship Type="http://schemas.openxmlformats.org/officeDocument/2006/relationships/officeDocument" Target="/ppt/presentation.xml" Id="Refa275692d5842d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822d755e1b74121"/>
  </p:sldMasterIdLst>
  <p:notesMasterIdLst>
    <p:notesMasterId xmlns:r="http://schemas.openxmlformats.org/officeDocument/2006/relationships" r:id="Rb36473014f8b44cb"/>
  </p:notesMasterIdLst>
  <p:sldIdLst>
    <p:sldId xmlns:r="http://schemas.openxmlformats.org/officeDocument/2006/relationships" id="256" r:id="R6443b569087241f2"/>
    <p:sldId xmlns:r="http://schemas.openxmlformats.org/officeDocument/2006/relationships" id="257" r:id="R29640af4f00b4f0d"/>
    <p:sldId xmlns:r="http://schemas.openxmlformats.org/officeDocument/2006/relationships" id="258" r:id="Rcd71a2c31a4243fa"/>
    <p:sldId xmlns:r="http://schemas.openxmlformats.org/officeDocument/2006/relationships" id="259" r:id="Rc0a3c61b094e4235"/>
    <p:sldId xmlns:r="http://schemas.openxmlformats.org/officeDocument/2006/relationships" id="260" r:id="R9e08616e310a4de9"/>
    <p:sldId xmlns:r="http://schemas.openxmlformats.org/officeDocument/2006/relationships" id="261" r:id="R883fb02c9a084d10"/>
    <p:sldId xmlns:r="http://schemas.openxmlformats.org/officeDocument/2006/relationships" id="262" r:id="R11d623640db94852"/>
    <p:sldId xmlns:r="http://schemas.openxmlformats.org/officeDocument/2006/relationships" id="263" r:id="R1ea6e81329c641de"/>
    <p:sldId xmlns:r="http://schemas.openxmlformats.org/officeDocument/2006/relationships" id="264" r:id="Rcf936631e2f04dd3"/>
    <p:sldId xmlns:r="http://schemas.openxmlformats.org/officeDocument/2006/relationships" id="265" r:id="Rd73127f1bf084d6b"/>
    <p:sldId xmlns:r="http://schemas.openxmlformats.org/officeDocument/2006/relationships" id="266" r:id="R3312d04032434579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822d755e1b74121" /><Relationship Type="http://schemas.openxmlformats.org/officeDocument/2006/relationships/theme" Target="/ppt/theme/theme1.xml" Id="R32ad6680bad541c6" /><Relationship Type="http://schemas.openxmlformats.org/officeDocument/2006/relationships/notesMaster" Target="/ppt/notesMasters/notesMaster1.xml" Id="Rb36473014f8b44cb" /><Relationship Type="http://schemas.openxmlformats.org/officeDocument/2006/relationships/presProps" Target="/ppt/presProps.xml" Id="R14e15390f351439a" /><Relationship Type="http://schemas.openxmlformats.org/officeDocument/2006/relationships/viewProps" Target="/ppt/viewProps.xml" Id="Rd8192151b394476e" /><Relationship Type="http://schemas.openxmlformats.org/officeDocument/2006/relationships/tableStyles" Target="/ppt/tableStyles.xml" Id="Rfe52a7a2b4344685" /><Relationship Type="http://schemas.openxmlformats.org/officeDocument/2006/relationships/slide" Target="/ppt/slides/slide1.xml" Id="R6443b569087241f2" /><Relationship Type="http://schemas.openxmlformats.org/officeDocument/2006/relationships/slide" Target="/ppt/slides/slide2.xml" Id="R29640af4f00b4f0d" /><Relationship Type="http://schemas.openxmlformats.org/officeDocument/2006/relationships/slide" Target="/ppt/slides/slide3.xml" Id="Rcd71a2c31a4243fa" /><Relationship Type="http://schemas.openxmlformats.org/officeDocument/2006/relationships/slide" Target="/ppt/slides/slide4.xml" Id="Rc0a3c61b094e4235" /><Relationship Type="http://schemas.openxmlformats.org/officeDocument/2006/relationships/slide" Target="/ppt/slides/slide5.xml" Id="R9e08616e310a4de9" /><Relationship Type="http://schemas.openxmlformats.org/officeDocument/2006/relationships/slide" Target="/ppt/slides/slide6.xml" Id="R883fb02c9a084d10" /><Relationship Type="http://schemas.openxmlformats.org/officeDocument/2006/relationships/slide" Target="/ppt/slides/slide7.xml" Id="R11d623640db94852" /><Relationship Type="http://schemas.openxmlformats.org/officeDocument/2006/relationships/slide" Target="/ppt/slides/slide8.xml" Id="R1ea6e81329c641de" /><Relationship Type="http://schemas.openxmlformats.org/officeDocument/2006/relationships/slide" Target="/ppt/slides/slide9.xml" Id="Rcf936631e2f04dd3" /><Relationship Type="http://schemas.openxmlformats.org/officeDocument/2006/relationships/slide" Target="/ppt/slides/slide10.xml" Id="Rd73127f1bf084d6b" /><Relationship Type="http://schemas.openxmlformats.org/officeDocument/2006/relationships/slide" Target="/ppt/slides/slide11.xml" Id="R3312d0403243457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e75792cda8ce426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252d9f261384326" /><Relationship Type="http://schemas.openxmlformats.org/officeDocument/2006/relationships/notesMaster" Target="/ppt/notesMasters/notesMaster1.xml" Id="R789e4e6053f94e6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32578d8b88f4bd1" /><Relationship Type="http://schemas.openxmlformats.org/officeDocument/2006/relationships/notesMaster" Target="/ppt/notesMasters/notesMaster1.xml" Id="R9fa3b2c3f09f4e0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669fb64c01642cc" /><Relationship Type="http://schemas.openxmlformats.org/officeDocument/2006/relationships/notesMaster" Target="/ppt/notesMasters/notesMaster1.xml" Id="Re606927a0b3e44a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87278ea56404992" /><Relationship Type="http://schemas.openxmlformats.org/officeDocument/2006/relationships/notesMaster" Target="/ppt/notesMasters/notesMaster1.xml" Id="R5cc0fa803c06444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150307f586641b2" /><Relationship Type="http://schemas.openxmlformats.org/officeDocument/2006/relationships/notesMaster" Target="/ppt/notesMasters/notesMaster1.xml" Id="R51de001fe9c2497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ab5ddfd116f4170" /><Relationship Type="http://schemas.openxmlformats.org/officeDocument/2006/relationships/notesMaster" Target="/ppt/notesMasters/notesMaster1.xml" Id="R936be5f2edc0473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cfb5bdb703d4d3d" /><Relationship Type="http://schemas.openxmlformats.org/officeDocument/2006/relationships/notesMaster" Target="/ppt/notesMasters/notesMaster1.xml" Id="R8a9f586ada2348c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3d700aa0b0b47f5" /><Relationship Type="http://schemas.openxmlformats.org/officeDocument/2006/relationships/notesMaster" Target="/ppt/notesMasters/notesMaster1.xml" Id="Rc35dd2b5ab5a4a4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e9144b2d26748b3" /><Relationship Type="http://schemas.openxmlformats.org/officeDocument/2006/relationships/notesMaster" Target="/ppt/notesMasters/notesMaster1.xml" Id="R03e2050d683f44cf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ad5cd421af64020" /><Relationship Type="http://schemas.openxmlformats.org/officeDocument/2006/relationships/notesMaster" Target="/ppt/notesMasters/notesMaster1.xml" Id="R9c37e3e22c894d6a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e4987579abb0455b" /><Relationship Type="http://schemas.openxmlformats.org/officeDocument/2006/relationships/notesMaster" Target="/ppt/notesMasters/notesMaster1.xml" Id="R0ffc7332aa3b41a5" />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Harness engineering is the work around the agent.</a:t>
            </a:r>
          </a:p>
          <a:p>
            <a:r>
              <a:rPr lang="en-US"/>
              <a:t>Open by separating the model from the system around it. The agent may write the code, but the harness gives it context, tools, checks, and boundaries.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 harness gives an agent five kinds of traction.</a:t>
            </a:r>
          </a:p>
          <a:p>
            <a:r>
              <a:rPr lang="en-US"/>
              <a:t>Walk through the five layers: context, execution, feedback, governance, and memory. Emphasize that each layer reduces ambiguity for both humans and agents.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The prompt gets shorter as the harness gets stronger.</a:t>
            </a:r>
          </a:p>
          <a:p>
            <a:r>
              <a:rPr lang="en-US"/>
              <a:t>Say the goal clearly: durable instructions should move out of prompts and into the repo. The best demo prompt is simply `Complete tasks/01-add-sla-classification.md`.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Our demo repo keeps the app tiny and the harness visible.</a:t>
            </a:r>
          </a:p>
          <a:p>
            <a:r>
              <a:rPr lang="en-US"/>
              <a:t>Explain that the app is intentionally small: a ticket router. The repo is the teaching object because the harness is easy to inspect.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The harness tells the agent what to read and where to change code.</a:t>
            </a:r>
          </a:p>
          <a:p>
            <a:r>
              <a:rPr lang="en-US"/>
              <a:t>Show how the task brief, `AGENTS.md`, architecture docs, router, and tests form a path. This narrows the search space before the agent edits.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The quality gate makes standards executable.</a:t>
            </a:r>
          </a:p>
          <a:p>
            <a:r>
              <a:rPr lang="en-US"/>
              <a:t>Run `python3 scripts/check.py`. Point out the sequence: lint, harness doctor, docs checks, tests, and CLI smoke 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Coding standards become rules, not wishes.</a:t>
            </a:r>
          </a:p>
          <a:p>
            <a:r>
              <a:rPr lang="en-US"/>
              <a:t>Use the CLI architecture rule as the concrete example. The standard says business rules belong in `TicketRouter`; the linter enforces that boundary.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The live demo should need only one short task prompt.</a:t>
            </a:r>
          </a:p>
          <a:p>
            <a:r>
              <a:rPr lang="en-US"/>
              <a:t>Use this prompt: `Complete tasks/01-add-sla-classification.md`. After the agent finishes, show `git diff` and run `python3 scripts/check.py`.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Failure is a feature when the harness catches drift.</a:t>
            </a:r>
          </a:p>
          <a:p>
            <a:r>
              <a:rPr lang="en-US"/>
              <a:t>Optional live moment: move `docs/runbook.md` temporarily and run the quality gate. Restore it afterwards. The point is that drift becomes visible.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Build the harness in layers, not in one heroic rewrite.</a:t>
            </a:r>
          </a:p>
          <a:p>
            <a:r>
              <a:rPr lang="en-US"/>
              <a:t>Give the team a practical path: first instructions and one command, then CI and runbooks, then architecture checks and recurring cleanup.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Less prompt ritual. More engineering leverage.</a:t>
            </a:r>
          </a:p>
          <a:p>
            <a:r>
              <a:rPr lang="en-US"/>
              <a:t>Close with the operating principle: treat bad agent output as feedback about the harness. Improve the system, not just the prompt.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87315f21ac644e3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35492eca47eb42fd" /><Relationship Type="http://schemas.openxmlformats.org/officeDocument/2006/relationships/slideLayout" Target="/ppt/slideLayouts/slideLayout2.xml" Id="R388058422914437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88058422914437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1bd7df2b8ae4b5d" /><Relationship Type="http://schemas.openxmlformats.org/officeDocument/2006/relationships/notesSlide" Target="/ppt/notesSlides/notesSlide1.xml" Id="Rfb06ee2e591a4a9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98217f5a6a54be7" /><Relationship Type="http://schemas.openxmlformats.org/officeDocument/2006/relationships/notesSlide" Target="/ppt/notesSlides/notesSlide2.xml" Id="Refff65c5e3f04ab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1ad73fd0ec04ebf" /><Relationship Type="http://schemas.openxmlformats.org/officeDocument/2006/relationships/notesSlide" Target="/ppt/notesSlides/notesSlide3.xml" Id="Rbdc6d7b04e114bb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f45d5e071094057" /><Relationship Type="http://schemas.openxmlformats.org/officeDocument/2006/relationships/notesSlide" Target="/ppt/notesSlides/notesSlide4.xml" Id="R197d931a6f1e446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2d715dc264d4e07" /><Relationship Type="http://schemas.openxmlformats.org/officeDocument/2006/relationships/notesSlide" Target="/ppt/notesSlides/notesSlide5.xml" Id="R8a5b61388083406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d1e9b8e54da4215" /><Relationship Type="http://schemas.openxmlformats.org/officeDocument/2006/relationships/notesSlide" Target="/ppt/notesSlides/notesSlide6.xml" Id="R4d9737d04880422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7d37e50b028430d" /><Relationship Type="http://schemas.openxmlformats.org/officeDocument/2006/relationships/notesSlide" Target="/ppt/notesSlides/notesSlide7.xml" Id="R2f527b775c874e4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7dd8ef452024496" /><Relationship Type="http://schemas.openxmlformats.org/officeDocument/2006/relationships/notesSlide" Target="/ppt/notesSlides/notesSlide8.xml" Id="R072006c091c14bb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fbe016ac2544c2b" /><Relationship Type="http://schemas.openxmlformats.org/officeDocument/2006/relationships/notesSlide" Target="/ppt/notesSlides/notesSlide9.xml" Id="R7c158cb526354ab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65a4b3ac6c64ce1" /><Relationship Type="http://schemas.openxmlformats.org/officeDocument/2006/relationships/notesSlide" Target="/ppt/notesSlides/notesSlide10.xml" Id="Rc2042248c4f9420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76fecd1e02f4008" /><Relationship Type="http://schemas.openxmlformats.org/officeDocument/2006/relationships/notesSlide" Target="/ppt/notesSlides/notesSlide11.xml" Id="R2aee9e961bfa45cd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81BBE85-AAF5-4697-BEE5-48C2B1B14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2598711-839C-4E7D-9D9A-17DBCA3E6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57950"/>
            <a:ext cx="400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2615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2615C"/>
                </a:solidFill>
                <a:latin typeface="Aptos"/>
                <a:ea typeface="Aptos"/>
                <a:cs typeface="Aptos"/>
              </a:rPr>
              <a:t>Harness engineering workshop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F90DAD-A802-42A6-B17C-6E3A91C1C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419850"/>
            <a:ext cx="4572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1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2615C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B1FBB9-7067-4F3F-ADBC-70145C05D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"/>
            <a:ext cx="304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3B3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D74CA3-651D-4BED-B918-78664ACF5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1475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63B34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63B34"/>
                </a:solidFill>
                <a:latin typeface="Aptos"/>
                <a:ea typeface="Aptos"/>
                <a:cs typeface="Aptos"/>
              </a:rPr>
              <a:t>OPENING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066B1A0-DA5C-423A-883B-EC286CADB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00100"/>
            <a:ext cx="8191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8211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18211F"/>
                </a:solidFill>
                <a:latin typeface="Aptos Display"/>
                <a:ea typeface="Aptos Display"/>
                <a:cs typeface="Aptos Display"/>
              </a:rPr>
              <a:t>Harness engineering is the work around the agent.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918CE4F-AE52-4117-A256-CEEB28125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57350"/>
            <a:ext cx="6572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15C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2615C"/>
                </a:solidFill>
                <a:latin typeface="Aptos"/>
                <a:ea typeface="Aptos"/>
                <a:cs typeface="Aptos"/>
              </a:rPr>
              <a:t>The agent writes code. The harness makes the work legible, testable, and steerable.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6109981-216D-4C56-BC53-B8E3BB8E8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2781300"/>
            <a:ext cx="16954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2C8"/>
          </a:solidFill>
          <a:ln xmlns:a="http://schemas.openxmlformats.org/drawingml/2006/main" w="9525">
            <a:solidFill>
              <a:srgbClr val="D8D0C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D6EC29-C4DD-42FB-8C72-237F74A91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2914650"/>
            <a:ext cx="13906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8211F"/>
                </a:solidFill>
                <a:latin typeface="Aptos"/>
                <a:ea typeface="Aptos"/>
                <a:cs typeface="Aptos"/>
              </a:rPr>
              <a:t>Human intent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4C317EC-89FA-46F0-B043-532463AB0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781300"/>
            <a:ext cx="16954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8DF"/>
          </a:solidFill>
          <a:ln xmlns:a="http://schemas.openxmlformats.org/drawingml/2006/main" w="9525">
            <a:solidFill>
              <a:srgbClr val="D8D0C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15E5DC9-1C7D-4B64-BB4A-7084BC307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914650"/>
            <a:ext cx="13906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8211F"/>
                </a:solidFill>
                <a:latin typeface="Aptos"/>
                <a:ea typeface="Aptos"/>
                <a:cs typeface="Aptos"/>
              </a:rPr>
              <a:t>Repo harness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5469C8A-F5C9-43FA-9F7D-2108B5ED5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781300"/>
            <a:ext cx="16954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9F7"/>
          </a:solidFill>
          <a:ln xmlns:a="http://schemas.openxmlformats.org/drawingml/2006/main" w="9525">
            <a:solidFill>
              <a:srgbClr val="D8D0C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D408F3E-5A84-45B8-AA30-A13B85076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914650"/>
            <a:ext cx="13906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8211F"/>
                </a:solidFill>
                <a:latin typeface="Aptos"/>
                <a:ea typeface="Aptos"/>
                <a:cs typeface="Aptos"/>
              </a:rPr>
              <a:t>Agent work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772470D-452F-45BD-9631-C788807AB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2781300"/>
            <a:ext cx="16954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0C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FD2E4EC-4334-4886-A687-9B6AA952E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2914650"/>
            <a:ext cx="13906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8211F"/>
                </a:solidFill>
                <a:latin typeface="Aptos"/>
                <a:ea typeface="Aptos"/>
                <a:cs typeface="Aptos"/>
              </a:rPr>
              <a:t>Fast feedback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B36E415-7192-43AE-B658-3699B3826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228975"/>
            <a:ext cx="800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3B3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C41B729-3E3D-4A6D-98DF-0858AEB59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190875"/>
            <a:ext cx="95250" cy="952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163B3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8AB41EC-A64A-48F1-9156-6C02CE491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3228975"/>
            <a:ext cx="800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3B3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547DBB9-C6B3-4537-83CC-9F2F54C89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190875"/>
            <a:ext cx="95250" cy="952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163B3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3B3F617-EF12-4C90-A59C-5F769713C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228975"/>
            <a:ext cx="800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3B3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4F62667-A457-4C30-AD9D-956E44218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3190875"/>
            <a:ext cx="95250" cy="952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163B3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EE255EC-DA3C-48CC-9013-B3E875BDA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3695700"/>
            <a:ext cx="190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3B3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A3C39BD-1076-46DA-AC35-56B5E81FB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4486275"/>
            <a:ext cx="-74866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3B3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5C33B8F-7B15-4FEC-8D3D-727980CCB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4448175"/>
            <a:ext cx="95250" cy="952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163B3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F63D2DD-9FD3-45C8-9432-016BE2530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5075" y="4495800"/>
            <a:ext cx="19050" cy="-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3B3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142F3C2-751E-4C49-BB05-DF47ABAE8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9700"/>
            <a:ext cx="20002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D8D0C2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F636EED-0343-4F57-9B67-6FFF68B71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9700"/>
            <a:ext cx="571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3B3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3F5B702-66B4-45F8-921A-A2899E7DD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334000"/>
            <a:ext cx="17335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18211F"/>
                </a:solidFill>
                <a:latin typeface="Aptos"/>
                <a:ea typeface="Aptos"/>
                <a:cs typeface="Aptos"/>
              </a:rPr>
              <a:t>8/10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52613D2-55E6-4B6D-9B74-3752F66B6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676900"/>
            <a:ext cx="1733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1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2615C"/>
                </a:solidFill>
                <a:latin typeface="Aptos"/>
                <a:ea typeface="Aptos"/>
                <a:cs typeface="Aptos"/>
              </a:rPr>
              <a:t>target harness maturity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41C4F9A-1FCB-4908-B736-DDB6275DB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5219700"/>
            <a:ext cx="20002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D8D0C2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E90376F-75E3-4796-A2CD-138955BB7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5219700"/>
            <a:ext cx="571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6CB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86E9836-1F62-4EF8-9167-24169D3A9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5334000"/>
            <a:ext cx="17335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18211F"/>
                </a:solidFill>
                <a:latin typeface="Aptos"/>
                <a:ea typeface="Aptos"/>
                <a:cs typeface="Aptos"/>
              </a:rPr>
              <a:t>1 command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204DE4D-C403-46D6-9378-B25BE58F6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5676900"/>
            <a:ext cx="1733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1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2615C"/>
                </a:solidFill>
                <a:latin typeface="Aptos"/>
                <a:ea typeface="Aptos"/>
                <a:cs typeface="Aptos"/>
              </a:rPr>
              <a:t>local quality gate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4D8DE2F-C4AD-4F81-9529-503696359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5219700"/>
            <a:ext cx="23812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D8D0C2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6BE364F-0249-4ADB-9ADB-E6D73133B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5219700"/>
            <a:ext cx="571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79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3FB3FFC-BBA2-4530-BF20-3F42602E6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5334000"/>
            <a:ext cx="21145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18211F"/>
                </a:solidFill>
                <a:latin typeface="Aptos"/>
                <a:ea typeface="Aptos"/>
                <a:cs typeface="Aptos"/>
              </a:rPr>
              <a:t>Short prompt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06314D8-12F2-448D-B80C-5F23C1D8A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5676900"/>
            <a:ext cx="2114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1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2615C"/>
                </a:solidFill>
                <a:latin typeface="Aptos"/>
                <a:ea typeface="Aptos"/>
                <a:cs typeface="Aptos"/>
              </a:rPr>
              <a:t>because repo carries context</a:t>
            </a:r>
          </a:p>
        </p:txBody>
      </p:sp>
    </p:spTree>
    <p:extLst>
      <p:ext uri="{BB962C8B-B14F-4D97-AF65-F5344CB8AC3E}">
        <p14:creationId xmlns:p14="http://schemas.microsoft.com/office/powerpoint/2010/main" val="356365066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2FBD3EB-E02C-4B30-BB14-120871B21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BD520DC-FD73-49E6-991D-ABB7A6EF7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57950"/>
            <a:ext cx="400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2615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2615C"/>
                </a:solidFill>
                <a:latin typeface="Aptos"/>
                <a:ea typeface="Aptos"/>
                <a:cs typeface="Aptos"/>
              </a:rPr>
              <a:t>Harness engineering workshop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F3399CF-77D8-430F-9317-A569FCCC5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419850"/>
            <a:ext cx="4572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1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2615C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FF9C7F-B76D-4415-9EAB-3019845AB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"/>
            <a:ext cx="304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3B3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39CD755-D508-45B3-9969-FD22BBF3E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1475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63B34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63B34"/>
                </a:solidFill>
                <a:latin typeface="Aptos"/>
                <a:ea typeface="Aptos"/>
                <a:cs typeface="Aptos"/>
              </a:rPr>
              <a:t>MODEL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9FF765C-BB30-45C5-AA81-D4F54BCFD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00100"/>
            <a:ext cx="8191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8211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18211F"/>
                </a:solidFill>
                <a:latin typeface="Aptos Display"/>
                <a:ea typeface="Aptos Display"/>
                <a:cs typeface="Aptos Display"/>
              </a:rPr>
              <a:t>A harness gives an agent five kinds of traction.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BB150FD-056D-416B-B387-BD6AC6FD3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57350"/>
            <a:ext cx="6572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15C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2615C"/>
                </a:solidFill>
                <a:latin typeface="Aptos"/>
                <a:ea typeface="Aptos"/>
                <a:cs typeface="Aptos"/>
              </a:rPr>
              <a:t>Strong agent performance comes from the system around the model, not from prompts alone.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C923DE7-0D8C-4F51-BF7E-1D38EDE2D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343150"/>
            <a:ext cx="9906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8DF"/>
          </a:solidFill>
          <a:ln xmlns:a="http://schemas.openxmlformats.org/drawingml/2006/main" w="9525">
            <a:solidFill>
              <a:srgbClr val="D8D0C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94CE509-A622-4ED4-BAF3-95E66E8B8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476500"/>
            <a:ext cx="1524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8211F"/>
                </a:solidFill>
                <a:latin typeface="Aptos"/>
                <a:ea typeface="Aptos"/>
                <a:cs typeface="Aptos"/>
              </a:rPr>
              <a:t>Context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B62AEE2-E9BD-4809-B060-62BCC6EC1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505075"/>
            <a:ext cx="666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15C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2615C"/>
                </a:solidFill>
                <a:latin typeface="Aptos"/>
                <a:ea typeface="Aptos"/>
                <a:cs typeface="Aptos"/>
              </a:rPr>
              <a:t>AGENTS.md, architecture, task briefs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4570BEC-C99B-4CF3-9F90-7BE5B5416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009900"/>
            <a:ext cx="9906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0C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C2AD797-4828-4DDB-9CAA-0D39E10F1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143250"/>
            <a:ext cx="1524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8211F"/>
                </a:solidFill>
                <a:latin typeface="Aptos"/>
                <a:ea typeface="Aptos"/>
                <a:cs typeface="Aptos"/>
              </a:rPr>
              <a:t>Execution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5980BD0-B78E-4FFA-9440-F852D80D4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171825"/>
            <a:ext cx="666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15C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2615C"/>
                </a:solidFill>
                <a:latin typeface="Aptos"/>
                <a:ea typeface="Aptos"/>
                <a:cs typeface="Aptos"/>
              </a:rPr>
              <a:t>Makefile, local commands, no external services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EBB60B0-2F71-4131-BF0A-B8069CD02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76650"/>
            <a:ext cx="9906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9F7"/>
          </a:solidFill>
          <a:ln xmlns:a="http://schemas.openxmlformats.org/drawingml/2006/main" w="9525">
            <a:solidFill>
              <a:srgbClr val="D8D0C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130F406-0339-44D6-8385-E401E9DBF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810000"/>
            <a:ext cx="1524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8211F"/>
                </a:solidFill>
                <a:latin typeface="Aptos"/>
                <a:ea typeface="Aptos"/>
                <a:cs typeface="Aptos"/>
              </a:rPr>
              <a:t>Feedback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D238EC9-41D4-4B69-B0CB-4A9632303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838575"/>
            <a:ext cx="666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15C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2615C"/>
                </a:solidFill>
                <a:latin typeface="Aptos"/>
                <a:ea typeface="Aptos"/>
                <a:cs typeface="Aptos"/>
              </a:rPr>
              <a:t>lint, tests, docs checks, smoke test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294B4E2-518A-4073-BC6A-F2BED5074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343400"/>
            <a:ext cx="9906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2C8"/>
          </a:solidFill>
          <a:ln xmlns:a="http://schemas.openxmlformats.org/drawingml/2006/main" w="9525">
            <a:solidFill>
              <a:srgbClr val="D8D0C2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793717D-13D5-47F7-A0E2-0337B5D98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476750"/>
            <a:ext cx="1524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8211F"/>
                </a:solidFill>
                <a:latin typeface="Aptos"/>
                <a:ea typeface="Aptos"/>
                <a:cs typeface="Aptos"/>
              </a:rPr>
              <a:t>Governance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41299D7-F195-46F7-BDCE-223435741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4505325"/>
            <a:ext cx="666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15C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2615C"/>
                </a:solidFill>
                <a:latin typeface="Aptos"/>
                <a:ea typeface="Aptos"/>
                <a:cs typeface="Aptos"/>
              </a:rPr>
              <a:t>PR template, ADRs, architecture lint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D8E945E-EEA4-4544-B71B-45632EF04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010150"/>
            <a:ext cx="9906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1D3"/>
          </a:solidFill>
          <a:ln xmlns:a="http://schemas.openxmlformats.org/drawingml/2006/main" w="9525">
            <a:solidFill>
              <a:srgbClr val="D8D0C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C9BE189-96C0-4EE7-9A05-396A661D0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5143500"/>
            <a:ext cx="1524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8211F"/>
                </a:solidFill>
                <a:latin typeface="Aptos"/>
                <a:ea typeface="Aptos"/>
                <a:cs typeface="Aptos"/>
              </a:rPr>
              <a:t>Memory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9F37FA1-2041-404B-9941-786CBC014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5172075"/>
            <a:ext cx="666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15C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2615C"/>
                </a:solidFill>
                <a:latin typeface="Aptos"/>
                <a:ea typeface="Aptos"/>
                <a:cs typeface="Aptos"/>
              </a:rPr>
              <a:t>runbook, scorecard, prompt recipes</a:t>
            </a:r>
          </a:p>
        </p:txBody>
      </p:sp>
    </p:spTree>
    <p:extLst>
      <p:ext uri="{BB962C8B-B14F-4D97-AF65-F5344CB8AC3E}">
        <p14:creationId xmlns:p14="http://schemas.microsoft.com/office/powerpoint/2010/main" val="14706915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878D849-3308-49E4-A4FE-6E5439741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2B4232-565B-400A-8810-CC1DE5B01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57950"/>
            <a:ext cx="400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2615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2615C"/>
                </a:solidFill>
                <a:latin typeface="Aptos"/>
                <a:ea typeface="Aptos"/>
                <a:cs typeface="Aptos"/>
              </a:rPr>
              <a:t>Harness engineering workshop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9FC264F-4297-4383-B3EF-B715785D9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419850"/>
            <a:ext cx="4572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1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2615C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A28878-541D-4FAA-A9A1-FDD5E188C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"/>
            <a:ext cx="304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3B3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3E5E25-2907-482C-ACC9-3A33C4DD3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1475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63B34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63B34"/>
                </a:solidFill>
                <a:latin typeface="Aptos"/>
                <a:ea typeface="Aptos"/>
                <a:cs typeface="Aptos"/>
              </a:rPr>
              <a:t>SHIFT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A4EBBD0-0CD2-4983-8A57-9CA072AA0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00100"/>
            <a:ext cx="8191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8211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18211F"/>
                </a:solidFill>
                <a:latin typeface="Aptos Display"/>
                <a:ea typeface="Aptos Display"/>
                <a:cs typeface="Aptos Display"/>
              </a:rPr>
              <a:t>The prompt gets shorter as the harness gets stronger.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E7E4E93-DD1D-44E4-B355-7F71826E3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57350"/>
            <a:ext cx="6572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15C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2615C"/>
                </a:solidFill>
                <a:latin typeface="Aptos"/>
                <a:ea typeface="Aptos"/>
                <a:cs typeface="Aptos"/>
              </a:rPr>
              <a:t>The operating goal is to move durable instructions into the repo, checks, and review flow.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6C214FD-BC9A-4AD8-BE1C-79E219B3F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90800"/>
            <a:ext cx="43053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2C8"/>
          </a:solidFill>
          <a:ln xmlns:a="http://schemas.openxmlformats.org/drawingml/2006/main" w="9525">
            <a:solidFill>
              <a:srgbClr val="D8D0C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C165527-9436-4E70-A053-9864C27B6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724150"/>
            <a:ext cx="4000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8211F"/>
                </a:solidFill>
                <a:latin typeface="Aptos"/>
                <a:ea typeface="Aptos"/>
                <a:cs typeface="Aptos"/>
              </a:rPr>
              <a:t>Prompt-heavy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D7BE66D-D44E-434C-A8FA-FA20B4C1B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590800"/>
            <a:ext cx="43053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8DF"/>
          </a:solidFill>
          <a:ln xmlns:a="http://schemas.openxmlformats.org/drawingml/2006/main" w="9525">
            <a:solidFill>
              <a:srgbClr val="D8D0C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1FD31B3-FBE5-4DE5-9ED9-86AD873DA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724150"/>
            <a:ext cx="4000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8211F"/>
                </a:solidFill>
                <a:latin typeface="Aptos"/>
                <a:ea typeface="Aptos"/>
                <a:cs typeface="Aptos"/>
              </a:rPr>
              <a:t>Harness-heavy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42E3BB4-DF6C-4DA8-9528-C0A367FF4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448050"/>
            <a:ext cx="430530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11F"/>
          </a:solidFill>
          <a:ln xmlns:a="http://schemas.openxmlformats.org/drawingml/2006/main" w="9525">
            <a:solidFill>
              <a:srgbClr val="18211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0775F25-33EE-4BFB-BA04-A71A1846B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600450"/>
            <a:ext cx="3962400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 Mono"/>
                <a:ea typeface="Aptos Mono"/>
                <a:cs typeface="Aptos Mono"/>
              </a:defRPr>
            </a:pPr>
            <a:r>
              <a:rPr sz="1200" b="0">
                <a:solidFill>
                  <a:srgbClr val="F7F3EA"/>
                </a:solidFill>
                <a:latin typeface="Aptos Mono"/>
                <a:ea typeface="Aptos Mono"/>
                <a:cs typeface="Aptos Mono"/>
              </a:rPr>
              <a:t>Complete the task.</a:t>
            </a:r>
          </a:p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 Mono"/>
                <a:ea typeface="Aptos Mono"/>
                <a:cs typeface="Aptos Mono"/>
              </a:defRPr>
            </a:pPr>
            <a:r>
              <a:rPr sz="1200" b="0">
                <a:solidFill>
                  <a:srgbClr val="F7F3EA"/>
                </a:solidFill>
                <a:latin typeface="Aptos Mono"/>
                <a:ea typeface="Aptos Mono"/>
                <a:cs typeface="Aptos Mono"/>
              </a:rPr>
              <a:t>Read the architecture docs.</a:t>
            </a:r>
          </a:p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 Mono"/>
                <a:ea typeface="Aptos Mono"/>
                <a:cs typeface="Aptos Mono"/>
              </a:defRPr>
            </a:pPr>
            <a:r>
              <a:rPr sz="1200" b="0">
                <a:solidFill>
                  <a:srgbClr val="F7F3EA"/>
                </a:solidFill>
                <a:latin typeface="Aptos Mono"/>
                <a:ea typeface="Aptos Mono"/>
                <a:cs typeface="Aptos Mono"/>
              </a:rPr>
              <a:t>Keep rules out of the CLI.</a:t>
            </a:r>
          </a:p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 Mono"/>
                <a:ea typeface="Aptos Mono"/>
                <a:cs typeface="Aptos Mono"/>
              </a:defRPr>
            </a:pPr>
            <a:r>
              <a:rPr sz="1200" b="0">
                <a:solidFill>
                  <a:srgbClr val="F7F3EA"/>
                </a:solidFill>
                <a:latin typeface="Aptos Mono"/>
                <a:ea typeface="Aptos Mono"/>
                <a:cs typeface="Aptos Mono"/>
              </a:rPr>
              <a:t>Add tests.</a:t>
            </a:r>
          </a:p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 Mono"/>
                <a:ea typeface="Aptos Mono"/>
                <a:cs typeface="Aptos Mono"/>
              </a:defRPr>
            </a:pPr>
            <a:r>
              <a:rPr sz="1200" b="0">
                <a:solidFill>
                  <a:srgbClr val="F7F3EA"/>
                </a:solidFill>
                <a:latin typeface="Aptos Mono"/>
                <a:ea typeface="Aptos Mono"/>
                <a:cs typeface="Aptos Mono"/>
              </a:rPr>
              <a:t>Run the quality gate.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24F85EF-0B78-4B2C-AB40-A659818A2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448050"/>
            <a:ext cx="430530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11F"/>
          </a:solidFill>
          <a:ln xmlns:a="http://schemas.openxmlformats.org/drawingml/2006/main" w="9525">
            <a:solidFill>
              <a:srgbClr val="18211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202B3CC-4430-4BBB-A962-FE765162A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600450"/>
            <a:ext cx="3962400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 Mono"/>
                <a:ea typeface="Aptos Mono"/>
                <a:cs typeface="Aptos Mono"/>
              </a:defRPr>
            </a:pPr>
            <a:r>
              <a:rPr sz="1200" b="0">
                <a:solidFill>
                  <a:srgbClr val="F7F3EA"/>
                </a:solidFill>
                <a:latin typeface="Aptos Mono"/>
                <a:ea typeface="Aptos Mono"/>
                <a:cs typeface="Aptos Mono"/>
              </a:rPr>
              <a:t>Complete tasks/01-add-sla-classification.md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E7A3909-A6ED-4C18-8AFF-D75287813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4276725"/>
            <a:ext cx="1638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3B3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477ECD4-5CC0-4A36-8996-201009FCA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238625"/>
            <a:ext cx="95250" cy="952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163B3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229B698-0002-4CB7-B8D8-3E634A2FE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5353050"/>
            <a:ext cx="4095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63B34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63B34"/>
                </a:solidFill>
                <a:latin typeface="Aptos"/>
                <a:ea typeface="Aptos"/>
                <a:cs typeface="Aptos"/>
              </a:rPr>
              <a:t>Durable instructions move into files, scripts, and CI.</a:t>
            </a:r>
          </a:p>
        </p:txBody>
      </p:sp>
    </p:spTree>
    <p:extLst>
      <p:ext uri="{BB962C8B-B14F-4D97-AF65-F5344CB8AC3E}">
        <p14:creationId xmlns:p14="http://schemas.microsoft.com/office/powerpoint/2010/main" val="915092294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03F6361-91D9-4FA3-8A75-152129798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CEF83C-DF2D-4875-B743-D64DE2647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57950"/>
            <a:ext cx="400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2615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2615C"/>
                </a:solidFill>
                <a:latin typeface="Aptos"/>
                <a:ea typeface="Aptos"/>
                <a:cs typeface="Aptos"/>
              </a:rPr>
              <a:t>Harness engineering workshop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BE277BF-6AD4-4D2C-BA1A-E384B3AEC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419850"/>
            <a:ext cx="4572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1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2615C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0F3791F-9FF5-489D-AB1A-DF0C8284C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"/>
            <a:ext cx="304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3B3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A33B6ED-6089-48BF-B446-349E7CE75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1475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63B34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63B34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675E00-14F5-48CE-BF0A-9801144C2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00100"/>
            <a:ext cx="8191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8211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18211F"/>
                </a:solidFill>
                <a:latin typeface="Aptos Display"/>
                <a:ea typeface="Aptos Display"/>
                <a:cs typeface="Aptos Display"/>
              </a:rPr>
              <a:t>Our demo repo keeps the app tiny and the harness visible.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AC4FFD3-E88A-4B80-90D3-0866909AF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57350"/>
            <a:ext cx="6572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15C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2615C"/>
                </a:solidFill>
                <a:latin typeface="Aptos"/>
                <a:ea typeface="Aptos"/>
                <a:cs typeface="Aptos"/>
              </a:rPr>
              <a:t>The application is intentionally boring. The repository environment is the teaching object.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4C7C1B-E52B-42DC-BD9A-287DC5073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362200"/>
            <a:ext cx="17145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D8D0C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01686F3-48D3-4D61-AAAE-E9185C796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362200"/>
            <a:ext cx="571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3B3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6C3F88F-17B9-42AB-88AD-ADBBF8D55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0"/>
            <a:ext cx="14478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18211F"/>
                </a:solidFill>
                <a:latin typeface="Aptos"/>
                <a:ea typeface="Aptos"/>
                <a:cs typeface="Aptos"/>
              </a:rPr>
              <a:t>29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21F6683-CEAD-44B5-BD69-E9243F73F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819400"/>
            <a:ext cx="1447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1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2615C"/>
                </a:solidFill>
                <a:latin typeface="Aptos"/>
                <a:ea typeface="Aptos"/>
                <a:cs typeface="Aptos"/>
              </a:rPr>
              <a:t>repo files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EE95F92-CF95-4AF3-8A2D-2016EEF04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362200"/>
            <a:ext cx="17145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D8D0C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331C9E7-FB34-4845-81F4-69B4E3AD1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362200"/>
            <a:ext cx="571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6CB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920D662-2DC6-41C4-BAA7-83FF6D37A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476500"/>
            <a:ext cx="14478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18211F"/>
                </a:solidFill>
                <a:latin typeface="Aptos"/>
                <a:ea typeface="Aptos"/>
                <a:cs typeface="Aptos"/>
              </a:rPr>
              <a:t>1,160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1006757-FD9A-4469-BFE0-82BDA4862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819400"/>
            <a:ext cx="1447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1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2615C"/>
                </a:solidFill>
                <a:latin typeface="Aptos"/>
                <a:ea typeface="Aptos"/>
                <a:cs typeface="Aptos"/>
              </a:rPr>
              <a:t>lines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E58DD43-9A3A-4E93-AED6-BAADC3A9E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362200"/>
            <a:ext cx="17145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D8D0C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B3752DF-B7BC-48A6-B8BA-619EF9D62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362200"/>
            <a:ext cx="571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79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ADB6E23-23DD-44FA-AF87-365B7C76D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476500"/>
            <a:ext cx="14478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18211F"/>
                </a:solidFill>
                <a:latin typeface="Aptos"/>
                <a:ea typeface="Aptos"/>
                <a:cs typeface="Aptos"/>
              </a:rPr>
              <a:t>7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431FBB3-DC2B-4132-BBD5-F23413C7A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819400"/>
            <a:ext cx="1447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1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2615C"/>
                </a:solidFill>
                <a:latin typeface="Aptos"/>
                <a:ea typeface="Aptos"/>
                <a:cs typeface="Aptos"/>
              </a:rPr>
              <a:t>tests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FF1381E-D8CB-4224-B030-5C765A627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362200"/>
            <a:ext cx="20002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D8D0C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5C44AED-8C05-4F54-AD48-B0DDCC5B2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362200"/>
            <a:ext cx="571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3B3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0A1929B-195E-4055-A8A2-3A16A6A85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476500"/>
            <a:ext cx="17335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18211F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01649DB-819E-49C1-9EF9-F6581A512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819400"/>
            <a:ext cx="1733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1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2615C"/>
                </a:solidFill>
                <a:latin typeface="Aptos"/>
                <a:ea typeface="Aptos"/>
                <a:cs typeface="Aptos"/>
              </a:rPr>
              <a:t>runtime dependencies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656F26A-3D75-4A11-AD0B-F58D30C48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657600"/>
            <a:ext cx="4572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0C2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2A603CE-7779-4644-8229-BDCE603AC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790950"/>
            <a:ext cx="42672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8211F"/>
                </a:solidFill>
                <a:latin typeface="Aptos"/>
                <a:ea typeface="Aptos"/>
                <a:cs typeface="Aptos"/>
              </a:rPr>
              <a:t>AGENTS.md</a:t>
            </a:r>
          </a:p>
          <a:p xmlns:a="http://schemas.openxmlformats.org/drawingml/2006/main">
            <a:pPr algn="l">
              <a:defRPr sz="1200" b="0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8211F"/>
                </a:solidFill>
                <a:latin typeface="Aptos"/>
                <a:ea typeface="Aptos"/>
                <a:cs typeface="Aptos"/>
              </a:rPr>
              <a:t>agent workflow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DAF3E9C-33B9-4AC1-8A27-64681CA75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657600"/>
            <a:ext cx="4572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8DF"/>
          </a:solidFill>
          <a:ln xmlns:a="http://schemas.openxmlformats.org/drawingml/2006/main" w="9525">
            <a:solidFill>
              <a:srgbClr val="D8D0C2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3007A10-4F3C-4F88-BA4B-12DDD052E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790950"/>
            <a:ext cx="42672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8211F"/>
                </a:solidFill>
                <a:latin typeface="Aptos"/>
                <a:ea typeface="Aptos"/>
                <a:cs typeface="Aptos"/>
              </a:rPr>
              <a:t>docs/</a:t>
            </a:r>
          </a:p>
          <a:p xmlns:a="http://schemas.openxmlformats.org/drawingml/2006/main">
            <a:pPr algn="l">
              <a:defRPr sz="1200" b="0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8211F"/>
                </a:solidFill>
                <a:latin typeface="Aptos"/>
                <a:ea typeface="Aptos"/>
                <a:cs typeface="Aptos"/>
              </a:rPr>
              <a:t>architecture, scorecard, runbook, ADRs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604377C-588D-42E8-A022-0B8F92513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248150"/>
            <a:ext cx="4572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0C2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DA87C72-4998-4838-988B-B1FCBC516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381500"/>
            <a:ext cx="42672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8211F"/>
                </a:solidFill>
                <a:latin typeface="Aptos"/>
                <a:ea typeface="Aptos"/>
                <a:cs typeface="Aptos"/>
              </a:rPr>
              <a:t>scripts/</a:t>
            </a:r>
          </a:p>
          <a:p xmlns:a="http://schemas.openxmlformats.org/drawingml/2006/main">
            <a:pPr algn="l">
              <a:defRPr sz="1200" b="0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8211F"/>
                </a:solidFill>
                <a:latin typeface="Aptos"/>
                <a:ea typeface="Aptos"/>
                <a:cs typeface="Aptos"/>
              </a:rPr>
              <a:t>check, lint, doctor, docs contract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A14910F-A0BE-4720-A197-AD845EAA3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248150"/>
            <a:ext cx="4572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8DF"/>
          </a:solidFill>
          <a:ln xmlns:a="http://schemas.openxmlformats.org/drawingml/2006/main" w="9525">
            <a:solidFill>
              <a:srgbClr val="D8D0C2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4247B02-97E7-4BA6-9CFF-E931A7467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381500"/>
            <a:ext cx="42672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8211F"/>
                </a:solidFill>
                <a:latin typeface="Aptos"/>
                <a:ea typeface="Aptos"/>
                <a:cs typeface="Aptos"/>
              </a:rPr>
              <a:t>tests/</a:t>
            </a:r>
          </a:p>
          <a:p xmlns:a="http://schemas.openxmlformats.org/drawingml/2006/main">
            <a:pPr algn="l">
              <a:defRPr sz="1200" b="0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8211F"/>
                </a:solidFill>
                <a:latin typeface="Aptos"/>
                <a:ea typeface="Aptos"/>
                <a:cs typeface="Aptos"/>
              </a:rPr>
              <a:t>behavior and harness checks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64FDB84-ECB0-4D4D-9FE2-03031FF8A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838700"/>
            <a:ext cx="4572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0C2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4A35F69-8A7F-42E8-BB1B-D684B2D03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972050"/>
            <a:ext cx="42672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8211F"/>
                </a:solidFill>
                <a:latin typeface="Aptos"/>
                <a:ea typeface="Aptos"/>
                <a:cs typeface="Aptos"/>
              </a:rPr>
              <a:t>tasks/</a:t>
            </a:r>
          </a:p>
          <a:p xmlns:a="http://schemas.openxmlformats.org/drawingml/2006/main">
            <a:pPr algn="l">
              <a:defRPr sz="1200" b="0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8211F"/>
                </a:solidFill>
                <a:latin typeface="Aptos"/>
                <a:ea typeface="Aptos"/>
                <a:cs typeface="Aptos"/>
              </a:rPr>
              <a:t>agent-ready work briefs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815FC42-5768-4FF6-BE09-CDFE38FF3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838700"/>
            <a:ext cx="4572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8DF"/>
          </a:solidFill>
          <a:ln xmlns:a="http://schemas.openxmlformats.org/drawingml/2006/main" w="9525">
            <a:solidFill>
              <a:srgbClr val="D8D0C2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0BFE60E-DBCF-4F62-8281-352DD1BCC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972050"/>
            <a:ext cx="42672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8211F"/>
                </a:solidFill>
                <a:latin typeface="Aptos"/>
                <a:ea typeface="Aptos"/>
                <a:cs typeface="Aptos"/>
              </a:rPr>
              <a:t>.github/</a:t>
            </a:r>
          </a:p>
          <a:p xmlns:a="http://schemas.openxmlformats.org/drawingml/2006/main">
            <a:pPr algn="l">
              <a:defRPr sz="1200" b="0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8211F"/>
                </a:solidFill>
                <a:latin typeface="Aptos"/>
                <a:ea typeface="Aptos"/>
                <a:cs typeface="Aptos"/>
              </a:rPr>
              <a:t>CI and collaboration templates</a:t>
            </a:r>
          </a:p>
        </p:txBody>
      </p:sp>
    </p:spTree>
    <p:extLst>
      <p:ext uri="{BB962C8B-B14F-4D97-AF65-F5344CB8AC3E}">
        <p14:creationId xmlns:p14="http://schemas.microsoft.com/office/powerpoint/2010/main" val="128306712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A733480-64C3-4AAA-9284-48BFB005E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F208B1-6AB2-459F-9491-7AAEAF2E8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57950"/>
            <a:ext cx="400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2615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2615C"/>
                </a:solidFill>
                <a:latin typeface="Aptos"/>
                <a:ea typeface="Aptos"/>
                <a:cs typeface="Aptos"/>
              </a:rPr>
              <a:t>Harness engineering workshop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0FB60D-F241-4D44-B3DA-D3C4935E5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419850"/>
            <a:ext cx="4572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1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2615C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EF7E8BB-9029-4EBC-81FA-E454E2D0A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"/>
            <a:ext cx="304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3B3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9606A70-535A-4C64-B122-B765E8477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1475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63B34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63B34"/>
                </a:solidFill>
                <a:latin typeface="Aptos"/>
                <a:ea typeface="Aptos"/>
                <a:cs typeface="Aptos"/>
              </a:rPr>
              <a:t>CONTEXT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BC1D5EF-30EC-4A79-9BDC-E7FCD0263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00100"/>
            <a:ext cx="8191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8211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18211F"/>
                </a:solidFill>
                <a:latin typeface="Aptos Display"/>
                <a:ea typeface="Aptos Display"/>
                <a:cs typeface="Aptos Display"/>
              </a:rPr>
              <a:t>The harness tells the agent what to read and where to change code.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E2D3DAF-7637-40ED-B61A-4B6475EA6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57350"/>
            <a:ext cx="6572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15C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2615C"/>
                </a:solidFill>
                <a:latin typeface="Aptos"/>
                <a:ea typeface="Aptos"/>
                <a:cs typeface="Aptos"/>
              </a:rPr>
              <a:t>A task moves through repo-local context before it reaches implementation.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E30C3E0-F509-4036-BE14-9C276BF9D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43250"/>
            <a:ext cx="18478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0C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90593C9-3EAB-405A-896A-6EEDD6223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76600"/>
            <a:ext cx="15430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8211F"/>
                </a:solidFill>
                <a:latin typeface="Aptos"/>
                <a:ea typeface="Aptos"/>
                <a:cs typeface="Aptos"/>
              </a:rPr>
              <a:t>Task brief</a:t>
            </a:r>
          </a:p>
          <a:p xmlns:a="http://schemas.openxmlformats.org/drawingml/2006/main">
            <a:pPr algn="l">
              <a:defRPr sz="1200" b="0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8211F"/>
                </a:solidFill>
                <a:latin typeface="Aptos"/>
                <a:ea typeface="Aptos"/>
                <a:cs typeface="Aptos"/>
              </a:rPr>
              <a:t>tasks/01-sla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FEE5CF7-AF12-4D13-96A0-144C8A6D4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3590925"/>
            <a:ext cx="361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3B3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E654F8E-2240-4ECF-830D-74B94732C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3552825"/>
            <a:ext cx="95250" cy="952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163B3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C943D8-C9BE-4C81-ACBC-442839992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3143250"/>
            <a:ext cx="18478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0C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602228B-5D1E-4C08-B8B4-6A3552063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276600"/>
            <a:ext cx="15430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8211F"/>
                </a:solidFill>
                <a:latin typeface="Aptos"/>
                <a:ea typeface="Aptos"/>
                <a:cs typeface="Aptos"/>
              </a:rPr>
              <a:t>Repo rules</a:t>
            </a:r>
          </a:p>
          <a:p xmlns:a="http://schemas.openxmlformats.org/drawingml/2006/main">
            <a:pPr algn="l">
              <a:defRPr sz="1200" b="0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8211F"/>
                </a:solidFill>
                <a:latin typeface="Aptos"/>
                <a:ea typeface="Aptos"/>
                <a:cs typeface="Aptos"/>
              </a:rPr>
              <a:t>AGENTS.md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035662D-3D3F-42A6-AF61-E06F5CAA6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590925"/>
            <a:ext cx="361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3B3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32EEBF2-054E-424A-BF3A-0C443C15A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3552825"/>
            <a:ext cx="95250" cy="952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163B3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40D9A06-F1D8-4A40-9EA7-688D43621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3143250"/>
            <a:ext cx="18478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0C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4B2899E-74CE-44F8-BEBA-5565A3B6C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3276600"/>
            <a:ext cx="15430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8211F"/>
                </a:solidFill>
                <a:latin typeface="Aptos"/>
                <a:ea typeface="Aptos"/>
                <a:cs typeface="Aptos"/>
              </a:rPr>
              <a:t>System map</a:t>
            </a:r>
          </a:p>
          <a:p xmlns:a="http://schemas.openxmlformats.org/drawingml/2006/main">
            <a:pPr algn="l">
              <a:defRPr sz="1200" b="0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8211F"/>
                </a:solidFill>
                <a:latin typeface="Aptos"/>
                <a:ea typeface="Aptos"/>
                <a:cs typeface="Aptos"/>
              </a:rPr>
              <a:t>docs/architecture.md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388F6FC-95B1-4D5A-94B3-29C0CB089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590925"/>
            <a:ext cx="361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3B3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A7F20DB-FB6C-4E42-9FF8-0A9CC9150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552825"/>
            <a:ext cx="95250" cy="952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163B3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FF477BD-52E6-446A-B06A-354CC4D39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143250"/>
            <a:ext cx="18478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9F7"/>
          </a:solidFill>
          <a:ln xmlns:a="http://schemas.openxmlformats.org/drawingml/2006/main" w="9525">
            <a:solidFill>
              <a:srgbClr val="D8D0C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8C149FE-79DE-4117-8523-C97689B16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3276600"/>
            <a:ext cx="15430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8211F"/>
                </a:solidFill>
                <a:latin typeface="Aptos"/>
                <a:ea typeface="Aptos"/>
                <a:cs typeface="Aptos"/>
              </a:rPr>
              <a:t>Change point</a:t>
            </a:r>
          </a:p>
          <a:p xmlns:a="http://schemas.openxmlformats.org/drawingml/2006/main">
            <a:pPr algn="l">
              <a:defRPr sz="1200" b="1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8211F"/>
                </a:solidFill>
                <a:latin typeface="Aptos"/>
                <a:ea typeface="Aptos"/>
                <a:cs typeface="Aptos"/>
              </a:rPr>
              <a:t>router.py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B45AD1A-1C50-4320-8CA7-9C423B3C1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3590925"/>
            <a:ext cx="361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3B3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17A6C77-2E60-4BAD-A3BD-CEFFD9510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552825"/>
            <a:ext cx="95250" cy="952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163B3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6B28D28-06E2-4EBB-968B-3928C9591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3143250"/>
            <a:ext cx="18478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0C2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7F922E8-1486-4D00-B96B-F50236FB3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3276600"/>
            <a:ext cx="15430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8211F"/>
                </a:solidFill>
                <a:latin typeface="Aptos"/>
                <a:ea typeface="Aptos"/>
                <a:cs typeface="Aptos"/>
              </a:rPr>
              <a:t>Behavior proof</a:t>
            </a:r>
          </a:p>
          <a:p xmlns:a="http://schemas.openxmlformats.org/drawingml/2006/main">
            <a:pPr algn="l">
              <a:defRPr sz="1200" b="0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8211F"/>
                </a:solidFill>
                <a:latin typeface="Aptos"/>
                <a:ea typeface="Aptos"/>
                <a:cs typeface="Aptos"/>
              </a:rPr>
              <a:t>tests/test_router.py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B1461CF-3FC3-4E6E-83CA-823469FC2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4762500"/>
            <a:ext cx="6896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63B34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63B34"/>
                </a:solidFill>
                <a:latin typeface="Aptos"/>
                <a:ea typeface="Aptos"/>
                <a:cs typeface="Aptos"/>
              </a:rPr>
              <a:t>The harness narrows the search space before the first edit.</a:t>
            </a:r>
          </a:p>
        </p:txBody>
      </p:sp>
    </p:spTree>
    <p:extLst>
      <p:ext uri="{BB962C8B-B14F-4D97-AF65-F5344CB8AC3E}">
        <p14:creationId xmlns:p14="http://schemas.microsoft.com/office/powerpoint/2010/main" val="1867504426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C1B0D81-5776-427C-B571-B0ED6933B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08C43E5-776E-4669-A740-9AE3B4F6D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57950"/>
            <a:ext cx="400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2615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2615C"/>
                </a:solidFill>
                <a:latin typeface="Aptos"/>
                <a:ea typeface="Aptos"/>
                <a:cs typeface="Aptos"/>
              </a:rPr>
              <a:t>Harness engineering workshop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3203F29-503A-419E-9231-5E8A3D469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419850"/>
            <a:ext cx="4572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1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2615C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91AA74A-C9AF-45EA-9AED-3A7CBFC89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"/>
            <a:ext cx="304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3B3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2DDCE4A-64C0-4F24-9516-488FF1D50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1475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63B34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63B34"/>
                </a:solidFill>
                <a:latin typeface="Aptos"/>
                <a:ea typeface="Aptos"/>
                <a:cs typeface="Aptos"/>
              </a:rPr>
              <a:t>FEEDBACK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A72512D-2D91-4D1D-B049-CC53EA189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00100"/>
            <a:ext cx="8191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8211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18211F"/>
                </a:solidFill>
                <a:latin typeface="Aptos Display"/>
                <a:ea typeface="Aptos Display"/>
                <a:cs typeface="Aptos Display"/>
              </a:rPr>
              <a:t>The quality gate makes standards executable.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6DF8F87-098E-49AC-B07A-DA65A4348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57350"/>
            <a:ext cx="6572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15C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2615C"/>
                </a:solidFill>
                <a:latin typeface="Aptos"/>
                <a:ea typeface="Aptos"/>
                <a:cs typeface="Aptos"/>
              </a:rPr>
              <a:t>The agent gets one command that validates style, structure, behavior, and smoke-path execution.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6112598-BB31-4A31-9284-7A64CCD5D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2505075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3B3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C747FA-38E8-4510-A61E-62301A052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2657475"/>
            <a:ext cx="1905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0C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BBA0A89-FDBA-44C5-B2D6-7122F763A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305050"/>
            <a:ext cx="4572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0C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84975B7-E942-4A9E-BF19-52400BAD5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438400"/>
            <a:ext cx="42672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8211F"/>
                </a:solidFill>
                <a:latin typeface="Aptos"/>
                <a:ea typeface="Aptos"/>
                <a:cs typeface="Aptos"/>
              </a:rPr>
              <a:t>Compile</a:t>
            </a:r>
          </a:p>
          <a:p xmlns:a="http://schemas.openxmlformats.org/drawingml/2006/main">
            <a:pPr algn="l">
              <a:defRPr sz="1200" b="0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8211F"/>
                </a:solidFill>
                <a:latin typeface="Aptos"/>
                <a:ea typeface="Aptos"/>
                <a:cs typeface="Aptos"/>
              </a:rPr>
              <a:t>syntax errors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AEE4112-4617-4DC3-AB8C-8657092A6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3095625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3B3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00A76F9-2250-4EE6-B9E1-F5DB297D1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3248025"/>
            <a:ext cx="1905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0C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CF913DA-05C9-4B1D-A592-E5DBF928C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895600"/>
            <a:ext cx="4572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2C8"/>
          </a:solidFill>
          <a:ln xmlns:a="http://schemas.openxmlformats.org/drawingml/2006/main" w="9525">
            <a:solidFill>
              <a:srgbClr val="D8D0C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1000C21-4B84-4496-835E-5523CB241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3028950"/>
            <a:ext cx="42672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8211F"/>
                </a:solidFill>
                <a:latin typeface="Aptos"/>
                <a:ea typeface="Aptos"/>
                <a:cs typeface="Aptos"/>
              </a:rPr>
              <a:t>Lint</a:t>
            </a:r>
          </a:p>
          <a:p xmlns:a="http://schemas.openxmlformats.org/drawingml/2006/main">
            <a:pPr algn="l">
              <a:defRPr sz="1200" b="0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8211F"/>
                </a:solidFill>
                <a:latin typeface="Aptos"/>
                <a:ea typeface="Aptos"/>
                <a:cs typeface="Aptos"/>
              </a:rPr>
              <a:t>style + architecture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629DD53-EFCF-439D-B91B-502799F30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3686175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3B3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8ADD75D-7ABF-460C-9710-CA1E01E13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3838575"/>
            <a:ext cx="1905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0C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FE4A7EF-2ABC-4184-8993-39C8505CC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486150"/>
            <a:ext cx="4572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0C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43C8252-8D69-4A99-A9DF-E9984CA48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3619500"/>
            <a:ext cx="42672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8211F"/>
                </a:solidFill>
                <a:latin typeface="Aptos"/>
                <a:ea typeface="Aptos"/>
                <a:cs typeface="Aptos"/>
              </a:rPr>
              <a:t>Doctor</a:t>
            </a:r>
          </a:p>
          <a:p xmlns:a="http://schemas.openxmlformats.org/drawingml/2006/main">
            <a:pPr algn="l">
              <a:defRPr sz="1200" b="0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8211F"/>
                </a:solidFill>
                <a:latin typeface="Aptos"/>
                <a:ea typeface="Aptos"/>
                <a:cs typeface="Aptos"/>
              </a:rPr>
              <a:t>harness files exist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A44DD6A-52F4-4E18-93BB-5D539D4C2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4276725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3B3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69EFEF6-A70E-4F75-AE58-D8EEB6132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4429125"/>
            <a:ext cx="1905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0C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E0DBD31-BE4E-4511-9909-54BD450D7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4076700"/>
            <a:ext cx="4572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0C2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9A00E31-5110-42FF-BF30-D5443333B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4210050"/>
            <a:ext cx="42672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8211F"/>
                </a:solidFill>
                <a:latin typeface="Aptos"/>
                <a:ea typeface="Aptos"/>
                <a:cs typeface="Aptos"/>
              </a:rPr>
              <a:t>Docs</a:t>
            </a:r>
          </a:p>
          <a:p xmlns:a="http://schemas.openxmlformats.org/drawingml/2006/main">
            <a:pPr algn="l">
              <a:defRPr sz="1200" b="0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8211F"/>
                </a:solidFill>
                <a:latin typeface="Aptos"/>
                <a:ea typeface="Aptos"/>
                <a:cs typeface="Aptos"/>
              </a:rPr>
              <a:t>required sections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D72D1FC-D5CF-49BF-9AD4-9284DAD6F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4867275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3B3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936080B-5F50-4FFF-86F3-AF235A641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5019675"/>
            <a:ext cx="1905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0C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427A173-2F9E-4512-969F-154EF081F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4667250"/>
            <a:ext cx="4572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0C2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A4929F8-B240-4932-99A4-FE74114EE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4800600"/>
            <a:ext cx="42672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8211F"/>
                </a:solidFill>
                <a:latin typeface="Aptos"/>
                <a:ea typeface="Aptos"/>
                <a:cs typeface="Aptos"/>
              </a:rPr>
              <a:t>Tests</a:t>
            </a:r>
          </a:p>
          <a:p xmlns:a="http://schemas.openxmlformats.org/drawingml/2006/main">
            <a:pPr algn="l">
              <a:defRPr sz="1200" b="0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8211F"/>
                </a:solidFill>
                <a:latin typeface="Aptos"/>
                <a:ea typeface="Aptos"/>
                <a:cs typeface="Aptos"/>
              </a:rPr>
              <a:t>7 behavior checks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6A600E1-6EBC-4335-A72C-0541434EC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5457825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3B3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D00DF20-D930-4AA6-9A77-DC54BDD6A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5257800"/>
            <a:ext cx="4572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0C2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4D27BAC-69AC-449D-8058-D930F97F3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5391150"/>
            <a:ext cx="42672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8211F"/>
                </a:solidFill>
                <a:latin typeface="Aptos"/>
                <a:ea typeface="Aptos"/>
                <a:cs typeface="Aptos"/>
              </a:rPr>
              <a:t>Smoke</a:t>
            </a:r>
          </a:p>
          <a:p xmlns:a="http://schemas.openxmlformats.org/drawingml/2006/main">
            <a:pPr algn="l">
              <a:defRPr sz="1200" b="0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8211F"/>
                </a:solidFill>
                <a:latin typeface="Aptos"/>
                <a:ea typeface="Aptos"/>
                <a:cs typeface="Aptos"/>
              </a:rPr>
              <a:t>CLI path still works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9022242-8C95-4413-BDEC-4341D55FF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971800"/>
            <a:ext cx="31432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11F"/>
          </a:solidFill>
          <a:ln xmlns:a="http://schemas.openxmlformats.org/drawingml/2006/main" w="9525">
            <a:solidFill>
              <a:srgbClr val="18211F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7D83DCB-221E-4B98-923B-717F2A7EF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124200"/>
            <a:ext cx="28003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 Mono"/>
                <a:ea typeface="Aptos Mono"/>
                <a:cs typeface="Aptos Mono"/>
              </a:defRPr>
            </a:pPr>
            <a:r>
              <a:rPr sz="1200" b="0">
                <a:solidFill>
                  <a:srgbClr val="F7F3EA"/>
                </a:solidFill>
                <a:latin typeface="Aptos Mono"/>
                <a:ea typeface="Aptos Mono"/>
                <a:cs typeface="Aptos Mono"/>
              </a:rPr>
              <a:t>python3 scripts/check.py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9CE7372-7787-467E-926F-AE654E009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095750"/>
            <a:ext cx="3238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3B34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63B34"/>
                </a:solidFill>
                <a:latin typeface="Aptos"/>
                <a:ea typeface="Aptos"/>
                <a:cs typeface="Aptos"/>
              </a:rPr>
              <a:t>One command makes the contract non-negotiable.</a:t>
            </a:r>
          </a:p>
        </p:txBody>
      </p:sp>
    </p:spTree>
    <p:extLst>
      <p:ext uri="{BB962C8B-B14F-4D97-AF65-F5344CB8AC3E}">
        <p14:creationId xmlns:p14="http://schemas.microsoft.com/office/powerpoint/2010/main" val="1056415547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B0AAB5F-B6A4-49AC-9FF9-AF883B7F7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C8D4D96-36D1-48EC-9687-49BDB99FE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57950"/>
            <a:ext cx="400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2615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2615C"/>
                </a:solidFill>
                <a:latin typeface="Aptos"/>
                <a:ea typeface="Aptos"/>
                <a:cs typeface="Aptos"/>
              </a:rPr>
              <a:t>Harness engineering workshop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E7E1558-5EAA-4F02-BAFC-A7BFD3F20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419850"/>
            <a:ext cx="4572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1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2615C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196E73C-5915-44F0-AFE5-61314FE51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"/>
            <a:ext cx="304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3B3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854097-1CC9-4D6C-806E-C7395C0DB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1475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63B34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63B34"/>
                </a:solidFill>
                <a:latin typeface="Aptos"/>
                <a:ea typeface="Aptos"/>
                <a:cs typeface="Aptos"/>
              </a:rPr>
              <a:t>STANDARDS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9D067A7-E8A0-477F-9145-D322CB03B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00100"/>
            <a:ext cx="8191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8211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18211F"/>
                </a:solidFill>
                <a:latin typeface="Aptos Display"/>
                <a:ea typeface="Aptos Display"/>
                <a:cs typeface="Aptos Display"/>
              </a:rPr>
              <a:t>Coding standards become rules, not wishes.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A6713CD-E207-45F2-961B-92A550B3C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57350"/>
            <a:ext cx="6572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15C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2615C"/>
                </a:solidFill>
                <a:latin typeface="Aptos"/>
                <a:ea typeface="Aptos"/>
                <a:cs typeface="Aptos"/>
              </a:rPr>
              <a:t>Some rules are lintable, some are testable, and some need review templates or ADRs.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13131FC-8B0D-45D0-8D7F-F614B7D0D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400300"/>
            <a:ext cx="285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2615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2615C"/>
                </a:solidFill>
                <a:latin typeface="Aptos"/>
                <a:ea typeface="Aptos"/>
                <a:cs typeface="Aptos"/>
              </a:rPr>
              <a:t>Standard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65F372B-A2FD-4337-8E66-56FAD0503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400300"/>
            <a:ext cx="1714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2615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2615C"/>
                </a:solidFill>
                <a:latin typeface="Aptos"/>
                <a:ea typeface="Aptos"/>
                <a:cs typeface="Aptos"/>
              </a:rPr>
              <a:t>Enforced by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0D5B6B0-FE97-4C6E-9D1C-254C35CE5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400300"/>
            <a:ext cx="1714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2615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2615C"/>
                </a:solidFill>
                <a:latin typeface="Aptos"/>
                <a:ea typeface="Aptos"/>
                <a:cs typeface="Aptos"/>
              </a:rPr>
              <a:t>Why it matters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AA1AEF6-F126-4596-B0B0-A91AE91AF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81300"/>
            <a:ext cx="10363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D00C59D-AB0D-4742-BD7E-FB8969D88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905125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8211F"/>
                </a:solidFill>
                <a:latin typeface="Aptos"/>
                <a:ea typeface="Aptos"/>
                <a:cs typeface="Aptos"/>
              </a:rPr>
              <a:t>No business rules in CLI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A1596EA-F53E-4D42-89F2-6BF09B2A5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905125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B6CB0"/>
                </a:solidFill>
                <a:latin typeface="Aptos Mono"/>
                <a:ea typeface="Aptos Mono"/>
                <a:cs typeface="Aptos Mono"/>
              </a:defRPr>
            </a:pPr>
            <a:r>
              <a:rPr sz="1200" b="0">
                <a:solidFill>
                  <a:srgbClr val="2B6CB0"/>
                </a:solidFill>
                <a:latin typeface="Aptos Mono"/>
                <a:ea typeface="Aptos Mono"/>
                <a:cs typeface="Aptos Mono"/>
              </a:rPr>
              <a:t>lint.py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C70C718-9441-47B7-8E2F-9B0E1318E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905125"/>
            <a:ext cx="2286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15C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2615C"/>
                </a:solidFill>
                <a:latin typeface="Aptos"/>
                <a:ea typeface="Aptos"/>
                <a:cs typeface="Aptos"/>
              </a:rPr>
              <a:t>architecture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B596E19-C93C-479C-9BE0-AE96106A0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71850"/>
            <a:ext cx="10363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EBD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D832014-D424-4093-A64A-EB8E3BA61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495675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8211F"/>
                </a:solidFill>
                <a:latin typeface="Aptos"/>
                <a:ea typeface="Aptos"/>
                <a:cs typeface="Aptos"/>
              </a:rPr>
              <a:t>Docstrings on production functions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DF75667-1E59-4F89-91B1-DB94BFFBD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495675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B6CB0"/>
                </a:solidFill>
                <a:latin typeface="Aptos Mono"/>
                <a:ea typeface="Aptos Mono"/>
                <a:cs typeface="Aptos Mono"/>
              </a:defRPr>
            </a:pPr>
            <a:r>
              <a:rPr sz="1200" b="0">
                <a:solidFill>
                  <a:srgbClr val="2B6CB0"/>
                </a:solidFill>
                <a:latin typeface="Aptos Mono"/>
                <a:ea typeface="Aptos Mono"/>
                <a:cs typeface="Aptos Mono"/>
              </a:rPr>
              <a:t>lint.py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DF96EFA-0AE5-49F2-BA16-1D41D965E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495675"/>
            <a:ext cx="2286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15C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2615C"/>
                </a:solidFill>
                <a:latin typeface="Aptos"/>
                <a:ea typeface="Aptos"/>
                <a:cs typeface="Aptos"/>
              </a:rPr>
              <a:t>readability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05646B2-D22B-4341-8124-36514F866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62400"/>
            <a:ext cx="10363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DA4EFE4-802C-4971-A662-53D45D75E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086225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8211F"/>
                </a:solidFill>
                <a:latin typeface="Aptos"/>
                <a:ea typeface="Aptos"/>
                <a:cs typeface="Aptos"/>
              </a:rPr>
              <a:t>Routing behavior is covered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D40B0EE-A6CA-4275-A799-9AD362D8B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4086225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B6CB0"/>
                </a:solidFill>
                <a:latin typeface="Aptos Mono"/>
                <a:ea typeface="Aptos Mono"/>
                <a:cs typeface="Aptos Mono"/>
              </a:defRPr>
            </a:pPr>
            <a:r>
              <a:rPr sz="1200" b="0">
                <a:solidFill>
                  <a:srgbClr val="2B6CB0"/>
                </a:solidFill>
                <a:latin typeface="Aptos Mono"/>
                <a:ea typeface="Aptos Mono"/>
                <a:cs typeface="Aptos Mono"/>
              </a:rPr>
              <a:t>test_router.py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019F627-35E4-4D7B-B4CF-A48396EF5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086225"/>
            <a:ext cx="2286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15C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2615C"/>
                </a:solidFill>
                <a:latin typeface="Aptos"/>
                <a:ea typeface="Aptos"/>
                <a:cs typeface="Aptos"/>
              </a:rPr>
              <a:t>behavior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5D1E090-3D46-4BCD-9A28-F9BA1E9D6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52950"/>
            <a:ext cx="10363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EBD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83C7242-B916-44CC-8C88-CF1A4FEA0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676775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8211F"/>
                </a:solidFill>
                <a:latin typeface="Aptos"/>
                <a:ea typeface="Aptos"/>
                <a:cs typeface="Aptos"/>
              </a:rPr>
              <a:t>Required harness files exist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9E595EB-18AC-4666-BE68-03EABE3F9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4676775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B6CB0"/>
                </a:solidFill>
                <a:latin typeface="Aptos Mono"/>
                <a:ea typeface="Aptos Mono"/>
                <a:cs typeface="Aptos Mono"/>
              </a:defRPr>
            </a:pPr>
            <a:r>
              <a:rPr sz="1200" b="0">
                <a:solidFill>
                  <a:srgbClr val="2B6CB0"/>
                </a:solidFill>
                <a:latin typeface="Aptos Mono"/>
                <a:ea typeface="Aptos Mono"/>
                <a:cs typeface="Aptos Mono"/>
              </a:rPr>
              <a:t>harness_doctor.py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E24DC1B-4BCE-4ADD-90B7-45971841A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676775"/>
            <a:ext cx="2286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15C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2615C"/>
                </a:solidFill>
                <a:latin typeface="Aptos"/>
                <a:ea typeface="Aptos"/>
                <a:cs typeface="Aptos"/>
              </a:rPr>
              <a:t>context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A954DF6-D274-4D6F-A831-1A00DF82B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363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ABB54D8-78DA-4DA9-B0EE-3425477C3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267325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8211F"/>
                </a:solidFill>
                <a:latin typeface="Aptos"/>
                <a:ea typeface="Aptos"/>
                <a:cs typeface="Aptos"/>
              </a:rPr>
              <a:t>Required docs sections remain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B84CA5D-D7E1-4526-B715-291F0B50B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5267325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B6CB0"/>
                </a:solidFill>
                <a:latin typeface="Aptos Mono"/>
                <a:ea typeface="Aptos Mono"/>
                <a:cs typeface="Aptos Mono"/>
              </a:defRPr>
            </a:pPr>
            <a:r>
              <a:rPr sz="1200" b="0">
                <a:solidFill>
                  <a:srgbClr val="2B6CB0"/>
                </a:solidFill>
                <a:latin typeface="Aptos Mono"/>
                <a:ea typeface="Aptos Mono"/>
                <a:cs typeface="Aptos Mono"/>
              </a:rPr>
              <a:t>check_docs.py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48FD3D7-9A78-4838-9129-1346376F0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5267325"/>
            <a:ext cx="2286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15C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2615C"/>
                </a:solidFill>
                <a:latin typeface="Aptos"/>
                <a:ea typeface="Aptos"/>
                <a:cs typeface="Aptos"/>
              </a:rPr>
              <a:t>memory</a:t>
            </a:r>
          </a:p>
        </p:txBody>
      </p:sp>
    </p:spTree>
    <p:extLst>
      <p:ext uri="{BB962C8B-B14F-4D97-AF65-F5344CB8AC3E}">
        <p14:creationId xmlns:p14="http://schemas.microsoft.com/office/powerpoint/2010/main" val="171407345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3D2ECFB-0530-4F5A-A25B-43974EC53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0B62B7-239C-422F-BAB0-9BC2DB922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57950"/>
            <a:ext cx="400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2615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2615C"/>
                </a:solidFill>
                <a:latin typeface="Aptos"/>
                <a:ea typeface="Aptos"/>
                <a:cs typeface="Aptos"/>
              </a:rPr>
              <a:t>Harness engineering workshop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691F1D3-EC7D-41E2-BF41-9D241E152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419850"/>
            <a:ext cx="4572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1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2615C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D357A9-D1CF-46C7-9F1B-5B42B5452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"/>
            <a:ext cx="304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3B3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906684-2E09-4F42-8539-27E9A7706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1475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63B34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63B34"/>
                </a:solidFill>
                <a:latin typeface="Aptos"/>
                <a:ea typeface="Aptos"/>
                <a:cs typeface="Aptos"/>
              </a:rPr>
              <a:t>DEMO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2147D2D-7C92-4A51-8B58-419E5B76F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00100"/>
            <a:ext cx="8191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8211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18211F"/>
                </a:solidFill>
                <a:latin typeface="Aptos Display"/>
                <a:ea typeface="Aptos Display"/>
                <a:cs typeface="Aptos Display"/>
              </a:rPr>
              <a:t>The live demo should need only one short task prompt.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9B71B3-B28D-433A-AB34-682937729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57350"/>
            <a:ext cx="6572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15C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2615C"/>
                </a:solidFill>
                <a:latin typeface="Aptos"/>
                <a:ea typeface="Aptos"/>
                <a:cs typeface="Aptos"/>
              </a:rPr>
              <a:t>The point is not the ticket router. The point is that the repo carries the operating instructions.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25B0358-1AE0-458C-ABA4-965158987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476500"/>
            <a:ext cx="5238750" cy="2781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11F"/>
          </a:solidFill>
          <a:ln xmlns:a="http://schemas.openxmlformats.org/drawingml/2006/main" w="9525">
            <a:solidFill>
              <a:srgbClr val="18211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BEA95DD-7771-4A5E-B35E-055C97BB3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628900"/>
            <a:ext cx="4895850" cy="2495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 Mono"/>
                <a:ea typeface="Aptos Mono"/>
                <a:cs typeface="Aptos Mono"/>
              </a:defRPr>
            </a:pPr>
            <a:r>
              <a:rPr sz="1200" b="0">
                <a:solidFill>
                  <a:srgbClr val="F7F3EA"/>
                </a:solidFill>
                <a:latin typeface="Aptos Mono"/>
                <a:ea typeface="Aptos Mono"/>
                <a:cs typeface="Aptos Mono"/>
              </a:rPr>
              <a:t>cd ~/Code/harness-engineering-demo</a:t>
            </a:r>
          </a:p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 Mono"/>
                <a:ea typeface="Aptos Mono"/>
                <a:cs typeface="Aptos Mono"/>
              </a:defRPr>
            </a:pPr>
            <a:r>
              <a:rPr sz="1200" b="0">
                <a:solidFill>
                  <a:srgbClr val="F7F3EA"/>
                </a:solidFill>
                <a:latin typeface="Aptos Mono"/>
                <a:ea typeface="Aptos Mono"/>
                <a:cs typeface="Aptos Mono"/>
              </a:rPr>
              <a:t>python3 scripts/check.py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 Mono"/>
                <a:ea typeface="Aptos Mono"/>
                <a:cs typeface="Aptos Mono"/>
              </a:defRPr>
            </a:pPr>
            <a:r>
              <a:rPr sz="1200" b="0">
                <a:solidFill>
                  <a:srgbClr val="F7F3EA"/>
                </a:solidFill>
                <a:latin typeface="Aptos Mono"/>
                <a:ea typeface="Aptos Mono"/>
                <a:cs typeface="Aptos Mono"/>
              </a:rPr>
              <a:t>Complete tasks/01-add-sla-classification.md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 Mono"/>
                <a:ea typeface="Aptos Mono"/>
                <a:cs typeface="Aptos Mono"/>
              </a:defRPr>
            </a:pPr>
            <a:r>
              <a:rPr sz="1200" b="0">
                <a:solidFill>
                  <a:srgbClr val="F7F3EA"/>
                </a:solidFill>
                <a:latin typeface="Aptos Mono"/>
                <a:ea typeface="Aptos Mono"/>
                <a:cs typeface="Aptos Mono"/>
              </a:rPr>
              <a:t>git diff</a:t>
            </a:r>
          </a:p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 Mono"/>
                <a:ea typeface="Aptos Mono"/>
                <a:cs typeface="Aptos Mono"/>
              </a:defRPr>
            </a:pPr>
            <a:r>
              <a:rPr sz="1200" b="0">
                <a:solidFill>
                  <a:srgbClr val="F7F3EA"/>
                </a:solidFill>
                <a:latin typeface="Aptos Mono"/>
                <a:ea typeface="Aptos Mono"/>
                <a:cs typeface="Aptos Mono"/>
              </a:rPr>
              <a:t>python3 scripts/check.py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1DB0F6A-3DB2-4432-8E6F-9E6F4B5AF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5527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3B3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7CE0D49-1860-4B44-B3E0-BF7C05D16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628900"/>
            <a:ext cx="171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7F3EA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4509391-ECF7-4EF1-A2A1-6717E840D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638425"/>
            <a:ext cx="3143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8211F"/>
                </a:solidFill>
                <a:latin typeface="Aptos"/>
                <a:ea typeface="Aptos"/>
                <a:cs typeface="Aptos"/>
              </a:rPr>
              <a:t>Baseline passes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69761BB-EE62-4451-9192-725EB2AF5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2385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3B3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6CE1CB9-11CC-4E76-AE82-6ED1814FD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314700"/>
            <a:ext cx="171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7F3EA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69E57DC-23F5-4658-8C93-862EF9A1B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3324225"/>
            <a:ext cx="3143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8211F"/>
                </a:solidFill>
                <a:latin typeface="Aptos"/>
                <a:ea typeface="Aptos"/>
                <a:cs typeface="Aptos"/>
              </a:rPr>
              <a:t>Agent reads repo context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04DA598-3057-4B1E-89D2-200AE1127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9243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3B3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F21E1ED-E686-47F0-8E11-EF9EFBAD9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4000500"/>
            <a:ext cx="171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7F3EA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F9D8F85-A40D-4825-BD90-8021B290A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010025"/>
            <a:ext cx="3143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8211F"/>
                </a:solidFill>
                <a:latin typeface="Aptos"/>
                <a:ea typeface="Aptos"/>
                <a:cs typeface="Aptos"/>
              </a:rPr>
              <a:t>Agent changes router + tests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09E4743-55FE-4519-BECE-8318C5B21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46101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3B3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080C026-76DC-471E-A155-02DB7A823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4686300"/>
            <a:ext cx="171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7F3EA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6828E9A-EA86-4395-B5C8-64AF52138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695825"/>
            <a:ext cx="3143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8211F"/>
                </a:solidFill>
                <a:latin typeface="Aptos"/>
                <a:ea typeface="Aptos"/>
                <a:cs typeface="Aptos"/>
              </a:rPr>
              <a:t>Gate proves the change</a:t>
            </a:r>
          </a:p>
        </p:txBody>
      </p:sp>
    </p:spTree>
    <p:extLst>
      <p:ext uri="{BB962C8B-B14F-4D97-AF65-F5344CB8AC3E}">
        <p14:creationId xmlns:p14="http://schemas.microsoft.com/office/powerpoint/2010/main" val="798120942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674DE76-5C1E-4C44-866B-153274DA2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C4D6B49-4329-45E0-8198-63C615601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57950"/>
            <a:ext cx="400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2615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2615C"/>
                </a:solidFill>
                <a:latin typeface="Aptos"/>
                <a:ea typeface="Aptos"/>
                <a:cs typeface="Aptos"/>
              </a:rPr>
              <a:t>Harness engineering workshop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F84DE98-3251-455D-8665-1A19E6E85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419850"/>
            <a:ext cx="4572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1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2615C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AE94E8-F78B-4A8E-9DA5-737AB8DC4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"/>
            <a:ext cx="304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3B3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86D6A6-36BE-41EA-A17F-399CF4346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1475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63B34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63B34"/>
                </a:solidFill>
                <a:latin typeface="Aptos"/>
                <a:ea typeface="Aptos"/>
                <a:cs typeface="Aptos"/>
              </a:rPr>
              <a:t>DRIFT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B0BF754-2169-45F4-9292-4ADA1126C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00100"/>
            <a:ext cx="8191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8211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18211F"/>
                </a:solidFill>
                <a:latin typeface="Aptos Display"/>
                <a:ea typeface="Aptos Display"/>
                <a:cs typeface="Aptos Display"/>
              </a:rPr>
              <a:t>Failure is a feature when the harness catches drift.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3D9CA62-5A0D-49B9-9710-7F07E8B3B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57350"/>
            <a:ext cx="6572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15C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2615C"/>
                </a:solidFill>
                <a:latin typeface="Aptos"/>
                <a:ea typeface="Aptos"/>
                <a:cs typeface="Aptos"/>
              </a:rPr>
              <a:t>A good harness fails early when context, docs, architecture, or behavior fall out of contract.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929FABA-466F-4A50-9239-7C73FF72F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781300"/>
            <a:ext cx="28575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2C8"/>
          </a:solidFill>
          <a:ln xmlns:a="http://schemas.openxmlformats.org/drawingml/2006/main" w="9525">
            <a:solidFill>
              <a:srgbClr val="D8D0C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BBD17A-5A4E-4D64-A0C1-CBCBC691E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914650"/>
            <a:ext cx="25527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8211F"/>
                </a:solidFill>
                <a:latin typeface="Aptos"/>
                <a:ea typeface="Aptos"/>
                <a:cs typeface="Aptos"/>
              </a:rPr>
              <a:t>Move docs/runbook.md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EFD2E18-09A9-4BEA-969C-BAFCBFED1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2675" y="3600450"/>
            <a:ext cx="190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24A3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8E3E349-2430-4525-9147-AFBBB5822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076700"/>
            <a:ext cx="28575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D7D2"/>
          </a:solidFill>
          <a:ln xmlns:a="http://schemas.openxmlformats.org/drawingml/2006/main" w="9525">
            <a:solidFill>
              <a:srgbClr val="D8D0C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9D06CED-ABF1-4316-ABC8-B8F439A1E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210050"/>
            <a:ext cx="25527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B24A3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B24A3A"/>
                </a:solidFill>
                <a:latin typeface="Aptos"/>
                <a:ea typeface="Aptos"/>
                <a:cs typeface="Aptos"/>
              </a:rPr>
              <a:t>Harness doctor fails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EDAC50A-05E8-4539-9957-C59F36C04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781300"/>
            <a:ext cx="28575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9F7"/>
          </a:solidFill>
          <a:ln xmlns:a="http://schemas.openxmlformats.org/drawingml/2006/main" w="9525">
            <a:solidFill>
              <a:srgbClr val="D8D0C2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77E595E-876C-4D8E-A50E-4DDEC8D2E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914650"/>
            <a:ext cx="25527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8211F"/>
                </a:solidFill>
                <a:latin typeface="Aptos"/>
                <a:ea typeface="Aptos"/>
                <a:cs typeface="Aptos"/>
              </a:rPr>
              <a:t>Put outage rule in cli.py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9F1A9BF-1F7C-4276-993C-635D6B8DD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5975" y="3600450"/>
            <a:ext cx="190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24A3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FF16C74-1F23-4CD5-97B7-9ED70E6FD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076700"/>
            <a:ext cx="28575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D7D2"/>
          </a:solidFill>
          <a:ln xmlns:a="http://schemas.openxmlformats.org/drawingml/2006/main" w="9525">
            <a:solidFill>
              <a:srgbClr val="D8D0C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5E9C443-ED57-44D0-B22A-9CF683E7C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210050"/>
            <a:ext cx="25527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B24A3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B24A3A"/>
                </a:solidFill>
                <a:latin typeface="Aptos"/>
                <a:ea typeface="Aptos"/>
                <a:cs typeface="Aptos"/>
              </a:rPr>
              <a:t>Architecture lint fails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56C65A7-B720-49CF-A6C9-171F46E34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781300"/>
            <a:ext cx="28575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0C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7425BFA-A862-4BE5-B6B8-8BB804DA2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914650"/>
            <a:ext cx="25527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8211F"/>
                </a:solidFill>
                <a:latin typeface="Aptos"/>
                <a:ea typeface="Aptos"/>
                <a:cs typeface="Aptos"/>
              </a:rPr>
              <a:t>Break expected queue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C0CF89D-EA06-486E-8223-ADECD9E87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39275" y="3600450"/>
            <a:ext cx="190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24A3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E1843DE-9A00-4A63-ABBD-E9611FF4E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076700"/>
            <a:ext cx="28575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D7D2"/>
          </a:solidFill>
          <a:ln xmlns:a="http://schemas.openxmlformats.org/drawingml/2006/main" w="9525">
            <a:solidFill>
              <a:srgbClr val="D8D0C2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C6680C1-FB15-48ED-83C1-67D0BCBDE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210050"/>
            <a:ext cx="25527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B24A3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B24A3A"/>
                </a:solidFill>
                <a:latin typeface="Aptos"/>
                <a:ea typeface="Aptos"/>
                <a:cs typeface="Aptos"/>
              </a:rPr>
              <a:t>Unit test fails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2204284-BB59-4887-8631-7ED1AEF3B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5353050"/>
            <a:ext cx="7239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63B34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63B34"/>
                </a:solidFill>
                <a:latin typeface="Aptos"/>
                <a:ea typeface="Aptos"/>
                <a:cs typeface="Aptos"/>
              </a:rPr>
              <a:t>The harness turns drift into a visible, local failure.</a:t>
            </a:r>
          </a:p>
        </p:txBody>
      </p:sp>
    </p:spTree>
    <p:extLst>
      <p:ext uri="{BB962C8B-B14F-4D97-AF65-F5344CB8AC3E}">
        <p14:creationId xmlns:p14="http://schemas.microsoft.com/office/powerpoint/2010/main" val="705317575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ED6F1E2-2AAA-44B1-80A0-8B9BE9615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6A2F1EC-B51C-4FF6-9D20-FA925F56E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57950"/>
            <a:ext cx="400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2615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2615C"/>
                </a:solidFill>
                <a:latin typeface="Aptos"/>
                <a:ea typeface="Aptos"/>
                <a:cs typeface="Aptos"/>
              </a:rPr>
              <a:t>Harness engineering workshop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C6E6EE8-EE02-4159-9805-8AF01827A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419850"/>
            <a:ext cx="4572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1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2615C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31D442-5078-4C3D-BBF1-28E814B94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"/>
            <a:ext cx="304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3B3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BC7151-93B0-4C90-B71B-6A9A2B276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1475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63B34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63B34"/>
                </a:solidFill>
                <a:latin typeface="Aptos"/>
                <a:ea typeface="Aptos"/>
                <a:cs typeface="Aptos"/>
              </a:rPr>
              <a:t>ADOPTION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87B82E7-865E-4D20-806C-5F245F212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00100"/>
            <a:ext cx="8191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8211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18211F"/>
                </a:solidFill>
                <a:latin typeface="Aptos Display"/>
                <a:ea typeface="Aptos Display"/>
                <a:cs typeface="Aptos Display"/>
              </a:rPr>
              <a:t>Build the harness in layers, not in one heroic rewrite.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9E36593-DF69-40D1-A1BF-24507C2AB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57350"/>
            <a:ext cx="6572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15C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2615C"/>
                </a:solidFill>
                <a:latin typeface="Aptos"/>
                <a:ea typeface="Aptos"/>
                <a:cs typeface="Aptos"/>
              </a:rPr>
              <a:t>Start with instructions and checks, then add governance, memory, and richer feedback loops.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37262D6-C811-411B-92BE-A17BA1148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724150"/>
            <a:ext cx="27813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8DF"/>
          </a:solidFill>
          <a:ln xmlns:a="http://schemas.openxmlformats.org/drawingml/2006/main" w="9525">
            <a:solidFill>
              <a:srgbClr val="D8D0C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6B98F08-202E-4E8A-AC0C-1A31EE7EE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857500"/>
            <a:ext cx="24765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8211F"/>
                </a:solidFill>
                <a:latin typeface="Aptos"/>
                <a:ea typeface="Aptos"/>
                <a:cs typeface="Aptos"/>
              </a:rPr>
              <a:t>30 days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BC19259-4E18-426A-B730-47E66780F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543300"/>
            <a:ext cx="27813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0C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3B9CC6F-6094-4F79-98D1-796875E07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676650"/>
            <a:ext cx="24765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8211F"/>
                </a:solidFill>
                <a:latin typeface="Aptos"/>
                <a:ea typeface="Aptos"/>
                <a:cs typeface="Aptos"/>
              </a:rPr>
              <a:t>Write AGENTS.md</a:t>
            </a:r>
          </a:p>
          <a:p xmlns:a="http://schemas.openxmlformats.org/drawingml/2006/main">
            <a:pPr algn="l">
              <a:defRPr sz="1350" b="0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8211F"/>
                </a:solidFill>
                <a:latin typeface="Aptos"/>
                <a:ea typeface="Aptos"/>
                <a:cs typeface="Aptos"/>
              </a:rPr>
              <a:t>Add one quality gate</a:t>
            </a:r>
          </a:p>
          <a:p xmlns:a="http://schemas.openxmlformats.org/drawingml/2006/main">
            <a:pPr algn="l">
              <a:defRPr sz="1350" b="0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8211F"/>
                </a:solidFill>
                <a:latin typeface="Aptos"/>
                <a:ea typeface="Aptos"/>
                <a:cs typeface="Aptos"/>
              </a:rPr>
              <a:t>Make tasks explicit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336B885-90A9-40C5-B443-CC77082E3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009900"/>
            <a:ext cx="647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3B3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5C29418-27B9-4827-AFEB-DB3C43727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971800"/>
            <a:ext cx="95250" cy="952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163B3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174B7E8-6BE5-48D1-AEBA-2FE2C29BF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724150"/>
            <a:ext cx="27813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9F7"/>
          </a:solidFill>
          <a:ln xmlns:a="http://schemas.openxmlformats.org/drawingml/2006/main" w="9525">
            <a:solidFill>
              <a:srgbClr val="D8D0C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79AE1FE-0919-41E8-AF45-DC0BEB988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857500"/>
            <a:ext cx="24765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8211F"/>
                </a:solidFill>
                <a:latin typeface="Aptos"/>
                <a:ea typeface="Aptos"/>
                <a:cs typeface="Aptos"/>
              </a:rPr>
              <a:t>60 days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F6E040F-6364-41FA-A0E2-094D88170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543300"/>
            <a:ext cx="27813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0C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1294516-5C9B-4AB3-8724-27F321D2B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3676650"/>
            <a:ext cx="24765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8211F"/>
                </a:solidFill>
                <a:latin typeface="Aptos"/>
                <a:ea typeface="Aptos"/>
                <a:cs typeface="Aptos"/>
              </a:rPr>
              <a:t>Add linters + CI</a:t>
            </a:r>
          </a:p>
          <a:p xmlns:a="http://schemas.openxmlformats.org/drawingml/2006/main">
            <a:pPr algn="l">
              <a:defRPr sz="1350" b="0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8211F"/>
                </a:solidFill>
                <a:latin typeface="Aptos"/>
                <a:ea typeface="Aptos"/>
                <a:cs typeface="Aptos"/>
              </a:rPr>
              <a:t>Create runbooks</a:t>
            </a:r>
          </a:p>
          <a:p xmlns:a="http://schemas.openxmlformats.org/drawingml/2006/main">
            <a:pPr algn="l">
              <a:defRPr sz="1350" b="0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8211F"/>
                </a:solidFill>
                <a:latin typeface="Aptos"/>
                <a:ea typeface="Aptos"/>
                <a:cs typeface="Aptos"/>
              </a:rPr>
              <a:t>Start ADRs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A75E11E-71D6-440B-ADCE-1C54E92AC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009900"/>
            <a:ext cx="647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3B3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C2D029A-B7A6-4E46-AF25-246D31A99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971800"/>
            <a:ext cx="95250" cy="952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163B3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BDB3205-6356-41BA-8E99-94864C2E9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724150"/>
            <a:ext cx="27813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2C8"/>
          </a:solidFill>
          <a:ln xmlns:a="http://schemas.openxmlformats.org/drawingml/2006/main" w="9525">
            <a:solidFill>
              <a:srgbClr val="D8D0C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7D53440-2EEF-40F2-9A25-360C629E0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857500"/>
            <a:ext cx="24765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8211F"/>
                </a:solidFill>
                <a:latin typeface="Aptos"/>
                <a:ea typeface="Aptos"/>
                <a:cs typeface="Aptos"/>
              </a:rPr>
              <a:t>90 days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DD419E9-E76C-446F-8D66-09DDD563E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543300"/>
            <a:ext cx="27813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0C2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3DB3090-869A-42B5-8FB2-E22F3DF11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676650"/>
            <a:ext cx="24765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8211F"/>
                </a:solidFill>
                <a:latin typeface="Aptos"/>
                <a:ea typeface="Aptos"/>
                <a:cs typeface="Aptos"/>
              </a:rPr>
              <a:t>Add architecture checks</a:t>
            </a:r>
          </a:p>
          <a:p xmlns:a="http://schemas.openxmlformats.org/drawingml/2006/main">
            <a:pPr algn="l">
              <a:defRPr sz="1350" b="0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8211F"/>
                </a:solidFill>
                <a:latin typeface="Aptos"/>
                <a:ea typeface="Aptos"/>
                <a:cs typeface="Aptos"/>
              </a:rPr>
              <a:t>Track recurring failures</a:t>
            </a:r>
          </a:p>
          <a:p xmlns:a="http://schemas.openxmlformats.org/drawingml/2006/main">
            <a:pPr algn="l">
              <a:defRPr sz="1350" b="0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8211F"/>
                </a:solidFill>
                <a:latin typeface="Aptos"/>
                <a:ea typeface="Aptos"/>
                <a:cs typeface="Aptos"/>
              </a:rPr>
              <a:t>Automate cleanup</a:t>
            </a:r>
          </a:p>
        </p:txBody>
      </p:sp>
    </p:spTree>
    <p:extLst>
      <p:ext uri="{BB962C8B-B14F-4D97-AF65-F5344CB8AC3E}">
        <p14:creationId xmlns:p14="http://schemas.microsoft.com/office/powerpoint/2010/main" val="511253559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86FA6A0-EAF8-46E6-8104-E34DE633B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3B3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9A13A2-B1A1-433C-BD90-30BDF60D5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3400"/>
            <a:ext cx="1905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DE8D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DE8DF"/>
                </a:solidFill>
                <a:latin typeface="Aptos"/>
                <a:ea typeface="Aptos"/>
                <a:cs typeface="Aptos"/>
              </a:rPr>
              <a:t>TAKEAWAY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B8C9F21-7454-4EE1-BAE2-4E42A67C6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71600"/>
            <a:ext cx="78105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defRPr>
            </a:pPr>
            <a:r>
              <a:rPr sz="3900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rPr>
              <a:t>Less prompt ritual.</a:t>
            </a:r>
          </a:p>
          <a:p xmlns:a="http://schemas.openxmlformats.org/drawingml/2006/main">
            <a:pPr algn="l">
              <a:defRPr sz="3900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defRPr>
            </a:pPr>
            <a:r>
              <a:rPr sz="3900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rPr>
              <a:t>More engineering leverage.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36371D-AFA8-49FB-BE10-B06EA1D17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19500"/>
            <a:ext cx="7239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Put durable instructions in the repo.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958878B-C261-420D-B60B-F19FB71C3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052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9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F727B4B-7A45-4C45-8747-04A054D5A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57650"/>
            <a:ext cx="7239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Make verification one command.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70D5124-F462-4967-ABD8-392365A1A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433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9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4B154D9-9E1A-4DCB-A663-ADB988F0D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95800"/>
            <a:ext cx="7239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Encode standards as checks.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14085AD-BE5C-476E-825B-C9E64B683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815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9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ED72B98-2B2A-4C0C-9962-1FCB10EC6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33950"/>
            <a:ext cx="7239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Treat bad agent output as harness feedback.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DD1B1BA-3B02-4785-BBDA-A41FB5DDF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196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9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E44FFA6-01AA-42FE-BBAB-D1C855F70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57900"/>
            <a:ext cx="6858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CFE0D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CFE0D4"/>
                </a:solidFill>
                <a:latin typeface="Aptos"/>
                <a:ea typeface="Aptos"/>
                <a:cs typeface="Aptos"/>
              </a:rPr>
              <a:t>Harness engineering makes agent use a team capability.</a:t>
            </a:r>
          </a:p>
        </p:txBody>
      </p:sp>
    </p:spTree>
    <p:extLst>
      <p:ext uri="{BB962C8B-B14F-4D97-AF65-F5344CB8AC3E}">
        <p14:creationId xmlns:p14="http://schemas.microsoft.com/office/powerpoint/2010/main" val="173339690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2026-05-13T08:33:15.2030000Z</dcterms:created>
  <dcterms:modified xsi:type="dcterms:W3CDTF">2026-05-13T08:33:15.2030000Z</dcterms:modified>
</coreProperties>
</file>