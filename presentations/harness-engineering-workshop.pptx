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0855a411c2448f" /><Relationship Type="http://schemas.openxmlformats.org/officeDocument/2006/relationships/extended-properties" Target="/docProps/app.xml" Id="Rf163f887a6394e54" /><Relationship Type="http://schemas.openxmlformats.org/officeDocument/2006/relationships/officeDocument" Target="/ppt/presentation.xml" Id="Refa275692d5842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22d755e1b74121"/>
  </p:sldMasterIdLst>
  <p:notesMasterIdLst>
    <p:notesMasterId xmlns:r="http://schemas.openxmlformats.org/officeDocument/2006/relationships" r:id="Rb36473014f8b44cb"/>
  </p:notesMasterIdLst>
  <p:sldIdLst>
    <p:sldId xmlns:r="http://schemas.openxmlformats.org/officeDocument/2006/relationships" id="256" r:id="R6443b569087241f2"/>
    <p:sldId xmlns:r="http://schemas.openxmlformats.org/officeDocument/2006/relationships" id="257" r:id="R29640af4f00b4f0d"/>
    <p:sldId xmlns:r="http://schemas.openxmlformats.org/officeDocument/2006/relationships" id="258" r:id="Rcd71a2c31a4243fa"/>
    <p:sldId xmlns:r="http://schemas.openxmlformats.org/officeDocument/2006/relationships" id="259" r:id="Rc0a3c61b094e4235"/>
    <p:sldId xmlns:r="http://schemas.openxmlformats.org/officeDocument/2006/relationships" id="260" r:id="R9e08616e310a4de9"/>
    <p:sldId xmlns:r="http://schemas.openxmlformats.org/officeDocument/2006/relationships" id="261" r:id="R883fb02c9a084d10"/>
    <p:sldId xmlns:r="http://schemas.openxmlformats.org/officeDocument/2006/relationships" id="262" r:id="R11d623640db94852"/>
    <p:sldId xmlns:r="http://schemas.openxmlformats.org/officeDocument/2006/relationships" id="263" r:id="R1ea6e81329c641de"/>
    <p:sldId xmlns:r="http://schemas.openxmlformats.org/officeDocument/2006/relationships" id="264" r:id="Rcf936631e2f04dd3"/>
    <p:sldId xmlns:r="http://schemas.openxmlformats.org/officeDocument/2006/relationships" id="265" r:id="Rd73127f1bf084d6b"/>
    <p:sldId xmlns:r="http://schemas.openxmlformats.org/officeDocument/2006/relationships" id="266" r:id="R3312d040324345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2d755e1b74121" /><Relationship Type="http://schemas.openxmlformats.org/officeDocument/2006/relationships/theme" Target="/ppt/theme/theme1.xml" Id="R32ad6680bad541c6" /><Relationship Type="http://schemas.openxmlformats.org/officeDocument/2006/relationships/notesMaster" Target="/ppt/notesMasters/notesMaster1.xml" Id="Rb36473014f8b44cb" /><Relationship Type="http://schemas.openxmlformats.org/officeDocument/2006/relationships/presProps" Target="/ppt/presProps.xml" Id="R14e15390f351439a" /><Relationship Type="http://schemas.openxmlformats.org/officeDocument/2006/relationships/viewProps" Target="/ppt/viewProps.xml" Id="Rd8192151b394476e" /><Relationship Type="http://schemas.openxmlformats.org/officeDocument/2006/relationships/tableStyles" Target="/ppt/tableStyles.xml" Id="Rfe52a7a2b4344685" /><Relationship Type="http://schemas.openxmlformats.org/officeDocument/2006/relationships/slide" Target="/ppt/slides/slide1.xml" Id="R6443b569087241f2" /><Relationship Type="http://schemas.openxmlformats.org/officeDocument/2006/relationships/slide" Target="/ppt/slides/slide2.xml" Id="R29640af4f00b4f0d" /><Relationship Type="http://schemas.openxmlformats.org/officeDocument/2006/relationships/slide" Target="/ppt/slides/slide3.xml" Id="Rcd71a2c31a4243fa" /><Relationship Type="http://schemas.openxmlformats.org/officeDocument/2006/relationships/slide" Target="/ppt/slides/slide4.xml" Id="Rc0a3c61b094e4235" /><Relationship Type="http://schemas.openxmlformats.org/officeDocument/2006/relationships/slide" Target="/ppt/slides/slide5.xml" Id="R9e08616e310a4de9" /><Relationship Type="http://schemas.openxmlformats.org/officeDocument/2006/relationships/slide" Target="/ppt/slides/slide6.xml" Id="R883fb02c9a084d10" /><Relationship Type="http://schemas.openxmlformats.org/officeDocument/2006/relationships/slide" Target="/ppt/slides/slide7.xml" Id="R11d623640db94852" /><Relationship Type="http://schemas.openxmlformats.org/officeDocument/2006/relationships/slide" Target="/ppt/slides/slide8.xml" Id="R1ea6e81329c641de" /><Relationship Type="http://schemas.openxmlformats.org/officeDocument/2006/relationships/slide" Target="/ppt/slides/slide9.xml" Id="Rcf936631e2f04dd3" /><Relationship Type="http://schemas.openxmlformats.org/officeDocument/2006/relationships/slide" Target="/ppt/slides/slide10.xml" Id="Rd73127f1bf084d6b" /><Relationship Type="http://schemas.openxmlformats.org/officeDocument/2006/relationships/slide" Target="/ppt/slides/slide11.xml" Id="R3312d040324345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75792cda8ce42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52d9f261384326" /><Relationship Type="http://schemas.openxmlformats.org/officeDocument/2006/relationships/notesMaster" Target="/ppt/notesMasters/notesMaster1.xml" Id="R789e4e6053f94e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2578d8b88f4bd1" /><Relationship Type="http://schemas.openxmlformats.org/officeDocument/2006/relationships/notesMaster" Target="/ppt/notesMasters/notesMaster1.xml" Id="R9fa3b2c3f09f4e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69fb64c01642cc" /><Relationship Type="http://schemas.openxmlformats.org/officeDocument/2006/relationships/notesMaster" Target="/ppt/notesMasters/notesMaster1.xml" Id="Re606927a0b3e44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7278ea56404992" /><Relationship Type="http://schemas.openxmlformats.org/officeDocument/2006/relationships/notesMaster" Target="/ppt/notesMasters/notesMaster1.xml" Id="R5cc0fa803c0644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50307f586641b2" /><Relationship Type="http://schemas.openxmlformats.org/officeDocument/2006/relationships/notesMaster" Target="/ppt/notesMasters/notesMaster1.xml" Id="R51de001fe9c249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b5ddfd116f4170" /><Relationship Type="http://schemas.openxmlformats.org/officeDocument/2006/relationships/notesMaster" Target="/ppt/notesMasters/notesMaster1.xml" Id="R936be5f2edc047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fb5bdb703d4d3d" /><Relationship Type="http://schemas.openxmlformats.org/officeDocument/2006/relationships/notesMaster" Target="/ppt/notesMasters/notesMaster1.xml" Id="R8a9f586ada2348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d700aa0b0b47f5" /><Relationship Type="http://schemas.openxmlformats.org/officeDocument/2006/relationships/notesMaster" Target="/ppt/notesMasters/notesMaster1.xml" Id="Rc35dd2b5ab5a4a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9144b2d26748b3" /><Relationship Type="http://schemas.openxmlformats.org/officeDocument/2006/relationships/notesMaster" Target="/ppt/notesMasters/notesMaster1.xml" Id="R03e2050d683f44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d5cd421af64020" /><Relationship Type="http://schemas.openxmlformats.org/officeDocument/2006/relationships/notesMaster" Target="/ppt/notesMasters/notesMaster1.xml" Id="R9c37e3e22c894d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987579abb0455b" /><Relationship Type="http://schemas.openxmlformats.org/officeDocument/2006/relationships/notesMaster" Target="/ppt/notesMasters/notesMaster1.xml" Id="R0ffc7332aa3b41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315f21ac644e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5492eca47eb42fd" /><Relationship Type="http://schemas.openxmlformats.org/officeDocument/2006/relationships/slideLayout" Target="/ppt/slideLayouts/slideLayout2.xml" Id="R38805842291443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805842291443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bd7df2b8ae4b5d" /><Relationship Type="http://schemas.openxmlformats.org/officeDocument/2006/relationships/notesSlide" Target="/ppt/notesSlides/notesSlide1.xml" Id="Rfb06ee2e591a4a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8217f5a6a54be7" /><Relationship Type="http://schemas.openxmlformats.org/officeDocument/2006/relationships/notesSlide" Target="/ppt/notesSlides/notesSlide2.xml" Id="Refff65c5e3f04a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ad73fd0ec04ebf" /><Relationship Type="http://schemas.openxmlformats.org/officeDocument/2006/relationships/notesSlide" Target="/ppt/notesSlides/notesSlide3.xml" Id="Rbdc6d7b04e114b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45d5e071094057" /><Relationship Type="http://schemas.openxmlformats.org/officeDocument/2006/relationships/notesSlide" Target="/ppt/notesSlides/notesSlide4.xml" Id="R197d931a6f1e44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d715dc264d4e07" /><Relationship Type="http://schemas.openxmlformats.org/officeDocument/2006/relationships/notesSlide" Target="/ppt/notesSlides/notesSlide5.xml" Id="R8a5b6138808340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1e9b8e54da4215" /><Relationship Type="http://schemas.openxmlformats.org/officeDocument/2006/relationships/notesSlide" Target="/ppt/notesSlides/notesSlide6.xml" Id="R4d9737d0488042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d37e50b028430d" /><Relationship Type="http://schemas.openxmlformats.org/officeDocument/2006/relationships/notesSlide" Target="/ppt/notesSlides/notesSlide7.xml" Id="R2f527b775c874e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dd8ef452024496" /><Relationship Type="http://schemas.openxmlformats.org/officeDocument/2006/relationships/notesSlide" Target="/ppt/notesSlides/notesSlide8.xml" Id="R072006c091c14b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be016ac2544c2b" /><Relationship Type="http://schemas.openxmlformats.org/officeDocument/2006/relationships/notesSlide" Target="/ppt/notesSlides/notesSlide9.xml" Id="R7c158cb526354a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5a4b3ac6c64ce1" /><Relationship Type="http://schemas.openxmlformats.org/officeDocument/2006/relationships/notesSlide" Target="/ppt/notesSlides/notesSlide10.xml" Id="Rc2042248c4f942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6fecd1e02f4008" /><Relationship Type="http://schemas.openxmlformats.org/officeDocument/2006/relationships/notesSlide" Target="/ppt/notesSlides/notesSlide11.xml" Id="R2aee9e961bfa45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1BBE85-AAF5-4697-BEE5-48C2B1B1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98711-839C-4E7D-9D9A-17DBCA3E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Harness engineering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90DAD-A802-42A6-B17C-6E3A91C1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1FBB9-7067-4F3F-ADBC-70145C05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74CA3-651D-4BED-B918-78664ACF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3B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3B34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6B1A0-DA5C-423A-883B-EC286CAD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Harness engineering is the work around the agent.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8CE4F-AE52-4117-A256-CEEB2812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57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The agent writes code. The harness makes the work legible, testable, and steerable.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09981-216D-4C56-BC53-B8E3BB8E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813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6EC29-C4DD-42FB-8C72-237F74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14650"/>
            <a:ext cx="1390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Human intent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317EC-89FA-46F0-B043-532463AB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E5DC9-1C7D-4B64-BB4A-7084BC30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1390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Repo harness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69C8A-F5C9-43FA-9F7D-2108B5ED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08F3E-5A84-45B8-AA30-A13B8507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14650"/>
            <a:ext cx="1390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Agent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2470D-452F-45BD-9631-C788807A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2E4EC-4334-4886-A687-9B6AA952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14650"/>
            <a:ext cx="1390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Fast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6E415-7192-43AE-B658-3699B382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28975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41B729-3E3D-4A6D-98DF-0858AEB5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90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B41EC-A64A-48F1-9156-6C02CE49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28975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7DBB9-C6B3-4537-83CC-9F2F54C8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90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B3F617-EF12-4C90-A59C-5F769713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28975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62667-A457-4C30-AD9D-956E442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90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255EC-DA3C-48CC-9013-B3E875BD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695700"/>
            <a:ext cx="19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3C39BD-1076-46DA-AC35-56B5E81F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86275"/>
            <a:ext cx="-7486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C33B8F-7B15-4FEC-8D3D-727980CC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481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63D2DD-9FD3-45C8-9432-016BE253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495800"/>
            <a:ext cx="19050" cy="-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42F3C2-751E-4C49-BB05-DF47ABAE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636EED-0343-4F57-9B67-6FFF68B7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F5B702-66B4-45F8-921A-A2899E7D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8/10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2613D2-55E6-4B6D-9B74-3752F66B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target harness maturity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1C4F9A-1FCB-4908-B736-DDB6275D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1970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0376F-75E3-4796-A2CD-138955BB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197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6E9836-1F62-4EF8-9167-24169D3A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3340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1 command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04DE4D-C403-46D6-9378-B25BE58F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6769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local quality 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D8DE2F-C4AD-4F81-9529-50369635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197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BE364F-0249-4ADB-9ADB-E6D73133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197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FB3FFC-BBA2-4530-BF20-3F42602E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340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Short prompt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6314D8-12F2-448D-B80C-5F23C1D8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67690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because repo carries context</a:t>
            </a:r>
          </a:p>
        </p:txBody>
      </p:sp>
    </p:spTree>
    <p:extLst>
      <p:ext uri="{BB962C8B-B14F-4D97-AF65-F5344CB8AC3E}">
        <p14:creationId xmlns:p14="http://schemas.microsoft.com/office/powerpoint/2010/main" val="3563650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FBD3EB-E02C-4B30-BB14-120871B2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520DC-FD73-49E6-991D-ABB7A6EF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Harness engineering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399CF-77D8-430F-9317-A569FCCC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F9C7F-B76D-4415-9EAB-3019845A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CD755-D508-45B3-9969-FD22BBF3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3B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3B34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F765C-BB30-45C5-AA81-D4F54BCF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A harness gives an agent five kinds of traction.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150FD-056D-416B-B387-BD6AC6FD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57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Strong agent performance comes from the system around the model, not from prompts alone.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23DE7-0D8C-4F51-BF7E-1D38EDE2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CE509-A622-4ED4-BAF3-95E66E8B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765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2AEE2-E9BD-4809-B060-62BCC6EC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05075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AGENTS.md, architecture, task briefs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70BEC-C99B-4CF3-9F90-7BE5B541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AD797-4828-4DDB-9CAA-0D39E10F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432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80BD0-B78E-4FFA-9440-F852D80D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71825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Makefile, local commands, no external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B60B0-2F71-4131-BF0A-B8069CD0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0F406-0339-44D6-8385-E401E9DB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38EC9-41D4-4B69-B0CB-4A963230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38575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lint, tests, docs checks, smoke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4B4E2-518A-4073-BC6A-F2BED507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3717D-13D5-47F7-A0E2-0337B5D9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767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299D7-F195-46F7-BDCE-22343574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05325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PR template, ADRs, architecture lint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8E945E-EEA4-4544-B71B-45632EF0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3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9BE189-96C0-4EE7-9A05-396A661D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435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F37FA1-2041-404B-9941-786CBC01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72075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runbook, scorecard, prompt recipes</a:t>
            </a:r>
          </a:p>
        </p:txBody>
      </p:sp>
    </p:spTree>
    <p:extLst>
      <p:ext uri="{BB962C8B-B14F-4D97-AF65-F5344CB8AC3E}">
        <p14:creationId xmlns:p14="http://schemas.microsoft.com/office/powerpoint/2010/main" val="147069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78D849-3308-49E4-A4FE-6E543974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B4232-565B-400A-8810-CC1DE5B0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Harness engineering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C264F-4297-4383-B3EF-B715785D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28878-541D-4FAA-A9A1-FDD5E188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E5E25-2907-482C-ACC9-3A33C4DD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3B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3B34"/>
                </a:solidFill>
                <a:latin typeface="Aptos"/>
                <a:ea typeface="Aptos"/>
                <a:cs typeface="Aptos"/>
              </a:rPr>
              <a:t>SHIFT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EBBD0-0CD2-4983-8A57-9CA072AA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The prompt gets shorter as the harness gets stronger.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E4E93-DD1D-44E4-B355-7F71826E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57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The operating goal is to move durable instructions into the repo, checks, and review 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214FD-BC9A-4AD8-BE1C-79E219B3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4305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65527-9436-4E70-A053-9864C27B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Prompt-heavy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BE66D-D44E-434C-A8FA-FA20B4C1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90800"/>
            <a:ext cx="4305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D31B3-FBE5-4DE5-9ED9-86AD873D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Harness-heavy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E3BB4-DF6C-4DA8-9528-C0A367FF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43053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F"/>
          </a:solidFill>
          <a:ln xmlns:a="http://schemas.openxmlformats.org/drawingml/2006/main" w="9525">
            <a:solidFill>
              <a:srgbClr val="1821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75F25-33EE-4BFB-BA04-A71A1846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39624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rPr>
              <a:t>Complete the task.</a:t>
            </a:r>
          </a:p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rPr>
              <a:t>Read the architecture docs.</a:t>
            </a:r>
          </a:p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rPr>
              <a:t>Keep rules out of the CLI.</a:t>
            </a:r>
          </a:p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rPr>
              <a:t>Add tests.</a:t>
            </a:r>
          </a:p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rPr>
              <a:t>Run the quality gate.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F85EF-0B78-4B2C-AB40-A659818A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48050"/>
            <a:ext cx="43053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F"/>
          </a:solidFill>
          <a:ln xmlns:a="http://schemas.openxmlformats.org/drawingml/2006/main" w="9525">
            <a:solidFill>
              <a:srgbClr val="1821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2B3CC-4430-4BBB-A962-FE765162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00450"/>
            <a:ext cx="39624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rPr>
              <a:t>Complete tasks/01-add-sla-classification.md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A3909-A6ED-4C18-8AFF-D7528781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76725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77ECD4-5CC0-4A36-8996-201009FC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38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9B698-0002-4CB7-B8D8-3E634A2F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5305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B3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B34"/>
                </a:solidFill>
                <a:latin typeface="Aptos"/>
                <a:ea typeface="Aptos"/>
                <a:cs typeface="Aptos"/>
              </a:rPr>
              <a:t>Durable instructions move into files, scripts, and CI.</a:t>
            </a:r>
          </a:p>
        </p:txBody>
      </p:sp>
    </p:spTree>
    <p:extLst>
      <p:ext uri="{BB962C8B-B14F-4D97-AF65-F5344CB8AC3E}">
        <p14:creationId xmlns:p14="http://schemas.microsoft.com/office/powerpoint/2010/main" val="9150922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3F6361-91D9-4FA3-8A75-15212979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EF83C-DF2D-4875-B743-D64DE264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Harness engineering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277BF-6AD4-4D2C-BA1A-E384B3AE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3791F-9FF5-489D-AB1A-DF0C8284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3B6ED-6089-48BF-B446-349E7CE7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3B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3B34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75E00-14F5-48CE-BF0A-9801144C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Our demo repo keeps the app tiny and the harness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4FFD3-E88A-4B80-90D3-0866909A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57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The application is intentionally boring. The repository environment is the teaching object.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C7C1B-E52B-42DC-BD9A-287DC507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686F3-48D3-4D61-AAAE-E9185C79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3F88F-17B9-42AB-88AD-ADBBF8D5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F6683-CEAD-44B5-BD69-E9243F73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repo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95F92-CF95-4AF3-8A2D-2016EEF0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62200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1C9E7-FB34-4845-81F4-69B4E3AD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622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0D662-2DC6-41C4-BAA7-83FF6D37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1,160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06757-FD9A-4469-BFE0-82BDA486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1940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lines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8DD43-9A3A-4E93-AED6-BAADC3A9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752DF-B7BC-48A6-B8BA-619EF9D6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B6E23-23DD-44FA-AF87-365B7C76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1FBB3-DC2B-4132-BBD5-F23413C7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1381E-D8CB-4224-B030-5C765A62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C44AED-8C05-4F54-AD48-B0DDCC5B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A1929B-195E-4055-A8A2-3A16A6A8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649DB-819E-49C1-9EF9-F6581A51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runtime dependencies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6F26A-3D75-4A11-AD0B-F58D30C4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A603CE-7779-4644-8229-BDCE603A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AGENTS.md</a:t>
            </a:r>
          </a:p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agent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AF3E9C-33B9-4AC1-8A27-64681CA7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007A10-4F3C-4F88-BA4B-12DDD052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9095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docs/</a:t>
            </a:r>
          </a:p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architecture, scorecard, runbook, ADRs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04377C-588D-42E8-A022-0B8F92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A87C72-4998-4838-988B-B1FCBC51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scripts/</a:t>
            </a:r>
          </a:p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check, lint, doctor, docs contract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14910F-A0BE-4720-A197-AD845EAA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247B02-97E7-4BA6-9CFF-E931A746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8150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tests/</a:t>
            </a:r>
          </a:p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behavior and harness checks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4FDB84-ECB0-4D4D-9FE2-03031FF8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3870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A35F69-8A7F-42E8-BB1B-D684B2D0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7205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tasks/</a:t>
            </a:r>
          </a:p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agent-ready work briefs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15FC42-5768-4FF6-BE09-CDFE38FF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3870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BFE60E-DBCF-4F62-8281-352DD1BC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7205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.github/</a:t>
            </a:r>
          </a:p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CI and collaboration templates</a:t>
            </a:r>
          </a:p>
        </p:txBody>
      </p:sp>
    </p:spTree>
    <p:extLst>
      <p:ext uri="{BB962C8B-B14F-4D97-AF65-F5344CB8AC3E}">
        <p14:creationId xmlns:p14="http://schemas.microsoft.com/office/powerpoint/2010/main" val="12830671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733480-64C3-4AAA-9284-48BFB005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208B1-6AB2-459F-9491-7AAEAF2E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Harness engineering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FB60D-F241-4D44-B3DA-D3C4935E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7E8BB-9029-4EBC-81FA-E454E2D0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06A70-535A-4C64-B122-B765E84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3B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3B34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1D5EF-30EC-4A79-9BDC-E7FCD026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The harness tells the agent what to read and where to change 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D3DAF-7637-40ED-B61A-4B6475EA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57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A task moves through repo-local context before it reaches implementation.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0C3E0-F509-4036-BE14-9C276BF9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847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593C9-3EAB-405A-896A-6EEDD622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Task brief</a:t>
            </a:r>
          </a:p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tasks/01-sla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E5CF7-AF12-4D13-96A0-144C8A6D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909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54F8E-2240-4ECF-830D-74B94732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528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943D8-C9BE-4C81-ACBC-44283999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43250"/>
            <a:ext cx="1847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2228B-5D1E-4C08-B8B4-6A355206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7660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Repo rules</a:t>
            </a:r>
          </a:p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AGENTS.md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5662D-3D3F-42A6-AF61-E06F5CAA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909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EEBF2-054E-424A-BF3A-0C443C15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528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D9A06-F1D8-4A40-9EA7-688D4362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43250"/>
            <a:ext cx="1847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B2899E-74CE-44F8-BEBA-5565A3B6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7660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System map</a:t>
            </a:r>
          </a:p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docs/architecture.md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8F6FC-95B1-4D5A-94B3-29C0CB08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909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F20DB-FB6C-4E42-9FF8-0A9CC915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528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477BD-52E6-446A-B06A-354CC4D3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847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C149FE-79DE-4117-8523-C97689B1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7660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Change point</a:t>
            </a:r>
          </a:p>
          <a:p xmlns:a="http://schemas.openxmlformats.org/drawingml/2006/main">
            <a:pPr algn="l">
              <a:defRPr sz="12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router.py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45AD1A-1C50-4320-8CA7-9C423B3C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909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A6C77-2E60-4BAD-A3BD-CEFFD951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528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B28D28-06E2-4EBB-968B-3928C959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847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F922E8-1486-4D00-B96B-F50236FB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7660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Behavior proof</a:t>
            </a:r>
          </a:p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tests/test_router.py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1461CF-3FC3-4E6E-83CA-823469FC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689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B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B34"/>
                </a:solidFill>
                <a:latin typeface="Aptos"/>
                <a:ea typeface="Aptos"/>
                <a:cs typeface="Aptos"/>
              </a:rPr>
              <a:t>The harness narrows the search space before the first edit.</a:t>
            </a:r>
          </a:p>
        </p:txBody>
      </p:sp>
    </p:spTree>
    <p:extLst>
      <p:ext uri="{BB962C8B-B14F-4D97-AF65-F5344CB8AC3E}">
        <p14:creationId xmlns:p14="http://schemas.microsoft.com/office/powerpoint/2010/main" val="18675044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1B0D81-5776-427C-B571-B0ED6933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C43E5-776E-4669-A740-9AE3B4F6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Harness engineering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03F29-503A-419E-9231-5E8A3D46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AA74A-C9AF-45EA-9AED-3A7CBFC8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DCE4A-64C0-4F24-9516-488FF1D5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3B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3B34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2512D-2D91-4D1D-B049-CC53EA18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The quality gate makes standards executable.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F8F87-098E-49AC-B07A-DA65A434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57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The agent gets one command that validates style, structure, behavior, and smoke-path execution.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12598-BB31-4A31-9284-7A64CCD5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05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747FA-38E8-4510-A61E-62301A05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57475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A0A89-FDBA-44C5-B2D6-7122F763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0505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975B7-E942-4A9E-BF19-52400BAD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3840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Compile</a:t>
            </a:r>
          </a:p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syntax errors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E4112-4617-4DC3-AB8C-8657092A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95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A76F9-2250-4EE6-B9E1-F5DB297D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48025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913DA-05C9-4B1D-A592-E5DBF928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00C21-4B84-4496-835E-5523CB24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2895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Lint</a:t>
            </a:r>
          </a:p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style + architecture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9DD53-EFCF-439D-B91B-502799F3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86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DD75D-7ABF-460C-9710-CA1E01E1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38575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4A7EF-2ABC-4184-8993-39C8505C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8615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C8252-8D69-4A99-A9DF-E9984CA4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1950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Doctor</a:t>
            </a:r>
          </a:p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harness files exist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44DD6A-52F4-4E18-93BB-5D539D4C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76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EFEF6-A70E-4F75-AE58-D8EEB613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29125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0DBD31-BE4E-4511-9909-54BD450D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7670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A00E31-5110-42FF-BF30-D5443333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1005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Docs</a:t>
            </a:r>
          </a:p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required sections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72D1FC-D5CF-49BF-9AD4-9284DAD6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67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36080B-5F50-4FFF-86F3-AF235A64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19675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7A173-2F9E-4512-969F-154EF081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6725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4929F8-B240-4932-99A4-FE74114E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0060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Tests</a:t>
            </a:r>
          </a:p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7 behavior checks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A600E1-6EBC-4335-A72C-0541434E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00DF20-D930-4AA6-9A77-DC54BDD6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5780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D27BAC-69AC-449D-8058-D930F97F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39115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Smoke</a:t>
            </a:r>
          </a:p>
          <a:p xmlns:a="http://schemas.openxmlformats.org/drawingml/2006/main">
            <a:pPr algn="l">
              <a:defRPr sz="120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CLI path still works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022242-8C95-4413-BDEC-4341D55F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F"/>
          </a:solidFill>
          <a:ln xmlns:a="http://schemas.openxmlformats.org/drawingml/2006/main" w="9525">
            <a:solidFill>
              <a:srgbClr val="18211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D83DCB-221E-4B98-923B-717F2A7E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2800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rPr>
              <a:t>python3 scripts/check.py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CE7372-7787-467E-926F-AE654E00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957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B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B34"/>
                </a:solidFill>
                <a:latin typeface="Aptos"/>
                <a:ea typeface="Aptos"/>
                <a:cs typeface="Aptos"/>
              </a:rPr>
              <a:t>One command makes the contract non-negotiable.</a:t>
            </a:r>
          </a:p>
        </p:txBody>
      </p:sp>
    </p:spTree>
    <p:extLst>
      <p:ext uri="{BB962C8B-B14F-4D97-AF65-F5344CB8AC3E}">
        <p14:creationId xmlns:p14="http://schemas.microsoft.com/office/powerpoint/2010/main" val="10564155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0AAB5F-B6A4-49AC-9FF9-AF883B7F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D4D96-36D1-48EC-9687-49BDB99F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Harness engineering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E1558-5EAA-4F02-BAFC-A7BFD3F2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6E73C-5915-44F0-AFE5-61314FE5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54097-1CC9-4D6C-806E-C7395C0D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3B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3B34"/>
                </a:solidFill>
                <a:latin typeface="Aptos"/>
                <a:ea typeface="Aptos"/>
                <a:cs typeface="Aptos"/>
              </a:rPr>
              <a:t>STANDARDS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067A7-E8A0-477F-9145-D322CB03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Coding standards become rules, not wishes.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713CD-E207-45F2-961B-92A550B3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57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Some rules are lintable, some are testable, and some need review templates or ADRs.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131FC-8B0D-45D0-8D7F-F614B7D0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15C"/>
                </a:solidFill>
                <a:latin typeface="Aptos"/>
                <a:ea typeface="Aptos"/>
                <a:cs typeface="Aptos"/>
              </a:rPr>
              <a:t>Standard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F372B-A2FD-4337-8E66-56FAD050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00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15C"/>
                </a:solidFill>
                <a:latin typeface="Aptos"/>
                <a:ea typeface="Aptos"/>
                <a:cs typeface="Aptos"/>
              </a:rPr>
              <a:t>Enforced by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5B6B0-FE97-4C6E-9D1C-254C35CE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15C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1AEF6-F126-4596-B0B0-A91AE91A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0C59D-AB0D-4742-BD7E-FB8969D8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No business rules in CLI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596EA-F53E-4D42-89F2-6BF09B2A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051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6CB0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2B6CB0"/>
                </a:solidFill>
                <a:latin typeface="Aptos Mono"/>
                <a:ea typeface="Aptos Mono"/>
                <a:cs typeface="Aptos Mono"/>
              </a:rPr>
              <a:t>lint.py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0C718-9441-47B7-8E2F-9B0E1318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051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96E19-C93C-479C-9BE0-AE96106A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32014-D424-4093-A64A-EB8E3BA6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956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Docstrings on production functions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75667-1E59-4F89-91B1-DB94BFFB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956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6CB0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2B6CB0"/>
                </a:solidFill>
                <a:latin typeface="Aptos Mono"/>
                <a:ea typeface="Aptos Mono"/>
                <a:cs typeface="Aptos Mono"/>
              </a:rPr>
              <a:t>lint.py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96EFA-0AE5-49F2-BA16-1D41D965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956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readability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646B2-D22B-4341-8124-36514F86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A4EFE4-802C-4971-A662-53D45D75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862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Routing behavior is covered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40B0EE-A6CA-4275-A799-9AD362D8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862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6CB0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2B6CB0"/>
                </a:solidFill>
                <a:latin typeface="Aptos Mono"/>
                <a:ea typeface="Aptos Mono"/>
                <a:cs typeface="Aptos Mono"/>
              </a:rPr>
              <a:t>test_router.py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19F627-35E4-4D7B-B4CF-A48396EF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862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1E090-3D46-4BCD-9A28-F9BA1E9D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3C7242-B916-44CC-8C88-CF1A4FEA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Required harness files exist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E595EB-18AC-4666-BE68-03EABE3F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767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6CB0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2B6CB0"/>
                </a:solidFill>
                <a:latin typeface="Aptos Mono"/>
                <a:ea typeface="Aptos Mono"/>
                <a:cs typeface="Aptos Mono"/>
              </a:rPr>
              <a:t>harness_doctor.py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24DC1B-4BCE-4ADD-90B7-45971841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767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954DF6-D274-4D6F-A831-1A00DF82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BB54D8-78DA-4DA9-B0EE-3425477C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Required docs sections remain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84CA5D-D7E1-4526-B715-291F0B50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2673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6CB0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2B6CB0"/>
                </a:solidFill>
                <a:latin typeface="Aptos Mono"/>
                <a:ea typeface="Aptos Mono"/>
                <a:cs typeface="Aptos Mono"/>
              </a:rPr>
              <a:t>check_docs.py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8FD3D7-9A78-4838-9129-1346376F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673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17140734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D2ECFB-0530-4F5A-A25B-43974EC5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B62B7-239C-422F-BAB0-9BC2DB92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Harness engineering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1F1D3-EC7D-41E2-BF41-9D241E15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357A9-D1CF-46C7-9F1B-5B42B545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06684-2E09-4F42-8539-27E9A770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3B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3B34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47D2D-7C92-4A51-8B58-419E5B76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The live demo should need only one short task prompt.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B71B3-B28D-433A-AB34-68293772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57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The point is not the ticket router. The point is that the repo carries the operating instructions.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B0358-1AE0-458C-ABA4-96515898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5238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F"/>
          </a:solidFill>
          <a:ln xmlns:a="http://schemas.openxmlformats.org/drawingml/2006/main" w="9525">
            <a:solidFill>
              <a:srgbClr val="1821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A95DD-7771-4A5E-B35E-055C97BB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48958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rPr>
              <a:t>cd ~/Code/harness-engineering-demo</a:t>
            </a:r>
          </a:p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rPr>
              <a:t>python3 scripts/check.py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rPr>
              <a:t>Complete tasks/01-add-sla-classification.md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rPr>
              <a:t>git diff</a:t>
            </a:r>
          </a:p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7F3EA"/>
                </a:solidFill>
                <a:latin typeface="Aptos Mono"/>
                <a:ea typeface="Aptos Mono"/>
                <a:cs typeface="Aptos Mono"/>
              </a:rPr>
              <a:t>python3 scripts/check.py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B0F6A-3DB2-4432-8E6F-9E6F4B5A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52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E0D49-1860-4B44-B3E0-BF7C05D1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289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09391-ECF7-4EF1-A2A1-6717E840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384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Baseline passes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761BB-EE62-4451-9192-725EB2AF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38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E1CB9-11CC-4E76-AE82-6ED1814F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147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E57DC-23F5-4658-8C93-862EF9A1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242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Agent reads repo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DA598-3057-4B1E-89D2-200AE112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24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1E1ED-E686-47F0-8E11-EF9EFBAD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D8F85-A40D-4825-BD90-8021B290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100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Agent changes router + 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E4743-55FE-4519-BECE-8318C5B2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10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80C026-76DC-471E-A155-02DB7A82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863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828E9A-EA86-4395-B5C8-64AF5213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958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Gate proves the change</a:t>
            </a:r>
          </a:p>
        </p:txBody>
      </p:sp>
    </p:spTree>
    <p:extLst>
      <p:ext uri="{BB962C8B-B14F-4D97-AF65-F5344CB8AC3E}">
        <p14:creationId xmlns:p14="http://schemas.microsoft.com/office/powerpoint/2010/main" val="7981209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74DE76-5C1E-4C44-866B-153274DA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D6B49-4329-45E0-8198-63C61560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Harness engineering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4DE98-3251-455D-8665-1A19E6E8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E94E8-F78B-4A8E-9DA5-737AB8DC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6D6A6-36BE-41EA-A17F-399CF434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3B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3B34"/>
                </a:solidFill>
                <a:latin typeface="Aptos"/>
                <a:ea typeface="Aptos"/>
                <a:cs typeface="Aptos"/>
              </a:rPr>
              <a:t>DRIFT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BF754-2169-45F4-9292-4ADA1126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Failure is a feature when the harness catches drift.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9CA62-5A0D-49B9-9710-7F07E8B3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57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A good harness fails early when context, docs, architecture, or behavior fall out of contract.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9FABA-466F-4A50-9239-7C73FF72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BD17A-5A4E-4D64-A0C1-CBCBC691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Move docs/runbook.md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D2E18-09A9-4BEA-969C-BAFCBFED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60045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3E349-2430-4525-9147-AFBBB582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7D2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06CED-ABF1-4316-ABC8-B8F439A1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24A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24A3A"/>
                </a:solidFill>
                <a:latin typeface="Aptos"/>
                <a:ea typeface="Aptos"/>
                <a:cs typeface="Aptos"/>
              </a:rPr>
              <a:t>Harness doctor fails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AC50A-05E8-4539-9957-C59F36C0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E595E-876C-4D8E-A50E-4DDEC8D2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14650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Put outage rule in cli.py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1A9BF-1F7C-4276-993C-635D6B8D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60045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16C74-1F23-4CD5-97B7-9ED70E6F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7D2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9C443-ED57-44D0-B22A-9CF683E7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10050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24A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24A3A"/>
                </a:solidFill>
                <a:latin typeface="Aptos"/>
                <a:ea typeface="Aptos"/>
                <a:cs typeface="Aptos"/>
              </a:rPr>
              <a:t>Architecture lint fails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C65A7-B720-49CF-A6C9-171F46E3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25BFA-A862-4BE5-B6B8-8BB804DA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14650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Break expected 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CF89D-EA06-486E-8223-ADECD9E8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60045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1843DE-9A00-4A63-ABBD-E9611FF4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767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7D2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6680C1-FB15-48ED-83C1-67D0BCBD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10050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24A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24A3A"/>
                </a:solidFill>
                <a:latin typeface="Aptos"/>
                <a:ea typeface="Aptos"/>
                <a:cs typeface="Aptos"/>
              </a:rPr>
              <a:t>Unit test fails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04284-BB59-4887-8631-7ED1AEF3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530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3B3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B34"/>
                </a:solidFill>
                <a:latin typeface="Aptos"/>
                <a:ea typeface="Aptos"/>
                <a:cs typeface="Aptos"/>
              </a:rPr>
              <a:t>The harness turns drift into a visible, local failure.</a:t>
            </a:r>
          </a:p>
        </p:txBody>
      </p:sp>
    </p:spTree>
    <p:extLst>
      <p:ext uri="{BB962C8B-B14F-4D97-AF65-F5344CB8AC3E}">
        <p14:creationId xmlns:p14="http://schemas.microsoft.com/office/powerpoint/2010/main" val="7053175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D6F1E2-2AAA-44B1-80A0-8B9BE961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2F1EC-B51C-4FF6-9D20-FA925F56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Harness engineering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E6EE8-EE02-4159-9805-8AF01827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1D442-5078-4C3D-BBF1-28E814B9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C7151-93B0-4C90-B71B-6A9A2B27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3B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3B34"/>
                </a:solidFill>
                <a:latin typeface="Aptos"/>
                <a:ea typeface="Aptos"/>
                <a:cs typeface="Aptos"/>
              </a:rPr>
              <a:t>ADOPTION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B82E7-865E-4D20-806C-5F245F21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1F"/>
                </a:solidFill>
                <a:latin typeface="Aptos Display"/>
                <a:ea typeface="Aptos Display"/>
                <a:cs typeface="Aptos Display"/>
              </a:rPr>
              <a:t>Build the harness in layers, not in one heroic rewrite.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36593-DF69-40D1-A1BF-24507C2A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57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5C"/>
                </a:solidFill>
                <a:latin typeface="Aptos"/>
                <a:ea typeface="Aptos"/>
                <a:cs typeface="Aptos"/>
              </a:rPr>
              <a:t>Start with instructions and checks, then add governance, memory, and richer feedback loops.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262D6-C811-411B-92BE-A17BA114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2781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98F08-202E-4E8A-AC0C-1A31EE7E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30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19259-4E18-426A-B730-47E66780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2781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9CC6F-6094-4F79-98D1-796875E0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247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Write AGENTS.md</a:t>
            </a:r>
          </a:p>
          <a:p xmlns:a="http://schemas.openxmlformats.org/drawingml/2006/main">
            <a:pPr algn="l"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Add one quality gate</a:t>
            </a:r>
          </a:p>
          <a:p xmlns:a="http://schemas.openxmlformats.org/drawingml/2006/main">
            <a:pPr algn="l"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Make tasks explicit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6B885-90A9-40C5-B443-CC77082E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099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29418-27B9-4827-AFEB-DB3C4372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718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4B7E8-6BE5-48D1-AEBA-2FE2C29B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781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9AE1FE-0919-41E8-AF45-DC0BEB98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60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E040F-6364-41FA-A0E2-094D8817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43300"/>
            <a:ext cx="2781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94516-5C9B-4AB3-8724-27F321D2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76650"/>
            <a:ext cx="247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Add linters + CI</a:t>
            </a:r>
          </a:p>
          <a:p xmlns:a="http://schemas.openxmlformats.org/drawingml/2006/main">
            <a:pPr algn="l"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Create runbooks</a:t>
            </a:r>
          </a:p>
          <a:p xmlns:a="http://schemas.openxmlformats.org/drawingml/2006/main">
            <a:pPr algn="l"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Start ADRs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5E11E-71D6-440B-ADCE-1C54E92A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099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D029A-B7A6-4E46-AF25-246D31A9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718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B3205-6356-41BA-8E99-94864C2E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2781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53440-2EEF-40F2-9A25-360C629E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11F"/>
                </a:solidFill>
                <a:latin typeface="Aptos"/>
                <a:ea typeface="Aptos"/>
                <a:cs typeface="Aptos"/>
              </a:rPr>
              <a:t>90 days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D419E9-E76C-446F-8D66-09DDD563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43300"/>
            <a:ext cx="2781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DB3090-869A-42B5-8FB2-E22F3DF1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47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Add architecture checks</a:t>
            </a:r>
          </a:p>
          <a:p xmlns:a="http://schemas.openxmlformats.org/drawingml/2006/main">
            <a:pPr algn="l"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Track recurring failures</a:t>
            </a:r>
          </a:p>
          <a:p xmlns:a="http://schemas.openxmlformats.org/drawingml/2006/main">
            <a:pPr algn="l">
              <a:defRPr sz="1350" b="0">
                <a:solidFill>
                  <a:srgbClr val="18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1F"/>
                </a:solidFill>
                <a:latin typeface="Aptos"/>
                <a:ea typeface="Aptos"/>
                <a:cs typeface="Aptos"/>
              </a:rPr>
              <a:t>Automate cleanup</a:t>
            </a:r>
          </a:p>
        </p:txBody>
      </p:sp>
    </p:spTree>
    <p:extLst>
      <p:ext uri="{BB962C8B-B14F-4D97-AF65-F5344CB8AC3E}">
        <p14:creationId xmlns:p14="http://schemas.microsoft.com/office/powerpoint/2010/main" val="5112535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6FA6A0-EAF8-46E6-8104-E34DE633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A13A2-B1A1-433C-BD90-30BDF60D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8D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DE8DF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C9F21-7454-4EE1-BAE2-4E42A67C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781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Less prompt ritual.</a:t>
            </a:r>
          </a:p>
          <a:p xmlns:a="http://schemas.openxmlformats.org/drawingml/2006/main">
            <a:pPr algn="l">
              <a:defRPr sz="39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More engineering leverage.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6371D-AFA8-49FB-BE10-B06EA1D1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Put durable instructions in the repo.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8878B-C261-420D-B60B-F19FB71C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27B4B-7A45-4C45-8747-04A054D5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Make verification one command.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D5124-F462-4967-ABD8-392365A1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154D9-9E1A-4DCB-A663-ADB988F0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Encode standards as checks.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085AD-BE5C-476E-825B-C9E64B68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72B98-2B2A-4C0C-9962-1FCB10EC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Treat bad agent output as harness feedback.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1B1BA-3B02-4785-BBDA-A41FB5DD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4FFA6-01AA-42FE-BBAB-D1C855F7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FE0D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0D4"/>
                </a:solidFill>
                <a:latin typeface="Aptos"/>
                <a:ea typeface="Aptos"/>
                <a:cs typeface="Aptos"/>
              </a:rPr>
              <a:t>Harness engineering makes agent use a team capability.</a:t>
            </a:r>
          </a:p>
        </p:txBody>
      </p:sp>
    </p:spTree>
    <p:extLst>
      <p:ext uri="{BB962C8B-B14F-4D97-AF65-F5344CB8AC3E}">
        <p14:creationId xmlns:p14="http://schemas.microsoft.com/office/powerpoint/2010/main" val="1733396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2026-05-13T08:33:15.2030000Z</dcterms:created>
  <dcterms:modified xsi:type="dcterms:W3CDTF">2026-05-13T08:33:15.2030000Z</dcterms:modified>
</coreProperties>
</file>